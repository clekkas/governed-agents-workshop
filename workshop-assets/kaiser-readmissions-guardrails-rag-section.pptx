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651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0196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Kaiser Permanente onsite workshop | Guardrails and Foundry IQ RAG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040880" y="-1005840"/>
            <a:ext cx="5760720" cy="5760720"/>
          </a:xfrm>
          <a:prstGeom prst="arc">
            <a:avLst/>
          </a:prstGeom>
          <a:noFill/>
          <a:ln w="25400">
            <a:solidFill>
              <a:srgbClr val="0F766E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8580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754380"/>
            <a:ext cx="1883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items 3 and 4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 Guardrails and Foundry IQ RAG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94944" y="288036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patterns for making agents safe enough to trust and grounded enough to use.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13232" y="397764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04622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2011680" y="397764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404622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Shields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3310128" y="397764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404622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Citations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4608576" y="397764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404622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IQ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5907024" y="397764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404622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Studio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7205472" y="397764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404622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M365 Copilot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13232" y="61722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message: RAG extends what the agent can know; guardrails constrain what it can do and say.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ITEM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 guardrails: layered intervention points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382012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490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22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 content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172712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397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29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request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5963412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04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36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response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754112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211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43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answer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544812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118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850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state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7240" y="27889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2788920"/>
            <a:ext cx="64008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29443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layers matter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978408" y="3264408"/>
            <a:ext cx="29718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instructions are necessary but not sufficient. Healthcare agents need enforcement before, during and after generation.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34840" y="27889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2788920"/>
            <a:ext cx="64008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36008" y="29443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contract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4636008" y="3264408"/>
            <a:ext cx="29718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layer emits a decision: allow, deny, redact, escalate or review_required, with a correlation ID.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27889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92440" y="278892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93608" y="29443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boundary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8293608" y="3264408"/>
            <a:ext cx="29718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can retrieve, summarize, cite and draft. It cannot diagnose, approve, prescribe or say safe to discharge.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60120" y="4617720"/>
            <a:ext cx="98755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policy checks into tools and workflow state, not just system prompts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output structure, citations and PHI minimization before responding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retrieved documents and notes as data, never instructions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Azure AI Content Safety overview; Prompt Shields; Microsoft Foundry evaluation guidance.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PATTERN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 control matrix for the readmissions assistant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789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00784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prompt attack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3063240" y="1700784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663440" y="1700784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Shields, intent classifier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8229600" y="1700784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or redirect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31520" y="2212848"/>
            <a:ext cx="1078992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359152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attack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3063240" y="235915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 content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663440" y="2359152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Shields for documents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8229600" y="2359152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hidden instructions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31520" y="2871216"/>
            <a:ext cx="10789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017520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 overexposure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3063240" y="3017520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response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663440" y="3017520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Redaction and schema filter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8229600" y="3017520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excerpt only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31520" y="3529584"/>
            <a:ext cx="1078992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675888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clinical claim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3063240" y="367588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answer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663440" y="367588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Prohibited claim validator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229600" y="3675888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Deny and route to human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31520" y="4187952"/>
            <a:ext cx="10789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334256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 bypass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3063240" y="433425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state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4663440" y="4334256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machine check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8229600" y="4334256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task pending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77240" y="5166360"/>
            <a:ext cx="10652760" cy="475488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340096"/>
            <a:ext cx="10241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demo: success includes refusing, redacting and escalating - not only answering.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BUILD PATTERN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Developer pattern: policy as code around the agent loop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 -&gt; classify -&gt; scope -&gt; retrieve -&gt; tool call -&gt; validate -&gt; generate -&gt; validate -&gt; route -&gt; log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42316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5786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classifier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978408" y="2898648"/>
            <a:ext cx="29718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Green: retrieve/explain. Yellow: draft/recommend. Red: human-only or blocked.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242316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242316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5786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validator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4636008" y="2898648"/>
            <a:ext cx="29718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citations, prohibited claims, PHI minimization, missing information and review_required.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92440" y="242316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2440" y="2423160"/>
            <a:ext cx="64008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25786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event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8293608" y="2898648"/>
            <a:ext cx="29718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policy decision with correlationId, caseId, reason, severity and enforcement result.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41605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 decision shape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5720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policyName: clinical-safety-output, decision: deny, reason: safe-discharge claim requested, caseId: P0001 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 validation: test the controls before the pilot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64008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Rubric evaluator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78408" y="2075688"/>
            <a:ext cx="30175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healthcare-specific rubric for clinical safety, groundedness, PHI minimization, tool authorization and HITL routing.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600200"/>
            <a:ext cx="64008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safety evaluators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636008" y="2075688"/>
            <a:ext cx="30175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content safety and risk/safety evaluators where applicable.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160020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60020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set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293608" y="2075688"/>
            <a:ext cx="30175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golden, adversarial, missing-evidence, tool-denial and HITL-bypass cases in source control.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3840480"/>
            <a:ext cx="98755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safe-discharge claim is a blocking failure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HITL bypass is a blocking failure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unsupported protocol claim requires citation repair or escalation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tool denial leakage fails the release gate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Microsoft Learn, Evaluate your AI agents.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ITEM 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Foundry IQ and RAG: from document upload to developer pattern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00200"/>
            <a:ext cx="2002536" cy="621792"/>
          </a:xfrm>
          <a:prstGeom prst="roundRect">
            <a:avLst>
              <a:gd name="adj" fmla="val 1029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92224"/>
            <a:ext cx="1856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715768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07208" y="1600200"/>
            <a:ext cx="2002536" cy="621792"/>
          </a:xfrm>
          <a:prstGeom prst="roundRect">
            <a:avLst>
              <a:gd name="adj" fmla="val 1029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792224"/>
            <a:ext cx="1856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864608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56048" y="1600200"/>
            <a:ext cx="2002536" cy="621792"/>
          </a:xfrm>
          <a:prstGeom prst="roundRect">
            <a:avLst>
              <a:gd name="adj" fmla="val 1029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792224"/>
            <a:ext cx="1856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013448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04888" y="1600200"/>
            <a:ext cx="2002536" cy="621792"/>
          </a:xfrm>
          <a:prstGeom prst="roundRect">
            <a:avLst>
              <a:gd name="adj" fmla="val 1029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792224"/>
            <a:ext cx="1856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9162288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53728" y="1600200"/>
            <a:ext cx="2002536" cy="621792"/>
          </a:xfrm>
          <a:prstGeom prst="roundRect">
            <a:avLst>
              <a:gd name="adj" fmla="val 1029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1792224"/>
            <a:ext cx="1856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7240" y="27889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2788920"/>
            <a:ext cx="6400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29443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IQ role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978408" y="3264408"/>
            <a:ext cx="29718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managed knowledge layer with knowledge bases, knowledge sources and agentic retrieval for permission-aware grounded answers.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34840" y="27889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2788920"/>
            <a:ext cx="64008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29443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role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4636008" y="3264408"/>
            <a:ext cx="29718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sources, metadata, evidence packets, citation behavior, missing-evidence behavior and tests.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92440" y="27889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92440" y="278892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29443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role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8293608" y="3264408"/>
            <a:ext cx="29718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approved synthetic guidance and make missing or conflicting evidence visible to the care manager.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Microsoft Learn, What is Foundry IQ.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 PATTERN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development pattern: build an evidence packet first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64008" cy="1463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556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pattern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78408" y="2075688"/>
            <a:ext cx="475488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results go straight into the model. The model blends evidence, memory and guesses into fluent output.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600200"/>
            <a:ext cx="64008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7556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pattern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419088" y="2075688"/>
            <a:ext cx="475488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Retrieve, filter, cite and shape an evidence packet. The generator answers only from that packet or discloses what is missing.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packet fields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4005072"/>
            <a:ext cx="98755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and caseId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title, URI and owner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claim-level excerpts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 date and sensitivity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 metadata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missingInformation and conflict flags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QUALITY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 developers to evaluate retrieval separately from answers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7899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09928"/>
            <a:ext cx="2148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selection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3246120" y="1709928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the right sources allowed?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7543800" y="1709928"/>
            <a:ext cx="3108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allowlist test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731520" y="2231136"/>
            <a:ext cx="10789920" cy="475488"/>
          </a:xfrm>
          <a:prstGeom prst="roundRect">
            <a:avLst>
              <a:gd name="adj" fmla="val 961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86584"/>
            <a:ext cx="2148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Chunking and metadata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3246120" y="2386584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we recover precise claims?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7543800" y="2386584"/>
            <a:ext cx="3108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 trace test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731520" y="2907792"/>
            <a:ext cx="107899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063240"/>
            <a:ext cx="2148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3246120" y="3063240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right evidence return?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7543800" y="3063240"/>
            <a:ext cx="3108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and precision review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731520" y="3584448"/>
            <a:ext cx="10789920" cy="475488"/>
          </a:xfrm>
          <a:prstGeom prst="roundRect">
            <a:avLst>
              <a:gd name="adj" fmla="val 961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739896"/>
            <a:ext cx="2148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3246120" y="3739896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answer use evidence correctly?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543800" y="3739896"/>
            <a:ext cx="3108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Groundedness rubric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731520" y="4261104"/>
            <a:ext cx="107899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416552"/>
            <a:ext cx="2148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246120" y="4416552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agent route correctly?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7543800" y="4416552"/>
            <a:ext cx="3108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 routing test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77240" y="5257800"/>
            <a:ext cx="10652760" cy="438912"/>
          </a:xfrm>
          <a:prstGeom prst="roundRect">
            <a:avLst>
              <a:gd name="adj" fmla="val 16667"/>
            </a:avLst>
          </a:prstGeom>
          <a:solidFill>
            <a:srgbClr val="E6FFFB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413248"/>
            <a:ext cx="10241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retrieval is wrong, a better prompt only hides the problem.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MULTI-SURFACE PATTERN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Building RAG once, surfacing it across Microsoft AI surfaces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08760"/>
            <a:ext cx="64008" cy="1170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Agent Service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86968" y="1984248"/>
            <a:ext cx="29260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code-first or prompt agent. Best for custom orchestration, MCP tools, HITL, tracing and evaluation.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0560" y="150876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508760"/>
            <a:ext cx="6400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Studio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681728" y="1984248"/>
            <a:ext cx="29260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Business-facing agent can connect to a Microsoft Foundry agent. Requires appropriate endpoint/protocol support and testing.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75320" y="150876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75320" y="1508760"/>
            <a:ext cx="64008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76488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and M365 Copilot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476488" y="1984248"/>
            <a:ext cx="29260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Studio agents can be published to Teams and Microsoft 365 Copilot channels after auth, testing and admin controls.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24612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24612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4015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app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886968" y="3721608"/>
            <a:ext cx="29260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Care-manager UI can call Foundry agent endpoint, Responses API or knowledge base API directly when custom workflow UX is needed.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80560" y="324612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3246120"/>
            <a:ext cx="64008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34015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IQ / Fabric IQ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681728" y="3721608"/>
            <a:ext cx="29260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Work IQ for Microsoft 365 work context and Fabric IQ for semantic analytics context; do not confuse these with protocol mechanics.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75320" y="324612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75320" y="3246120"/>
            <a:ext cx="64008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76488" y="34015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rule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8476488" y="3721608"/>
            <a:ext cx="29260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surface is a deployment target with its own data flow, permissions, channel UX, telemetry and validation matrix.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Foundry IQ docs; Copilot Studio connect Foundry agent; Copilot Studio Teams/Microsoft 365 Copilot channels.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 INTEGRATION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Pattern: Copilot Studio calling a Foundry agent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00200"/>
            <a:ext cx="2002536" cy="621792"/>
          </a:xfrm>
          <a:prstGeom prst="roundRect">
            <a:avLst>
              <a:gd name="adj" fmla="val 1029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92224"/>
            <a:ext cx="1856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in Teams or M365 Copilot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715768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07208" y="1600200"/>
            <a:ext cx="2002536" cy="621792"/>
          </a:xfrm>
          <a:prstGeom prst="roundRect">
            <a:avLst>
              <a:gd name="adj" fmla="val 1029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792224"/>
            <a:ext cx="1856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Studio agent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864608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56048" y="1600200"/>
            <a:ext cx="2002536" cy="621792"/>
          </a:xfrm>
          <a:prstGeom prst="roundRect">
            <a:avLst>
              <a:gd name="adj" fmla="val 1029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792224"/>
            <a:ext cx="1856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Foundry agent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013448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04888" y="1600200"/>
            <a:ext cx="2002536" cy="621792"/>
          </a:xfrm>
          <a:prstGeom prst="roundRect">
            <a:avLst>
              <a:gd name="adj" fmla="val 1029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792224"/>
            <a:ext cx="1856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IQ knowledge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9162288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53728" y="1600200"/>
            <a:ext cx="2002536" cy="621792"/>
          </a:xfrm>
          <a:prstGeom prst="roundRect">
            <a:avLst>
              <a:gd name="adj" fmla="val 1029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1792224"/>
            <a:ext cx="1856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Citations and response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960120" y="3200400"/>
            <a:ext cx="987552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Foundry agent when custom orchestration, RAG, MCP tools or evaluation live in Foundry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clear agent name and description so Copilot Studio knows when to invoke it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data flow, permissions, observability, reliability and human oversight for the connected-agent scenario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publish broadly before testing authentication and channel behavior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777240" y="5166360"/>
            <a:ext cx="10652760" cy="475488"/>
          </a:xfrm>
          <a:prstGeom prst="roundRect">
            <a:avLst>
              <a:gd name="adj" fmla="val 15385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340096"/>
            <a:ext cx="10241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capabilities should be presented as directional architecture unless the customer tenant is confirmed ready.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Microsoft Learn, Connect to a Microsoft Foundry agent in Copilot Studio.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LAB OUTPUT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Developer checklist for RAG onboarding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1024128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source owners and source allowlist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metadata: source, effective date, facility, sensitivity, owner and citation URI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retrieval mode: keyword, vector, hybrid or agentic retrieval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evidence packet schema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missing-evidence and conflicting-evidence behavior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retrieval and groundedness tests before pilot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Emit retrieval telemetry: latency, source count, citation count and missing evidence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4526280"/>
            <a:ext cx="10241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4526280"/>
            <a:ext cx="64008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4681728"/>
            <a:ext cx="992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exercise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1115568" y="5001768"/>
            <a:ext cx="9921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 build an evidence packet from a synthetic protocol, answer using only that packet, then repeat with a missing protocol and confirm the agent does not guess.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CHECKPOINT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Decisions to lock before moving to observability and HITL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64008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78408" y="2075688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claims are prohibited? Which controls block, redact or escalate? Which failures block release?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600200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636008" y="2075688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sources are approved? What metadata and citations are required? How do we test missing or conflicting evidence?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160020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600200"/>
            <a:ext cx="64008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293608" y="2075688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should users interact: Foundry endpoint, Copilot Studio, Teams, Microsoft 365 Copilot or custom app?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3703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handoff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114800"/>
            <a:ext cx="98755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define what the agent is allowed to say and do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defines what the agent can know and cite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 proves whether those promises held during real runs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Kaiser Readmissions Workshop - Guardrails and Foundry IQ RAG</dc:title>
  <dc:subject>Kaiser Permanente Readmissions Agent Workshop</dc:subject>
  <dc:creator>Microsoft Scout</dc:creator>
  <cp:lastModifiedBy>Microsoft Scout</cp:lastModifiedBy>
  <cp:revision>1</cp:revision>
  <dcterms:created xsi:type="dcterms:W3CDTF">2026-09-24T03:28:07Z</dcterms:created>
  <dcterms:modified xsi:type="dcterms:W3CDTF">2026-09-24T03:28:07Z</dcterms:modified>
</cp:coreProperties>
</file>