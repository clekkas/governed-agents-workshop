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651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0196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Kaiser Permanente onsite workshop | Secure governed healthcare agents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040880" y="-1005840"/>
            <a:ext cx="5760720" cy="5760720"/>
          </a:xfrm>
          <a:prstGeom prst="arc">
            <a:avLst/>
          </a:prstGeom>
          <a:noFill/>
          <a:ln w="25400">
            <a:solidFill>
              <a:srgbClr val="0F766E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1700000">
            <a:off x="7772400" y="548640"/>
            <a:ext cx="4663440" cy="4663440"/>
          </a:xfrm>
          <a:prstGeom prst="arc">
            <a:avLst/>
          </a:prstGeom>
          <a:noFill/>
          <a:ln w="20320">
            <a:solidFill>
              <a:srgbClr val="06B6D4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"/>
            <a:ext cx="416052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708660"/>
            <a:ext cx="3941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workflow -&gt; governed agent -&gt; pilot decision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658368" y="12344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Kaiser Permanente Readmissions Agent Workshop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94944" y="2743200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source-informed two-day delivery built around one evolving synthetic care operations assistant.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94944" y="3703320"/>
            <a:ext cx="6949440" cy="1143000"/>
          </a:xfrm>
          <a:prstGeom prst="roundRect">
            <a:avLst>
              <a:gd name="adj" fmla="val 6400"/>
            </a:avLst>
          </a:prstGeom>
          <a:solidFill>
            <a:srgbClr val="111827">
              <a:alpha val="9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91363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storyline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4242816"/>
            <a:ext cx="6263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1: Build the agent. Day 2: Earn the right to trust it.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94944" y="63276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v0.2 | Synthesized from Microsoft LevelUp, VBD, Learn, Copilot Camp and public sample guidance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STANCE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run a product tour. Run a trust-building journey.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64008" cy="1691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556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workshop shape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78408" y="2075688"/>
            <a:ext cx="4754880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-&gt; MCP -&gt; Work IQ -&gt; Foundry IQ -&gt; Monitor -&gt; Guardrails. Participants learn product names but do not leave with an implementation decision.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600200"/>
            <a:ext cx="64008" cy="1691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7556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shape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419088" y="2075688"/>
            <a:ext cx="4754880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problem -&gt; working agent -&gt; grounded agent -&gt; governed agent -&gt; observable agent -&gt; pilot decision.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customer questions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4160520"/>
            <a:ext cx="10058400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healthcare workflow are we improving?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 the agent know?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 the agent do?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whose identity and policy does it operate?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decisions require a human?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prove it remains safe, grounded, reliable and valuable?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Source-informed by VBD execution guidance, AI Agents Governance LevelUp, and workshop synthesis.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healthcare workflow: readmissions care operations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0136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2734056" y="1819656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16352" y="16002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9504" y="180136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910328" y="1819656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92624" y="16002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5776" y="180136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086600" y="1819656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68896" y="16002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42048" y="180136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9262872" y="1819656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45168" y="16002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180136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31520" y="283464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2834640"/>
            <a:ext cx="64008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29900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care manager worklist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932688" y="3310128"/>
            <a:ext cx="306324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manager reviews a synthetic readmission-risk case and asks for evidence-backed planning support.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34840" y="283464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2834640"/>
            <a:ext cx="64008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29900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behavior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4636008" y="3310128"/>
            <a:ext cx="306324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context, summarize, cite protocol guidance, draft follow-up plan, route to human review.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3464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38160" y="2834640"/>
            <a:ext cx="64008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29900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boundary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8339328" y="3310128"/>
            <a:ext cx="306324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diagnosis, no discharge decision, no medication change, no autonomous approval, no real PHI.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489204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success is not that the agent gives an answer. Success is that the system knows when to answer, when to cite, when to refuse, and when to ask a human.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agent architecture for the workshop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4708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2734056" y="1865376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16352" y="164592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9504" y="184708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agent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910328" y="1865376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92624" y="164592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5776" y="184708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086600" y="1865376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68896" y="164592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42048" y="184708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9262872" y="1865376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45168" y="164592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184708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77240" y="2907792"/>
            <a:ext cx="10652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273552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+ Governance + Observability under the entire stack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77240" y="44348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434840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459028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IQ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978408" y="4910328"/>
            <a:ext cx="2880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Permission-aware knowledge bases, agentic retrieval, citations, source controls.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80560" y="44348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443484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459028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IQ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4681728" y="4910328"/>
            <a:ext cx="2880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work context across Microsoft 365 patterns with inherited permissions and compact tool outputs.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83880" y="44348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83880" y="4434840"/>
            <a:ext cx="6400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85048" y="459028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IQ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8385048" y="4910328"/>
            <a:ext cx="2880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intelligence over Fabric data, ontologies, semantic models and analytics context.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Microsoft Learn Foundry IQ; Copilot Camp Work IQ; Microsoft IQ workshop synthesis.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BOUNDARY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item 1: Hosted Agents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64008" cy="1645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556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78408" y="2075688"/>
            <a:ext cx="306324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Agents are the runtime boundary for code-first agent logic: custom orchestration, MCP calls, HITL routing, evaluation hooks and telemetry.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600200"/>
            <a:ext cx="64008" cy="1645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7556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pattern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636008" y="2075688"/>
            <a:ext cx="306324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Code/framework -&gt; container or source package -&gt; Foundry hosted runtime -&gt; endpoint -&gt; identity -&gt; trace.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16002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60020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7556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model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293608" y="2075688"/>
            <a:ext cx="306324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inference + tool usage + container compute + standard setup resources + telemetry + registry/network footprint.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3749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checkpoint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160520"/>
            <a:ext cx="97840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agent vs Hosted Agent vs external Responses API caller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BYO Registry posture and later integration sample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vs standard setup for data-control conversation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gates: image scan, RBAC, evaluation, telemetry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Microsoft Learn Hosted Agent overview/quickstart/deploy; Hosted Agents LevelUp synthesis.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CONTEXT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item 2: MCP Server and Work IQ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64008" cy="1554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09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78408" y="2029968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protocol boundary where tools are typed, authorized, audited and versioned. Do not describe MCP as a single Microsoft product.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55448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709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IQ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636008" y="2029968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work context: files, meetings, messages, people and collaboration signals through governed access patterns.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155448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554480"/>
            <a:ext cx="64008" cy="1554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709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practice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293608" y="2029968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asks. Governed tools decide what data can be returned for this actor, case, purpose and scope.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Case-by-case access envelope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069080"/>
            <a:ext cx="96012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and role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identity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Case/resource ID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of access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and data scope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decision and audit event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Microsoft Learn Foundry MCP/Toolbox/auth; Copilot Camp Work IQ; MCP ecosystem field synthesis.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KNOWLEDGE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item 4: Foundry IQ and RAG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72768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73936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2734056" y="1792224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16352" y="1572768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9504" y="1773936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910328" y="1792224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92624" y="1572768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5776" y="1773936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086600" y="1792224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68896" y="1572768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42048" y="1773936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Cite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9262872" y="1792224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45168" y="1572768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1773936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77240" y="27432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2743200"/>
            <a:ext cx="6400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boundary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978408" y="3218688"/>
            <a:ext cx="30175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does not know Kaiser policy or proprietary data by default. Knowledge must be connected through approved sources.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34840" y="27432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2743200"/>
            <a:ext cx="64008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discipline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4636008" y="3218688"/>
            <a:ext cx="30175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is not answering. Success is supported claims, citations, missing-evidence disclosure and regression tests.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92440" y="27432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92440" y="2743200"/>
            <a:ext cx="64008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adaptation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8293608" y="3218688"/>
            <a:ext cx="30175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synthetic operational guidance and PHI-shaped data, but avoid diagnosis, prescribing or discharge determinations.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0120" y="4617720"/>
            <a:ext cx="98755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retrieval quality separately from answer quality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one missing-knowledge case on purpose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citations and source metadata in every material claim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Microsoft Learn Foundry IQ; Foundry IQ LevelUp/TechLab synthesis.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AS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item 3: Compliance, policy and guardrails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64008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556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78408" y="2075688"/>
            <a:ext cx="28346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Retrieve, summarize, explain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60020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7556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Yellow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636008" y="2075688"/>
            <a:ext cx="28346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 or prepare action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16002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600200"/>
            <a:ext cx="64008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7556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293608" y="2075688"/>
            <a:ext cx="28346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Consequential action requires human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3429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to design before meaningful actions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3840480"/>
            <a:ext cx="98755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and RBAC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boundaries and sensitivity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permissions and scopes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Prohibited claims and actions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accountability points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reporting and escalation ownership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AI Agents Governance LevelUp synthesis; Microsoft Learn auth/RBAC/evaluation guidance.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ACCOUNTABILITY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item 6: Human in the loop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4708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2734056" y="1865376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16352" y="164592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9504" y="184708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910328" y="1865376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92624" y="164592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5776" y="184708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086600" y="1865376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68896" y="164592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42048" y="184708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9262872" y="1865376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45168" y="164592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184708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Rework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77240" y="288036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2880360"/>
            <a:ext cx="64008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303580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is not a UX add-on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978408" y="3355848"/>
            <a:ext cx="47091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 control point in the architecture. The agent can draft; a human owns consequential approval.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288036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2880360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303580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Task Scheduler pattern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6419088" y="3355848"/>
            <a:ext cx="47091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 pending review, in review, approved, rejected, needs rework and timed out as structured workflow state.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7240" y="4846320"/>
            <a:ext cx="10652760" cy="475488"/>
          </a:xfrm>
          <a:prstGeom prst="roundRect">
            <a:avLst>
              <a:gd name="adj" fmla="val 15385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020056"/>
            <a:ext cx="10241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rule: Observe -&gt; Recommend -&gt; Approve -&gt; Act. The agent never collapses these steps.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TRUST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item 5: LAW and Application Insights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08760"/>
            <a:ext cx="64008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Effectiveness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86968" y="1984248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output useful and grounded?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508760"/>
            <a:ext cx="6400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590288" y="1984248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workflow reliable?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150876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508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293608" y="1984248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people using it?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01752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01752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1729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Cost/Value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886968" y="3493008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usage worth the spend?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301752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3017520"/>
            <a:ext cx="64008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31729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Governance/Trust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590288" y="3493008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it staying inside controls?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46634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Troubleshooting flow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0120" y="5029200"/>
            <a:ext cx="98755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agents and versions are active?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went wrong in this invocation?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result good, grounded and approved?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Agent Observability in Azure Monitor LevelUp synthesis; Microsoft Learn tracing/evaluation docs.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GATES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Evaluation: prove the agent behaves under pressure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64008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78408" y="2075688"/>
            <a:ext cx="30175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Groundedness, completeness, task adherence, citation coverage and response clarity.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600200"/>
            <a:ext cx="64008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636008" y="2075688"/>
            <a:ext cx="30175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Prohibited clinical claims, PHI minimization, jailbreak resistance and sensitive data controls.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160020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60020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293608" y="2075688"/>
            <a:ext cx="30175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authorization, HITL routing, denial behavior, audit completeness and regression stability.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what can go wrong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069080"/>
            <a:ext cx="9875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knowledge: success is escalation, not a fluent guess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denial: denied calls must not leak protected details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 bypass: agent must refuse autonomous approval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Regression: re-run the golden set after prompt, tool or model changes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Microsoft Learn Evaluate your AI agents; observability TechLab synthesis.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GOVERNED CAPABILITIES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item 7: Toolboxes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0876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context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86968" y="1984248"/>
            <a:ext cx="29260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patient.get, notes.get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50876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590288" y="1984248"/>
            <a:ext cx="29260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protocol.search, protocol.get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15087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508760"/>
            <a:ext cx="64008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Utilization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293608" y="1984248"/>
            <a:ext cx="29260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utilization.history, risk.signals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0175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017520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1729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coordination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886968" y="3493008"/>
            <a:ext cx="29260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task.create, appointment.options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30175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3017520"/>
            <a:ext cx="64008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31729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590288" y="3493008"/>
            <a:ext cx="29260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audit.write, telemetry.emit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7240" y="4800600"/>
            <a:ext cx="10652760" cy="548640"/>
          </a:xfrm>
          <a:prstGeom prst="roundRect">
            <a:avLst>
              <a:gd name="adj" fmla="val 13333"/>
            </a:avLst>
          </a:prstGeom>
          <a:solidFill>
            <a:srgbClr val="E6FFFB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010912"/>
            <a:ext cx="10241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Toolboxes let teams scale agent development without every agent reimplementing tools, credentials, policies and observability.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Microsoft Learn Toolbox overview.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REPO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lab progression: one evolving agent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3677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agent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3677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0" y="164592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tool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63677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12280" y="164592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deploy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2560" y="155448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63677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0" y="164592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Knowledge/RAG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2971800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05409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30632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74720" y="2971800"/>
            <a:ext cx="402336" cy="40233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05409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23360" y="30632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and trace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2971800"/>
            <a:ext cx="402336" cy="40233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05409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12280" y="30632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plan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7240" y="457200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7240" y="4572000"/>
            <a:ext cx="64008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472744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deliverable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978408" y="5047488"/>
            <a:ext cx="10195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workshop repo now carries the use-case blueprint, trust boundaries, governance plan, HITL matrix, tool permissions, observability runbook, evaluation plan and agent prompts.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CLOSEOUT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workshop to Kaiser pilot decision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3852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2734056" y="1956816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16352" y="173736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9504" y="193852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architecture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910328" y="1956816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92624" y="173736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5776" y="193852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scope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086600" y="1956816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68896" y="173736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42048" y="193852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readiness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9262872" y="1956816"/>
            <a:ext cx="228600" cy="16459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45168" y="173736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1938528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Scaled governance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77240" y="29718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2971800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31272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output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978408" y="3447288"/>
            <a:ext cx="30175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architecture, source map, synthetic agent, evaluation and governance artifacts.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34840" y="29718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2971800"/>
            <a:ext cx="6400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31272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output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4636008" y="3447288"/>
            <a:ext cx="30175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use case, approved data boundaries, owners, success metrics and readiness gates.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92440" y="29718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92440" y="2971800"/>
            <a:ext cx="64008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31272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output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8293608" y="3447288"/>
            <a:ext cx="30175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runbook, observability, governance cadence, release and rollback plan.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498348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Close with decisions, not demos.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Source-informed by VBD execution and governance delivery guidance.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Kaiser Readmissions Agent Workshop - Source-Informed Draft</dc:title>
  <dc:subject>Kaiser Permanente Readmissions Agent Workshop</dc:subject>
  <dc:creator>Microsoft Scout</dc:creator>
  <cp:lastModifiedBy>Microsoft Scout</cp:lastModifiedBy>
  <cp:revision>1</cp:revision>
  <dcterms:created xsi:type="dcterms:W3CDTF">2026-09-24T03:12:06Z</dcterms:created>
  <dcterms:modified xsi:type="dcterms:W3CDTF">2026-09-24T03:12:06Z</dcterms:modified>
</cp:coreProperties>
</file>