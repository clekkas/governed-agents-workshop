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ROOM (5 min). Welcome. This is a working session, not a product tour. Frame the two days: Day 1 we build a governed agent; Day 2 we earn the right to trust it. Emphasize the through-line you will hear all day: governance, access, and Microsoft-recommended patterns. Set expectations: synthetic data only, this is a reference implementation, not clinical guidance. Timing: Day 1 9-4, Day 2 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WIIFM (4 min). Make it personal per role. Ask the room who is an architect, engineer, security/compliance, or operations. Tell them the six questions are the spine of the whole workshop; every chapter answers one or more. Promise: they leave able to reason about ANY agent, not just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DAY 1 (2 min). Day 1 is the build: where the agent runs, how it touches data, what it can never do, and how it stays grounded. Breaks at 10:45 and 2:15; lunch 12:15-1:00. Each slot is ~75 minutes: short concept, one live edit, run it, reveal the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DAY 2 (2 min). Day 2 is trust: observe what the agent did, keep the human in control, scale tools safely, then decide what to pilot. Breaks at 10:30; lunch 12:00-12:45. Shorter day, ends at 2:00 with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CASE (6 min). Walk the six steps. Stress the key design choice: the agent CONSUMES an approved risk score; it never generates or overrides it. The agentic value is in finding transition gaps and drafting owner/due-time recommendations - then stopping at a human gate. This is deliberately a coordination workflow, not a clinical-decision workflow. Tie back to the six WIIFM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BOUNDARY (4 min). This is the slide security and compliance came for. The point: prompts are necessary but not sufficient. Show that the boundary is enforced at the tool and policy layer. Foreshadow Chapter 3 (guardrails) and Chapter 10 test where we try to break it and it fails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THROUGH-LINE (3 min). This is the lens for the whole two days. Tell the room: you will see three pills on almost every slide. When a chapter ends, you should be able to say what it added to governance, what it did for access/least privilege, and which recommended pattern it demonstrated. This is how disconnected features become one coherent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(2 min). Open the chapter by telling them exactly what they will learn (the three points) and the WIIFM. Keep it fast - this is the 'tell me what you will teach me' beat. Then move to the teach slide. Day 1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(12-15 min incl. live edit). This is the core content. Walk the three building blocks, then do ONE live edit and run it. Do not type boilerplate live - reveal the prepared checkpoint after the edit. Live cue: show agents/ manifests + backend/ orchestrator; run /api/health. Checkpoint: chapter-01-backend-tests.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 ACCESS / PATTERNS (3 min). Close the chapter on the through-line. Explicitly say what this chapter added to governance, what it did for access/least privilege, and which recommended pattern it used. This is the 'tell me again what you taught me' beat for the chapter. Then run the demo cue in the yellow box if not already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(2 min). Open the chapter by telling them exactly what they will learn (the three points) and the WIIFM. Keep it fast - this is the 'tell me what you will teach me' beat. Then move to the teach slide. Day 1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(12-15 min incl. live edit). This is the core content. Walk the three building blocks, then do ONE live edit and run it. Do not type boilerplate live - reveal the prepared checkpoint after the edit. Live cue: tighten one field in an MCP schema; run tool-contract validation; show allow/redact/deny. Checkpoint: chapter-02-mcp-validate.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 ACCESS / PATTERNS (3 min). Close the chapter on the through-line. Explicitly say what this chapter added to governance, what it did for access/least privilege, and which recommended pattern it used. This is the 'tell me again what you taught me' beat for the chapter. Then run the demo cue in the yellow box if not already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(2 min). Open the chapter by telling them exactly what they will learn (the three points) and the WIIFM. Keep it fast - this is the 'tell me what you will teach me' beat. Then move to the teach slide. Day 1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(12-15 min incl. live edit). This is the core content. Walk the three building blocks, then do ONE live edit and run it. Do not type boilerplate live - reveal the prepared checkpoint after the edit. Live cue: add one prohibited-claim check; run the guardrail test; show a blocked 'safe to discharge'. Checkpoint: chapter-03-guardrails.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 ACCESS / PATTERNS (3 min). Close the chapter on the through-line. Explicitly say what this chapter added to governance, what it did for access/least privilege, and which recommended pattern it used. This is the 'tell me again what you taught me' beat for the chapter. Then run the demo cue in the yellow box if not already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(2 min). Open the chapter by telling them exactly what they will learn (the three points) and the WIIFM. Keep it fast - this is the 'tell me what you will teach me' beat. Then move to the teach slide. Day 1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(12-15 min incl. live edit). This is the core content. Walk the three building blocks, then do ONE live edit and run it. Do not type boilerplate live - reveal the prepared checkpoint after the edit. Live cue: add one synthetic protocol doc; re-run P0310; show missing-evidence escalation vs a cited answer. Checkpoint: chapter-04-rag.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 ACCESS / PATTERNS (3 min). Close the chapter on the through-line. Explicitly say what this chapter added to governance, what it did for access/least privilege, and which recommended pattern it used. This is the 'tell me again what you taught me' beat for the chapter. Then run the demo cue in the yellow box if not already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RECAP (5 min). This is the 'tell them what you taught them' beat for the whole day. Walk the four chapters as one sentence each. Ask the room the six WIIFM questions again - they can now answer four of them. Preview Day 2: now we earn trust through observability, human control, and safe tool scaling. Capture open risks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(2 min). Open the chapter by telling them exactly what they will learn (the three points) and the WIIFM. Keep it fast - this is the 'tell me what you will teach me' beat. Then move to the teach slide. Day 2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(12-15 min incl. live edit). This is the core content. Walk the three building blocks, then do ONE live edit and run it. Do not type boilerplate live - reveal the prepared checkpoint after the edit. Live cue: emit one custom event; hit GET /api/v1/traces/:id; walk the ordered list; run a KQL sample. Checkpoint: chapter-06-observability.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 ACCESS / PATTERNS (3 min). Close the chapter on the through-line. Explicitly say what this chapter added to governance, what it did for access/least privilege, and which recommended pattern it used. This is the 'tell me again what you taught me' beat for the chapter. Then run the demo cue in the yellow box if not already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(2 min). Open the chapter by telling them exactly what they will learn (the three points) and the WIIFM. Keep it fast - this is the 'tell me what you will teach me' beat. Then move to the teach slide. Day 2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(12-15 min incl. live edit). This is the core content. Walk the three building blocks, then do ONE live edit and run it. Do not type boilerplate live - reveal the prepared checkpoint after the edit. Live cue: approve then rework in the UI; show the state machine reject an invalid transition + audit record. Checkpoint: chapter-07-hitl.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 ACCESS / PATTERNS (3 min). Close the chapter on the through-line. Explicitly say what this chapter added to governance, what it did for access/least privilege, and which recommended pattern it used. This is the 'tell me again what you taught me' beat for the chapter. Then run the demo cue in the yellow box if not already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(2 min). Open the chapter by telling them exactly what they will learn (the three points) and the WIIFM. Keep it fast - this is the 'tell me what you will teach me' beat. Then move to the teach slide. Day 2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(12-15 min incl. live edit). This is the core content. Walk the three building blocks, then do ONE live edit and run it. Do not type boilerplate live - reveal the prepared checkpoint after the edit. Live cue: show the toolbox manifests + scopes; explain reuse across agents. Checkpoint: chapter-09-toolboxes.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 ACCESS / PATTERNS (3 min). Close the chapter on the through-line. Explicitly say what this chapter added to governance, what it did for access/least privilege, and which recommended pattern it used. This is the 'tell me again what you taught me' beat for the chapter. Then run the demo cue in the yellow box if not already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RECAP + CLOSEOUT (10 min). Tie the whole two days back to the through-line: governance, access, patterns. Re-ask the six questions one last time; the room should answer all six. Then move to decisions: owners, evaluation gates, and the 30/60/90 roadmap. End on what Kaiser can pilot next. Thank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Thank the participants and facilitators. Point them to the repo: run-of-show, requirements, and the mode-1 validation. Confirm owners and next steps captured during closeout.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6547104"/>
            <a:ext cx="12191695" cy="0"/>
          </a:xfrm>
          <a:prstGeom prst="line">
            <a:avLst/>
          </a:prstGeom>
          <a:noFill/>
          <a:ln w="16510">
            <a:solidFill>
              <a:srgbClr val="0F766E"/>
            </a:solidFill>
            <a:prstDash val="solid"/>
          </a:ln>
        </p:spPr>
      </p:sp>
      <p:sp>
        <p:nvSpPr>
          <p:cNvPr id="3" name="Text 1"/>
          <p:cNvSpPr/>
          <p:nvPr/>
        </p:nvSpPr>
        <p:spPr>
          <a:xfrm>
            <a:off x="502920" y="6601968"/>
            <a:ext cx="8686800" cy="164592"/>
          </a:xfrm>
          <a:prstGeom prst="rect">
            <a:avLst/>
          </a:prstGeom>
          <a:noFill/>
          <a:ln/>
        </p:spPr>
        <p:txBody>
          <a:bodyPr wrap="square" lIns="0" tIns="0" rIns="0" bIns="0" rtlCol="0" anchor="ctr"/>
          <a:lstStyle/>
          <a:p>
            <a:pPr indent="0" marL="0">
              <a:buNone/>
            </a:pPr>
            <a:r>
              <a:rPr lang="en-US" sz="650" dirty="0">
                <a:solidFill>
                  <a:srgbClr val="64748B"/>
                </a:solidFill>
                <a:latin typeface="Aptos" pitchFamily="34" charset="0"/>
                <a:ea typeface="Aptos" pitchFamily="34" charset="-122"/>
                <a:cs typeface="Aptos" pitchFamily="34" charset="-120"/>
              </a:rPr>
              <a:t>Foundry Phase 2 | Kaiser Permanente onsite workshop | Governance, Access, Patterns</a:t>
            </a:r>
            <a:endParaRPr lang="en-US" sz="65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solidFill>
            <a:prstDash val="solid"/>
          </a:ln>
        </p:spPr>
      </p:sp>
      <p:sp>
        <p:nvSpPr>
          <p:cNvPr id="3" name="Shape 1"/>
          <p:cNvSpPr/>
          <p:nvPr/>
        </p:nvSpPr>
        <p:spPr>
          <a:xfrm rot="900000">
            <a:off x="7040880" y="-1005840"/>
            <a:ext cx="5760720" cy="5760720"/>
          </a:xfrm>
          <a:prstGeom prst="arc">
            <a:avLst/>
          </a:prstGeom>
          <a:noFill/>
          <a:ln w="25400">
            <a:solidFill>
              <a:srgbClr val="0F766E">
                <a:alpha val="55000"/>
              </a:srgbClr>
            </a:solidFill>
            <a:prstDash val="solid"/>
          </a:ln>
        </p:spPr>
      </p:sp>
      <p:sp>
        <p:nvSpPr>
          <p:cNvPr id="4" name="Shape 2"/>
          <p:cNvSpPr/>
          <p:nvPr/>
        </p:nvSpPr>
        <p:spPr>
          <a:xfrm rot="11700000">
            <a:off x="7772400" y="548640"/>
            <a:ext cx="4663440" cy="4663440"/>
          </a:xfrm>
          <a:prstGeom prst="arc">
            <a:avLst/>
          </a:prstGeom>
          <a:noFill/>
          <a:ln w="20320">
            <a:solidFill>
              <a:srgbClr val="06B6D4">
                <a:alpha val="36000"/>
              </a:srgbClr>
            </a:solidFill>
            <a:prstDash val="solid"/>
          </a:ln>
        </p:spPr>
      </p:sp>
      <p:sp>
        <p:nvSpPr>
          <p:cNvPr id="5" name="Shape 3"/>
          <p:cNvSpPr/>
          <p:nvPr/>
        </p:nvSpPr>
        <p:spPr>
          <a:xfrm>
            <a:off x="658368" y="658368"/>
            <a:ext cx="329184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749808" y="722376"/>
            <a:ext cx="310896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2-day workshop</a:t>
            </a:r>
            <a:endParaRPr lang="en-US" sz="720" dirty="0"/>
          </a:p>
        </p:txBody>
      </p:sp>
      <p:sp>
        <p:nvSpPr>
          <p:cNvPr id="7" name="Text 5"/>
          <p:cNvSpPr/>
          <p:nvPr/>
        </p:nvSpPr>
        <p:spPr>
          <a:xfrm>
            <a:off x="658368" y="1280160"/>
            <a:ext cx="8229600" cy="914400"/>
          </a:xfrm>
          <a:prstGeom prst="rect">
            <a:avLst/>
          </a:prstGeom>
          <a:noFill/>
          <a:ln/>
        </p:spPr>
        <p:txBody>
          <a:bodyPr wrap="square" lIns="0" tIns="0" rIns="0" bIns="0" rtlCol="0" anchor="ctr"/>
          <a:lstStyle/>
          <a:p>
            <a:pPr indent="0" marL="0">
              <a:buNone/>
            </a:pPr>
            <a:r>
              <a:rPr lang="en-US" sz="4800" b="1" dirty="0">
                <a:solidFill>
                  <a:srgbClr val="FFFFFF"/>
                </a:solidFill>
                <a:latin typeface="Aptos Display" pitchFamily="34" charset="0"/>
                <a:ea typeface="Aptos Display" pitchFamily="34" charset="-122"/>
                <a:cs typeface="Aptos Display" pitchFamily="34" charset="-120"/>
              </a:rPr>
              <a:t>Foundry Phase 2</a:t>
            </a:r>
            <a:endParaRPr lang="en-US" sz="4800" dirty="0"/>
          </a:p>
        </p:txBody>
      </p:sp>
      <p:sp>
        <p:nvSpPr>
          <p:cNvPr id="8" name="Text 6"/>
          <p:cNvSpPr/>
          <p:nvPr/>
        </p:nvSpPr>
        <p:spPr>
          <a:xfrm>
            <a:off x="676656" y="2331720"/>
            <a:ext cx="8686800" cy="640080"/>
          </a:xfrm>
          <a:prstGeom prst="rect">
            <a:avLst/>
          </a:prstGeom>
          <a:noFill/>
          <a:ln/>
        </p:spPr>
        <p:txBody>
          <a:bodyPr wrap="square" lIns="0" tIns="0" rIns="0" bIns="0" rtlCol="0" anchor="ctr"/>
          <a:lstStyle/>
          <a:p>
            <a:pPr indent="0" marL="0">
              <a:buNone/>
            </a:pPr>
            <a:r>
              <a:rPr lang="en-US" sz="2600" dirty="0">
                <a:solidFill>
                  <a:srgbClr val="CCFBF1"/>
                </a:solidFill>
                <a:latin typeface="Aptos Display" pitchFamily="34" charset="0"/>
                <a:ea typeface="Aptos Display" pitchFamily="34" charset="-122"/>
                <a:cs typeface="Aptos Display" pitchFamily="34" charset="-120"/>
              </a:rPr>
              <a:t>Governed Agents in Practice</a:t>
            </a:r>
            <a:endParaRPr lang="en-US" sz="2600" dirty="0"/>
          </a:p>
        </p:txBody>
      </p:sp>
      <p:sp>
        <p:nvSpPr>
          <p:cNvPr id="9" name="Text 7"/>
          <p:cNvSpPr/>
          <p:nvPr/>
        </p:nvSpPr>
        <p:spPr>
          <a:xfrm>
            <a:off x="694944" y="3063240"/>
            <a:ext cx="7863840" cy="457200"/>
          </a:xfrm>
          <a:prstGeom prst="rect">
            <a:avLst/>
          </a:prstGeom>
          <a:noFill/>
          <a:ln/>
        </p:spPr>
        <p:txBody>
          <a:bodyPr wrap="square" lIns="0" tIns="0" rIns="0" bIns="0" rtlCol="0" anchor="ctr"/>
          <a:lstStyle/>
          <a:p>
            <a:pPr indent="0" marL="0">
              <a:buNone/>
            </a:pPr>
            <a:r>
              <a:rPr lang="en-US" sz="1500" dirty="0">
                <a:solidFill>
                  <a:srgbClr val="CBD5E1"/>
                </a:solidFill>
                <a:latin typeface="Aptos" pitchFamily="34" charset="0"/>
                <a:ea typeface="Aptos" pitchFamily="34" charset="-122"/>
                <a:cs typeface="Aptos" pitchFamily="34" charset="-120"/>
              </a:rPr>
              <a:t>Secure, governed, observable healthcare agents on Microsoft Foundry</a:t>
            </a:r>
            <a:endParaRPr lang="en-US" sz="1500" dirty="0"/>
          </a:p>
        </p:txBody>
      </p:sp>
      <p:sp>
        <p:nvSpPr>
          <p:cNvPr id="10" name="Shape 8"/>
          <p:cNvSpPr/>
          <p:nvPr/>
        </p:nvSpPr>
        <p:spPr>
          <a:xfrm>
            <a:off x="713232" y="3977640"/>
            <a:ext cx="1280160" cy="292608"/>
          </a:xfrm>
          <a:prstGeom prst="roundRect">
            <a:avLst>
              <a:gd name="adj" fmla="val 25000"/>
            </a:avLst>
          </a:prstGeom>
          <a:solidFill>
            <a:srgbClr val="0F766E"/>
          </a:solidFill>
          <a:ln w="12700">
            <a:solidFill>
              <a:srgbClr val="0F766E">
                <a:alpha val="0"/>
              </a:srgbClr>
            </a:solidFill>
            <a:prstDash val="solid"/>
          </a:ln>
        </p:spPr>
      </p:sp>
      <p:sp>
        <p:nvSpPr>
          <p:cNvPr id="11" name="Text 9"/>
          <p:cNvSpPr/>
          <p:nvPr/>
        </p:nvSpPr>
        <p:spPr>
          <a:xfrm>
            <a:off x="804672" y="4041648"/>
            <a:ext cx="109728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12" name="Shape 10"/>
          <p:cNvSpPr/>
          <p:nvPr/>
        </p:nvSpPr>
        <p:spPr>
          <a:xfrm>
            <a:off x="2176272" y="3977640"/>
            <a:ext cx="1280160" cy="292608"/>
          </a:xfrm>
          <a:prstGeom prst="roundRect">
            <a:avLst>
              <a:gd name="adj" fmla="val 25000"/>
            </a:avLst>
          </a:prstGeom>
          <a:solidFill>
            <a:srgbClr val="7C3AED"/>
          </a:solidFill>
          <a:ln w="12700">
            <a:solidFill>
              <a:srgbClr val="7C3AED">
                <a:alpha val="0"/>
              </a:srgbClr>
            </a:solidFill>
            <a:prstDash val="solid"/>
          </a:ln>
        </p:spPr>
      </p:sp>
      <p:sp>
        <p:nvSpPr>
          <p:cNvPr id="13" name="Text 11"/>
          <p:cNvSpPr/>
          <p:nvPr/>
        </p:nvSpPr>
        <p:spPr>
          <a:xfrm>
            <a:off x="2267712" y="4041648"/>
            <a:ext cx="109728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14" name="Shape 12"/>
          <p:cNvSpPr/>
          <p:nvPr/>
        </p:nvSpPr>
        <p:spPr>
          <a:xfrm>
            <a:off x="3639312" y="3977640"/>
            <a:ext cx="1280160" cy="292608"/>
          </a:xfrm>
          <a:prstGeom prst="roundRect">
            <a:avLst>
              <a:gd name="adj" fmla="val 25000"/>
            </a:avLst>
          </a:prstGeom>
          <a:solidFill>
            <a:srgbClr val="F59E0B"/>
          </a:solidFill>
          <a:ln w="12700">
            <a:solidFill>
              <a:srgbClr val="F59E0B">
                <a:alpha val="0"/>
              </a:srgbClr>
            </a:solidFill>
            <a:prstDash val="solid"/>
          </a:ln>
        </p:spPr>
      </p:sp>
      <p:sp>
        <p:nvSpPr>
          <p:cNvPr id="15" name="Text 13"/>
          <p:cNvSpPr/>
          <p:nvPr/>
        </p:nvSpPr>
        <p:spPr>
          <a:xfrm>
            <a:off x="3730752" y="4041648"/>
            <a:ext cx="109728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6" name="Text 14"/>
          <p:cNvSpPr/>
          <p:nvPr/>
        </p:nvSpPr>
        <p:spPr>
          <a:xfrm>
            <a:off x="713232" y="4617720"/>
            <a:ext cx="7772400" cy="274320"/>
          </a:xfrm>
          <a:prstGeom prst="rect">
            <a:avLst/>
          </a:prstGeom>
          <a:noFill/>
          <a:ln/>
        </p:spPr>
        <p:txBody>
          <a:bodyPr wrap="square" lIns="0" tIns="0" rIns="0" bIns="0" rtlCol="0" anchor="ctr"/>
          <a:lstStyle/>
          <a:p>
            <a:pPr indent="0" marL="0">
              <a:buNone/>
            </a:pPr>
            <a:r>
              <a:rPr lang="en-US" sz="1100" i="1" dirty="0">
                <a:solidFill>
                  <a:srgbClr val="94A3B8"/>
                </a:solidFill>
                <a:latin typeface="Aptos" pitchFamily="34" charset="0"/>
                <a:ea typeface="Aptos" pitchFamily="34" charset="-122"/>
                <a:cs typeface="Aptos" pitchFamily="34" charset="-120"/>
              </a:rPr>
              <a:t>Through-line: the governance, access, and design patterns Microsoft recommends.</a:t>
            </a:r>
            <a:endParaRPr lang="en-US" sz="1100" dirty="0"/>
          </a:p>
        </p:txBody>
      </p:sp>
      <p:sp>
        <p:nvSpPr>
          <p:cNvPr id="17" name="Text 15"/>
          <p:cNvSpPr/>
          <p:nvPr/>
        </p:nvSpPr>
        <p:spPr>
          <a:xfrm>
            <a:off x="713232" y="6263640"/>
            <a:ext cx="7772400" cy="274320"/>
          </a:xfrm>
          <a:prstGeom prst="rect">
            <a:avLst/>
          </a:prstGeom>
          <a:noFill/>
          <a:ln/>
        </p:spPr>
        <p:txBody>
          <a:bodyPr wrap="square" lIns="0" tIns="0" rIns="0" bIns="0" rtlCol="0" anchor="ctr"/>
          <a:lstStyle/>
          <a:p>
            <a:pPr indent="0" marL="0">
              <a:buNone/>
            </a:pPr>
            <a:r>
              <a:rPr lang="en-US" sz="900" dirty="0">
                <a:solidFill>
                  <a:srgbClr val="64748B"/>
                </a:solidFill>
                <a:latin typeface="Aptos" pitchFamily="34" charset="0"/>
                <a:ea typeface="Aptos" pitchFamily="34" charset="-122"/>
                <a:cs typeface="Aptos" pitchFamily="34" charset="-120"/>
              </a:rPr>
              <a:t>Synthetic data only. Reference implementation, not clinical guidance.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WHY THIS MATTERS</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What is in it for you</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Shape 9"/>
          <p:cNvSpPr/>
          <p:nvPr/>
        </p:nvSpPr>
        <p:spPr>
          <a:xfrm>
            <a:off x="640080" y="1463040"/>
            <a:ext cx="3520440" cy="1554480"/>
          </a:xfrm>
          <a:prstGeom prst="roundRect">
            <a:avLst>
              <a:gd name="adj" fmla="val 4706"/>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2" name="Shape 10"/>
          <p:cNvSpPr/>
          <p:nvPr/>
        </p:nvSpPr>
        <p:spPr>
          <a:xfrm>
            <a:off x="640080" y="1463040"/>
            <a:ext cx="64008" cy="1554480"/>
          </a:xfrm>
          <a:prstGeom prst="rect">
            <a:avLst/>
          </a:prstGeom>
          <a:solidFill>
            <a:srgbClr val="2563EB"/>
          </a:solidFill>
          <a:ln w="12700">
            <a:solidFill>
              <a:srgbClr val="2563EB"/>
            </a:solidFill>
            <a:prstDash val="solid"/>
          </a:ln>
        </p:spPr>
      </p:sp>
      <p:sp>
        <p:nvSpPr>
          <p:cNvPr id="13" name="Text 11"/>
          <p:cNvSpPr/>
          <p:nvPr/>
        </p:nvSpPr>
        <p:spPr>
          <a:xfrm>
            <a:off x="841248" y="160934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Architects</a:t>
            </a:r>
            <a:endParaRPr lang="en-US" sz="1200" dirty="0"/>
          </a:p>
        </p:txBody>
      </p:sp>
      <p:sp>
        <p:nvSpPr>
          <p:cNvPr id="14" name="Text 12"/>
          <p:cNvSpPr/>
          <p:nvPr/>
        </p:nvSpPr>
        <p:spPr>
          <a:xfrm>
            <a:off x="841248" y="1920240"/>
            <a:ext cx="3200400" cy="100584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Leave with a reference architecture for secure, governed agents you can adapt, not a demo you throw away.</a:t>
            </a:r>
            <a:endParaRPr lang="en-US" sz="920" dirty="0"/>
          </a:p>
        </p:txBody>
      </p:sp>
      <p:sp>
        <p:nvSpPr>
          <p:cNvPr id="15" name="Shape 13"/>
          <p:cNvSpPr/>
          <p:nvPr/>
        </p:nvSpPr>
        <p:spPr>
          <a:xfrm>
            <a:off x="4343400" y="1463040"/>
            <a:ext cx="3520440" cy="1554480"/>
          </a:xfrm>
          <a:prstGeom prst="roundRect">
            <a:avLst>
              <a:gd name="adj" fmla="val 4706"/>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6" name="Shape 14"/>
          <p:cNvSpPr/>
          <p:nvPr/>
        </p:nvSpPr>
        <p:spPr>
          <a:xfrm>
            <a:off x="4343400" y="1463040"/>
            <a:ext cx="64008" cy="1554480"/>
          </a:xfrm>
          <a:prstGeom prst="rect">
            <a:avLst/>
          </a:prstGeom>
          <a:solidFill>
            <a:srgbClr val="0F766E"/>
          </a:solidFill>
          <a:ln w="12700">
            <a:solidFill>
              <a:srgbClr val="0F766E"/>
            </a:solidFill>
            <a:prstDash val="solid"/>
          </a:ln>
        </p:spPr>
      </p:sp>
      <p:sp>
        <p:nvSpPr>
          <p:cNvPr id="17" name="Text 15"/>
          <p:cNvSpPr/>
          <p:nvPr/>
        </p:nvSpPr>
        <p:spPr>
          <a:xfrm>
            <a:off x="4544568" y="160934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Engineers</a:t>
            </a:r>
            <a:endParaRPr lang="en-US" sz="1200" dirty="0"/>
          </a:p>
        </p:txBody>
      </p:sp>
      <p:sp>
        <p:nvSpPr>
          <p:cNvPr id="18" name="Text 16"/>
          <p:cNvSpPr/>
          <p:nvPr/>
        </p:nvSpPr>
        <p:spPr>
          <a:xfrm>
            <a:off x="4544568" y="1920240"/>
            <a:ext cx="3200400" cy="100584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See a code-first hosted agent, MCP tool boundary, RAG grounding, and observability you can build on Monday.</a:t>
            </a:r>
            <a:endParaRPr lang="en-US" sz="920" dirty="0"/>
          </a:p>
        </p:txBody>
      </p:sp>
      <p:sp>
        <p:nvSpPr>
          <p:cNvPr id="19" name="Shape 17"/>
          <p:cNvSpPr/>
          <p:nvPr/>
        </p:nvSpPr>
        <p:spPr>
          <a:xfrm>
            <a:off x="8046720" y="1463040"/>
            <a:ext cx="3520440" cy="1554480"/>
          </a:xfrm>
          <a:prstGeom prst="roundRect">
            <a:avLst>
              <a:gd name="adj" fmla="val 4706"/>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20" name="Shape 18"/>
          <p:cNvSpPr/>
          <p:nvPr/>
        </p:nvSpPr>
        <p:spPr>
          <a:xfrm>
            <a:off x="8046720" y="1463040"/>
            <a:ext cx="64008" cy="1554480"/>
          </a:xfrm>
          <a:prstGeom prst="rect">
            <a:avLst/>
          </a:prstGeom>
          <a:solidFill>
            <a:srgbClr val="7C3AED"/>
          </a:solidFill>
          <a:ln w="12700">
            <a:solidFill>
              <a:srgbClr val="7C3AED"/>
            </a:solidFill>
            <a:prstDash val="solid"/>
          </a:ln>
        </p:spPr>
      </p:sp>
      <p:sp>
        <p:nvSpPr>
          <p:cNvPr id="21" name="Text 19"/>
          <p:cNvSpPr/>
          <p:nvPr/>
        </p:nvSpPr>
        <p:spPr>
          <a:xfrm>
            <a:off x="8247888" y="160934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Security &amp; compliance</a:t>
            </a:r>
            <a:endParaRPr lang="en-US" sz="1200" dirty="0"/>
          </a:p>
        </p:txBody>
      </p:sp>
      <p:sp>
        <p:nvSpPr>
          <p:cNvPr id="22" name="Text 20"/>
          <p:cNvSpPr/>
          <p:nvPr/>
        </p:nvSpPr>
        <p:spPr>
          <a:xfrm>
            <a:off x="8247888" y="1920240"/>
            <a:ext cx="3200400" cy="100584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See where policy, PHI minimization, audit, and human approval are enforced in the architecture, not just promised.</a:t>
            </a:r>
            <a:endParaRPr lang="en-US" sz="920" dirty="0"/>
          </a:p>
        </p:txBody>
      </p:sp>
      <p:sp>
        <p:nvSpPr>
          <p:cNvPr id="23" name="Text 21"/>
          <p:cNvSpPr/>
          <p:nvPr/>
        </p:nvSpPr>
        <p:spPr>
          <a:xfrm>
            <a:off x="640080" y="3291840"/>
            <a:ext cx="10789920" cy="274320"/>
          </a:xfrm>
          <a:prstGeom prst="rect">
            <a:avLst/>
          </a:prstGeom>
          <a:noFill/>
          <a:ln/>
        </p:spPr>
        <p:txBody>
          <a:bodyPr wrap="square" lIns="0" tIns="0" rIns="0" bIns="0" rtlCol="0" anchor="ctr"/>
          <a:lstStyle/>
          <a:p>
            <a:pPr indent="0" marL="0">
              <a:buNone/>
            </a:pPr>
            <a:r>
              <a:rPr lang="en-US" sz="1300" b="1" dirty="0">
                <a:solidFill>
                  <a:srgbClr val="0B1220"/>
                </a:solidFill>
                <a:latin typeface="Aptos" pitchFamily="34" charset="0"/>
                <a:ea typeface="Aptos" pitchFamily="34" charset="-122"/>
                <a:cs typeface="Aptos" pitchFamily="34" charset="-120"/>
              </a:rPr>
              <a:t>By the end you can answer six questions about any agent:</a:t>
            </a:r>
            <a:endParaRPr lang="en-US" sz="1300" dirty="0"/>
          </a:p>
        </p:txBody>
      </p:sp>
      <p:sp>
        <p:nvSpPr>
          <p:cNvPr id="24" name="Text 22"/>
          <p:cNvSpPr/>
          <p:nvPr/>
        </p:nvSpPr>
        <p:spPr>
          <a:xfrm>
            <a:off x="822960" y="3657600"/>
            <a:ext cx="10607040" cy="2194560"/>
          </a:xfrm>
          <a:prstGeom prst="rect">
            <a:avLst/>
          </a:prstGeom>
          <a:noFill/>
          <a:ln/>
        </p:spPr>
        <p:txBody>
          <a:bodyPr wrap="square" lIns="381" tIns="381" rIns="381" bIns="381" rtlCol="0" anchor="ctr">
            <a:normAutofit/>
          </a:bodyPr>
          <a:lstStyle/>
          <a:p>
            <a:pPr marL="152400" indent="-152400">
              <a:buSzPct val="100000"/>
              <a:buChar char="•"/>
            </a:pPr>
            <a:r>
              <a:rPr lang="en-US" sz="1200" dirty="0">
                <a:solidFill>
                  <a:srgbClr val="334155"/>
                </a:solidFill>
                <a:latin typeface="Aptos" pitchFamily="34" charset="0"/>
                <a:ea typeface="Aptos" pitchFamily="34" charset="-122"/>
                <a:cs typeface="Aptos" pitchFamily="34" charset="-120"/>
              </a:rPr>
              <a:t>What healthcare workflow are we improving?</a:t>
            </a:r>
            <a:endParaRPr lang="en-US" sz="1200" dirty="0"/>
          </a:p>
          <a:p>
            <a:pPr marL="152400" indent="-152400">
              <a:buSzPct val="100000"/>
              <a:buChar char="•"/>
            </a:pPr>
            <a:r>
              <a:rPr lang="en-US" sz="1200" dirty="0">
                <a:solidFill>
                  <a:srgbClr val="334155"/>
                </a:solidFill>
                <a:latin typeface="Aptos" pitchFamily="34" charset="0"/>
                <a:ea typeface="Aptos" pitchFamily="34" charset="-122"/>
                <a:cs typeface="Aptos" pitchFamily="34" charset="-120"/>
              </a:rPr>
              <a:t>What can the agent know, and under whose permissions?</a:t>
            </a:r>
            <a:endParaRPr lang="en-US" sz="1200" dirty="0"/>
          </a:p>
          <a:p>
            <a:pPr marL="152400" indent="-152400">
              <a:buSzPct val="100000"/>
              <a:buChar char="•"/>
            </a:pPr>
            <a:r>
              <a:rPr lang="en-US" sz="1200" dirty="0">
                <a:solidFill>
                  <a:srgbClr val="334155"/>
                </a:solidFill>
                <a:latin typeface="Aptos" pitchFamily="34" charset="0"/>
                <a:ea typeface="Aptos" pitchFamily="34" charset="-122"/>
                <a:cs typeface="Aptos" pitchFamily="34" charset="-120"/>
              </a:rPr>
              <a:t>What can the agent do, and what can it never do?</a:t>
            </a:r>
            <a:endParaRPr lang="en-US" sz="1200" dirty="0"/>
          </a:p>
          <a:p>
            <a:pPr marL="152400" indent="-152400">
              <a:buSzPct val="100000"/>
              <a:buChar char="•"/>
            </a:pPr>
            <a:r>
              <a:rPr lang="en-US" sz="1200" dirty="0">
                <a:solidFill>
                  <a:srgbClr val="334155"/>
                </a:solidFill>
                <a:latin typeface="Aptos" pitchFamily="34" charset="0"/>
                <a:ea typeface="Aptos" pitchFamily="34" charset="-122"/>
                <a:cs typeface="Aptos" pitchFamily="34" charset="-120"/>
              </a:rPr>
              <a:t>Which decisions require a human?</a:t>
            </a:r>
            <a:endParaRPr lang="en-US" sz="1200" dirty="0"/>
          </a:p>
          <a:p>
            <a:pPr marL="152400" indent="-152400">
              <a:buSzPct val="100000"/>
              <a:buChar char="•"/>
            </a:pPr>
            <a:r>
              <a:rPr lang="en-US" sz="1200" dirty="0">
                <a:solidFill>
                  <a:srgbClr val="334155"/>
                </a:solidFill>
                <a:latin typeface="Aptos" pitchFamily="34" charset="0"/>
                <a:ea typeface="Aptos" pitchFamily="34" charset="-122"/>
                <a:cs typeface="Aptos" pitchFamily="34" charset="-120"/>
              </a:rPr>
              <a:t>How do we prove it stayed safe, grounded, and governed?</a:t>
            </a:r>
            <a:endParaRPr lang="en-US" sz="1200" dirty="0"/>
          </a:p>
          <a:p>
            <a:pPr marL="152400" indent="-152400">
              <a:buSzPct val="100000"/>
              <a:buChar char="•"/>
            </a:pPr>
            <a:r>
              <a:rPr lang="en-US" sz="1200" dirty="0">
                <a:solidFill>
                  <a:srgbClr val="334155"/>
                </a:solidFill>
                <a:latin typeface="Aptos" pitchFamily="34" charset="0"/>
                <a:ea typeface="Aptos" pitchFamily="34" charset="-122"/>
                <a:cs typeface="Aptos" pitchFamily="34" charset="-120"/>
              </a:rPr>
              <a:t>How do we take it from prototype to production?</a:t>
            </a:r>
            <a:endParaRPr lang="en-US" sz="12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AGENDA</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Agenda - Day 1: Build the agent (9:00 - 4:00)</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Shape 9"/>
          <p:cNvSpPr/>
          <p:nvPr/>
        </p:nvSpPr>
        <p:spPr>
          <a:xfrm>
            <a:off x="640080" y="1463040"/>
            <a:ext cx="10881360" cy="603504"/>
          </a:xfrm>
          <a:prstGeom prst="roundRect">
            <a:avLst>
              <a:gd name="adj" fmla="val 9091"/>
            </a:avLst>
          </a:prstGeom>
          <a:solidFill>
            <a:srgbClr val="FFFFFF"/>
          </a:solidFill>
          <a:ln w="12700">
            <a:solidFill>
              <a:srgbClr val="E2E8F0"/>
            </a:solidFill>
            <a:prstDash val="solid"/>
          </a:ln>
        </p:spPr>
      </p:sp>
      <p:sp>
        <p:nvSpPr>
          <p:cNvPr id="12" name="Text 10"/>
          <p:cNvSpPr/>
          <p:nvPr/>
        </p:nvSpPr>
        <p:spPr>
          <a:xfrm>
            <a:off x="868680" y="1645920"/>
            <a:ext cx="118872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9:00</a:t>
            </a:r>
            <a:endParaRPr lang="en-US" sz="1200" dirty="0"/>
          </a:p>
        </p:txBody>
      </p:sp>
      <p:sp>
        <p:nvSpPr>
          <p:cNvPr id="13" name="Text 11"/>
          <p:cNvSpPr/>
          <p:nvPr/>
        </p:nvSpPr>
        <p:spPr>
          <a:xfrm>
            <a:off x="2103120" y="1645920"/>
            <a:ext cx="914400" cy="237744"/>
          </a:xfrm>
          <a:prstGeom prst="rect">
            <a:avLst/>
          </a:prstGeom>
          <a:noFill/>
          <a:ln/>
        </p:spPr>
        <p:txBody>
          <a:bodyPr wrap="square" lIns="0" tIns="0" rIns="0" bIns="0" rtlCol="0" anchor="ctr"/>
          <a:lstStyle/>
          <a:p>
            <a:pPr indent="0" marL="0">
              <a:buNone/>
            </a:pPr>
            <a:r>
              <a:rPr lang="en-US" sz="1200" b="1" dirty="0">
                <a:solidFill>
                  <a:srgbClr val="0B1220"/>
                </a:solidFill>
                <a:latin typeface="Aptos" pitchFamily="34" charset="0"/>
                <a:ea typeface="Aptos" pitchFamily="34" charset="-122"/>
                <a:cs typeface="Aptos" pitchFamily="34" charset="-120"/>
              </a:rPr>
              <a:t>Ch 0</a:t>
            </a:r>
            <a:endParaRPr lang="en-US" sz="1200" dirty="0"/>
          </a:p>
        </p:txBody>
      </p:sp>
      <p:sp>
        <p:nvSpPr>
          <p:cNvPr id="14" name="Text 12"/>
          <p:cNvSpPr/>
          <p:nvPr/>
        </p:nvSpPr>
        <p:spPr>
          <a:xfrm>
            <a:off x="3108960" y="1645920"/>
            <a:ext cx="8229600" cy="237744"/>
          </a:xfrm>
          <a:prstGeom prst="rect">
            <a:avLst/>
          </a:prstGeom>
          <a:noFill/>
          <a:ln/>
        </p:spPr>
        <p:txBody>
          <a:bodyPr wrap="square" lIns="0" tIns="0" rIns="0" bIns="0" rtlCol="0" anchor="ctr"/>
          <a:lstStyle/>
          <a:p>
            <a:pPr indent="0" marL="0">
              <a:buNone/>
            </a:pPr>
            <a:r>
              <a:rPr lang="en-US" sz="1250" dirty="0">
                <a:solidFill>
                  <a:srgbClr val="334155"/>
                </a:solidFill>
                <a:latin typeface="Aptos" pitchFamily="34" charset="0"/>
                <a:ea typeface="Aptos" pitchFamily="34" charset="-122"/>
                <a:cs typeface="Aptos" pitchFamily="34" charset="-120"/>
              </a:rPr>
              <a:t>Introduction, scenario &amp; trust boundary</a:t>
            </a:r>
            <a:endParaRPr lang="en-US" sz="1250" dirty="0"/>
          </a:p>
        </p:txBody>
      </p:sp>
      <p:sp>
        <p:nvSpPr>
          <p:cNvPr id="15" name="Shape 13"/>
          <p:cNvSpPr/>
          <p:nvPr/>
        </p:nvSpPr>
        <p:spPr>
          <a:xfrm>
            <a:off x="640080" y="2212848"/>
            <a:ext cx="10881360" cy="603504"/>
          </a:xfrm>
          <a:prstGeom prst="roundRect">
            <a:avLst>
              <a:gd name="adj" fmla="val 9091"/>
            </a:avLst>
          </a:prstGeom>
          <a:solidFill>
            <a:srgbClr val="F1F5F9"/>
          </a:solidFill>
          <a:ln w="12700">
            <a:solidFill>
              <a:srgbClr val="E2E8F0"/>
            </a:solidFill>
            <a:prstDash val="solid"/>
          </a:ln>
        </p:spPr>
      </p:sp>
      <p:sp>
        <p:nvSpPr>
          <p:cNvPr id="16" name="Text 14"/>
          <p:cNvSpPr/>
          <p:nvPr/>
        </p:nvSpPr>
        <p:spPr>
          <a:xfrm>
            <a:off x="868680" y="2395728"/>
            <a:ext cx="118872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9:30</a:t>
            </a:r>
            <a:endParaRPr lang="en-US" sz="1200" dirty="0"/>
          </a:p>
        </p:txBody>
      </p:sp>
      <p:sp>
        <p:nvSpPr>
          <p:cNvPr id="17" name="Text 15"/>
          <p:cNvSpPr/>
          <p:nvPr/>
        </p:nvSpPr>
        <p:spPr>
          <a:xfrm>
            <a:off x="2103120" y="2395728"/>
            <a:ext cx="914400" cy="237744"/>
          </a:xfrm>
          <a:prstGeom prst="rect">
            <a:avLst/>
          </a:prstGeom>
          <a:noFill/>
          <a:ln/>
        </p:spPr>
        <p:txBody>
          <a:bodyPr wrap="square" lIns="0" tIns="0" rIns="0" bIns="0" rtlCol="0" anchor="ctr"/>
          <a:lstStyle/>
          <a:p>
            <a:pPr indent="0" marL="0">
              <a:buNone/>
            </a:pPr>
            <a:r>
              <a:rPr lang="en-US" sz="1200" b="1" dirty="0">
                <a:solidFill>
                  <a:srgbClr val="0B1220"/>
                </a:solidFill>
                <a:latin typeface="Aptos" pitchFamily="34" charset="0"/>
                <a:ea typeface="Aptos" pitchFamily="34" charset="-122"/>
                <a:cs typeface="Aptos" pitchFamily="34" charset="-120"/>
              </a:rPr>
              <a:t>Ch 1</a:t>
            </a:r>
            <a:endParaRPr lang="en-US" sz="1200" dirty="0"/>
          </a:p>
        </p:txBody>
      </p:sp>
      <p:sp>
        <p:nvSpPr>
          <p:cNvPr id="18" name="Text 16"/>
          <p:cNvSpPr/>
          <p:nvPr/>
        </p:nvSpPr>
        <p:spPr>
          <a:xfrm>
            <a:off x="3108960" y="2395728"/>
            <a:ext cx="8229600" cy="237744"/>
          </a:xfrm>
          <a:prstGeom prst="rect">
            <a:avLst/>
          </a:prstGeom>
          <a:noFill/>
          <a:ln/>
        </p:spPr>
        <p:txBody>
          <a:bodyPr wrap="square" lIns="0" tIns="0" rIns="0" bIns="0" rtlCol="0" anchor="ctr"/>
          <a:lstStyle/>
          <a:p>
            <a:pPr indent="0" marL="0">
              <a:buNone/>
            </a:pPr>
            <a:r>
              <a:rPr lang="en-US" sz="1250" dirty="0">
                <a:solidFill>
                  <a:srgbClr val="334155"/>
                </a:solidFill>
                <a:latin typeface="Aptos" pitchFamily="34" charset="0"/>
                <a:ea typeface="Aptos" pitchFamily="34" charset="-122"/>
                <a:cs typeface="Aptos" pitchFamily="34" charset="-120"/>
              </a:rPr>
              <a:t>Hosted Agents + BYO Registry</a:t>
            </a:r>
            <a:endParaRPr lang="en-US" sz="1250" dirty="0"/>
          </a:p>
        </p:txBody>
      </p:sp>
      <p:sp>
        <p:nvSpPr>
          <p:cNvPr id="19" name="Shape 17"/>
          <p:cNvSpPr/>
          <p:nvPr/>
        </p:nvSpPr>
        <p:spPr>
          <a:xfrm>
            <a:off x="640080" y="2962656"/>
            <a:ext cx="10881360" cy="603504"/>
          </a:xfrm>
          <a:prstGeom prst="roundRect">
            <a:avLst>
              <a:gd name="adj" fmla="val 9091"/>
            </a:avLst>
          </a:prstGeom>
          <a:solidFill>
            <a:srgbClr val="FFFFFF"/>
          </a:solidFill>
          <a:ln w="12700">
            <a:solidFill>
              <a:srgbClr val="E2E8F0"/>
            </a:solidFill>
            <a:prstDash val="solid"/>
          </a:ln>
        </p:spPr>
      </p:sp>
      <p:sp>
        <p:nvSpPr>
          <p:cNvPr id="20" name="Text 18"/>
          <p:cNvSpPr/>
          <p:nvPr/>
        </p:nvSpPr>
        <p:spPr>
          <a:xfrm>
            <a:off x="868680" y="3145536"/>
            <a:ext cx="118872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11:00</a:t>
            </a:r>
            <a:endParaRPr lang="en-US" sz="1200" dirty="0"/>
          </a:p>
        </p:txBody>
      </p:sp>
      <p:sp>
        <p:nvSpPr>
          <p:cNvPr id="21" name="Text 19"/>
          <p:cNvSpPr/>
          <p:nvPr/>
        </p:nvSpPr>
        <p:spPr>
          <a:xfrm>
            <a:off x="2103120" y="3145536"/>
            <a:ext cx="914400" cy="237744"/>
          </a:xfrm>
          <a:prstGeom prst="rect">
            <a:avLst/>
          </a:prstGeom>
          <a:noFill/>
          <a:ln/>
        </p:spPr>
        <p:txBody>
          <a:bodyPr wrap="square" lIns="0" tIns="0" rIns="0" bIns="0" rtlCol="0" anchor="ctr"/>
          <a:lstStyle/>
          <a:p>
            <a:pPr indent="0" marL="0">
              <a:buNone/>
            </a:pPr>
            <a:r>
              <a:rPr lang="en-US" sz="1200" b="1" dirty="0">
                <a:solidFill>
                  <a:srgbClr val="0B1220"/>
                </a:solidFill>
                <a:latin typeface="Aptos" pitchFamily="34" charset="0"/>
                <a:ea typeface="Aptos" pitchFamily="34" charset="-122"/>
                <a:cs typeface="Aptos" pitchFamily="34" charset="-120"/>
              </a:rPr>
              <a:t>Ch 2</a:t>
            </a:r>
            <a:endParaRPr lang="en-US" sz="1200" dirty="0"/>
          </a:p>
        </p:txBody>
      </p:sp>
      <p:sp>
        <p:nvSpPr>
          <p:cNvPr id="22" name="Text 20"/>
          <p:cNvSpPr/>
          <p:nvPr/>
        </p:nvSpPr>
        <p:spPr>
          <a:xfrm>
            <a:off x="3108960" y="3145536"/>
            <a:ext cx="8229600" cy="237744"/>
          </a:xfrm>
          <a:prstGeom prst="rect">
            <a:avLst/>
          </a:prstGeom>
          <a:noFill/>
          <a:ln/>
        </p:spPr>
        <p:txBody>
          <a:bodyPr wrap="square" lIns="0" tIns="0" rIns="0" bIns="0" rtlCol="0" anchor="ctr"/>
          <a:lstStyle/>
          <a:p>
            <a:pPr indent="0" marL="0">
              <a:buNone/>
            </a:pPr>
            <a:r>
              <a:rPr lang="en-US" sz="1250" dirty="0">
                <a:solidFill>
                  <a:srgbClr val="334155"/>
                </a:solidFill>
                <a:latin typeface="Aptos" pitchFamily="34" charset="0"/>
                <a:ea typeface="Aptos" pitchFamily="34" charset="-122"/>
                <a:cs typeface="Aptos" pitchFamily="34" charset="-120"/>
              </a:rPr>
              <a:t>MCP Server (Work IQ)</a:t>
            </a:r>
            <a:endParaRPr lang="en-US" sz="1250" dirty="0"/>
          </a:p>
        </p:txBody>
      </p:sp>
      <p:sp>
        <p:nvSpPr>
          <p:cNvPr id="23" name="Shape 21"/>
          <p:cNvSpPr/>
          <p:nvPr/>
        </p:nvSpPr>
        <p:spPr>
          <a:xfrm>
            <a:off x="640080" y="3712464"/>
            <a:ext cx="10881360" cy="603504"/>
          </a:xfrm>
          <a:prstGeom prst="roundRect">
            <a:avLst>
              <a:gd name="adj" fmla="val 9091"/>
            </a:avLst>
          </a:prstGeom>
          <a:solidFill>
            <a:srgbClr val="F1F5F9"/>
          </a:solidFill>
          <a:ln w="12700">
            <a:solidFill>
              <a:srgbClr val="E2E8F0"/>
            </a:solidFill>
            <a:prstDash val="solid"/>
          </a:ln>
        </p:spPr>
      </p:sp>
      <p:sp>
        <p:nvSpPr>
          <p:cNvPr id="24" name="Text 22"/>
          <p:cNvSpPr/>
          <p:nvPr/>
        </p:nvSpPr>
        <p:spPr>
          <a:xfrm>
            <a:off x="868680" y="3895344"/>
            <a:ext cx="118872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1:00</a:t>
            </a:r>
            <a:endParaRPr lang="en-US" sz="1200" dirty="0"/>
          </a:p>
        </p:txBody>
      </p:sp>
      <p:sp>
        <p:nvSpPr>
          <p:cNvPr id="25" name="Text 23"/>
          <p:cNvSpPr/>
          <p:nvPr/>
        </p:nvSpPr>
        <p:spPr>
          <a:xfrm>
            <a:off x="2103120" y="3895344"/>
            <a:ext cx="914400" cy="237744"/>
          </a:xfrm>
          <a:prstGeom prst="rect">
            <a:avLst/>
          </a:prstGeom>
          <a:noFill/>
          <a:ln/>
        </p:spPr>
        <p:txBody>
          <a:bodyPr wrap="square" lIns="0" tIns="0" rIns="0" bIns="0" rtlCol="0" anchor="ctr"/>
          <a:lstStyle/>
          <a:p>
            <a:pPr indent="0" marL="0">
              <a:buNone/>
            </a:pPr>
            <a:r>
              <a:rPr lang="en-US" sz="1200" b="1" dirty="0">
                <a:solidFill>
                  <a:srgbClr val="0B1220"/>
                </a:solidFill>
                <a:latin typeface="Aptos" pitchFamily="34" charset="0"/>
                <a:ea typeface="Aptos" pitchFamily="34" charset="-122"/>
                <a:cs typeface="Aptos" pitchFamily="34" charset="-120"/>
              </a:rPr>
              <a:t>Ch 3</a:t>
            </a:r>
            <a:endParaRPr lang="en-US" sz="1200" dirty="0"/>
          </a:p>
        </p:txBody>
      </p:sp>
      <p:sp>
        <p:nvSpPr>
          <p:cNvPr id="26" name="Text 24"/>
          <p:cNvSpPr/>
          <p:nvPr/>
        </p:nvSpPr>
        <p:spPr>
          <a:xfrm>
            <a:off x="3108960" y="3895344"/>
            <a:ext cx="8229600" cy="237744"/>
          </a:xfrm>
          <a:prstGeom prst="rect">
            <a:avLst/>
          </a:prstGeom>
          <a:noFill/>
          <a:ln/>
        </p:spPr>
        <p:txBody>
          <a:bodyPr wrap="square" lIns="0" tIns="0" rIns="0" bIns="0" rtlCol="0" anchor="ctr"/>
          <a:lstStyle/>
          <a:p>
            <a:pPr indent="0" marL="0">
              <a:buNone/>
            </a:pPr>
            <a:r>
              <a:rPr lang="en-US" sz="1250" dirty="0">
                <a:solidFill>
                  <a:srgbClr val="334155"/>
                </a:solidFill>
                <a:latin typeface="Aptos" pitchFamily="34" charset="0"/>
                <a:ea typeface="Aptos" pitchFamily="34" charset="-122"/>
                <a:cs typeface="Aptos" pitchFamily="34" charset="-120"/>
              </a:rPr>
              <a:t>Compliance - Policy &amp; Guardrails</a:t>
            </a:r>
            <a:endParaRPr lang="en-US" sz="1250" dirty="0"/>
          </a:p>
        </p:txBody>
      </p:sp>
      <p:sp>
        <p:nvSpPr>
          <p:cNvPr id="27" name="Shape 25"/>
          <p:cNvSpPr/>
          <p:nvPr/>
        </p:nvSpPr>
        <p:spPr>
          <a:xfrm>
            <a:off x="640080" y="4462272"/>
            <a:ext cx="10881360" cy="603504"/>
          </a:xfrm>
          <a:prstGeom prst="roundRect">
            <a:avLst>
              <a:gd name="adj" fmla="val 9091"/>
            </a:avLst>
          </a:prstGeom>
          <a:solidFill>
            <a:srgbClr val="FFFFFF"/>
          </a:solidFill>
          <a:ln w="12700">
            <a:solidFill>
              <a:srgbClr val="E2E8F0"/>
            </a:solidFill>
            <a:prstDash val="solid"/>
          </a:ln>
        </p:spPr>
      </p:sp>
      <p:sp>
        <p:nvSpPr>
          <p:cNvPr id="28" name="Text 26"/>
          <p:cNvSpPr/>
          <p:nvPr/>
        </p:nvSpPr>
        <p:spPr>
          <a:xfrm>
            <a:off x="868680" y="4645152"/>
            <a:ext cx="118872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2:30</a:t>
            </a:r>
            <a:endParaRPr lang="en-US" sz="1200" dirty="0"/>
          </a:p>
        </p:txBody>
      </p:sp>
      <p:sp>
        <p:nvSpPr>
          <p:cNvPr id="29" name="Text 27"/>
          <p:cNvSpPr/>
          <p:nvPr/>
        </p:nvSpPr>
        <p:spPr>
          <a:xfrm>
            <a:off x="2103120" y="4645152"/>
            <a:ext cx="914400" cy="237744"/>
          </a:xfrm>
          <a:prstGeom prst="rect">
            <a:avLst/>
          </a:prstGeom>
          <a:noFill/>
          <a:ln/>
        </p:spPr>
        <p:txBody>
          <a:bodyPr wrap="square" lIns="0" tIns="0" rIns="0" bIns="0" rtlCol="0" anchor="ctr"/>
          <a:lstStyle/>
          <a:p>
            <a:pPr indent="0" marL="0">
              <a:buNone/>
            </a:pPr>
            <a:r>
              <a:rPr lang="en-US" sz="1200" b="1" dirty="0">
                <a:solidFill>
                  <a:srgbClr val="0B1220"/>
                </a:solidFill>
                <a:latin typeface="Aptos" pitchFamily="34" charset="0"/>
                <a:ea typeface="Aptos" pitchFamily="34" charset="-122"/>
                <a:cs typeface="Aptos" pitchFamily="34" charset="-120"/>
              </a:rPr>
              <a:t>Ch 4</a:t>
            </a:r>
            <a:endParaRPr lang="en-US" sz="1200" dirty="0"/>
          </a:p>
        </p:txBody>
      </p:sp>
      <p:sp>
        <p:nvSpPr>
          <p:cNvPr id="30" name="Text 28"/>
          <p:cNvSpPr/>
          <p:nvPr/>
        </p:nvSpPr>
        <p:spPr>
          <a:xfrm>
            <a:off x="3108960" y="4645152"/>
            <a:ext cx="8229600" cy="237744"/>
          </a:xfrm>
          <a:prstGeom prst="rect">
            <a:avLst/>
          </a:prstGeom>
          <a:noFill/>
          <a:ln/>
        </p:spPr>
        <p:txBody>
          <a:bodyPr wrap="square" lIns="0" tIns="0" rIns="0" bIns="0" rtlCol="0" anchor="ctr"/>
          <a:lstStyle/>
          <a:p>
            <a:pPr indent="0" marL="0">
              <a:buNone/>
            </a:pPr>
            <a:r>
              <a:rPr lang="en-US" sz="1250" dirty="0">
                <a:solidFill>
                  <a:srgbClr val="334155"/>
                </a:solidFill>
                <a:latin typeface="Aptos" pitchFamily="34" charset="0"/>
                <a:ea typeface="Aptos" pitchFamily="34" charset="-122"/>
                <a:cs typeface="Aptos" pitchFamily="34" charset="-120"/>
              </a:rPr>
              <a:t>Foundry IQ, Building RAG</a:t>
            </a:r>
            <a:endParaRPr lang="en-US" sz="1250" dirty="0"/>
          </a:p>
        </p:txBody>
      </p:sp>
      <p:sp>
        <p:nvSpPr>
          <p:cNvPr id="31" name="Shape 29"/>
          <p:cNvSpPr/>
          <p:nvPr/>
        </p:nvSpPr>
        <p:spPr>
          <a:xfrm>
            <a:off x="640080" y="5212080"/>
            <a:ext cx="10881360" cy="603504"/>
          </a:xfrm>
          <a:prstGeom prst="roundRect">
            <a:avLst>
              <a:gd name="adj" fmla="val 9091"/>
            </a:avLst>
          </a:prstGeom>
          <a:solidFill>
            <a:srgbClr val="F1F5F9"/>
          </a:solidFill>
          <a:ln w="12700">
            <a:solidFill>
              <a:srgbClr val="E2E8F0"/>
            </a:solidFill>
            <a:prstDash val="solid"/>
          </a:ln>
        </p:spPr>
      </p:sp>
      <p:sp>
        <p:nvSpPr>
          <p:cNvPr id="32" name="Text 30"/>
          <p:cNvSpPr/>
          <p:nvPr/>
        </p:nvSpPr>
        <p:spPr>
          <a:xfrm>
            <a:off x="868680" y="5394960"/>
            <a:ext cx="118872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3:45</a:t>
            </a:r>
            <a:endParaRPr lang="en-US" sz="1200" dirty="0"/>
          </a:p>
        </p:txBody>
      </p:sp>
      <p:sp>
        <p:nvSpPr>
          <p:cNvPr id="33" name="Text 31"/>
          <p:cNvSpPr/>
          <p:nvPr/>
        </p:nvSpPr>
        <p:spPr>
          <a:xfrm>
            <a:off x="2103120" y="5394960"/>
            <a:ext cx="914400" cy="237744"/>
          </a:xfrm>
          <a:prstGeom prst="rect">
            <a:avLst/>
          </a:prstGeom>
          <a:noFill/>
          <a:ln/>
        </p:spPr>
        <p:txBody>
          <a:bodyPr wrap="square" lIns="0" tIns="0" rIns="0" bIns="0" rtlCol="0" anchor="ctr"/>
          <a:lstStyle/>
          <a:p>
            <a:pPr indent="0" marL="0">
              <a:buNone/>
            </a:pPr>
            <a:r>
              <a:rPr lang="en-US" sz="1200" b="1" dirty="0">
                <a:solidFill>
                  <a:srgbClr val="0B1220"/>
                </a:solidFill>
                <a:latin typeface="Aptos" pitchFamily="34" charset="0"/>
                <a:ea typeface="Aptos" pitchFamily="34" charset="-122"/>
                <a:cs typeface="Aptos" pitchFamily="34" charset="-120"/>
              </a:rPr>
              <a:t>Ch 5</a:t>
            </a:r>
            <a:endParaRPr lang="en-US" sz="1200" dirty="0"/>
          </a:p>
        </p:txBody>
      </p:sp>
      <p:sp>
        <p:nvSpPr>
          <p:cNvPr id="34" name="Text 32"/>
          <p:cNvSpPr/>
          <p:nvPr/>
        </p:nvSpPr>
        <p:spPr>
          <a:xfrm>
            <a:off x="3108960" y="5394960"/>
            <a:ext cx="8229600" cy="237744"/>
          </a:xfrm>
          <a:prstGeom prst="rect">
            <a:avLst/>
          </a:prstGeom>
          <a:noFill/>
          <a:ln/>
        </p:spPr>
        <p:txBody>
          <a:bodyPr wrap="square" lIns="0" tIns="0" rIns="0" bIns="0" rtlCol="0" anchor="ctr"/>
          <a:lstStyle/>
          <a:p>
            <a:pPr indent="0" marL="0">
              <a:buNone/>
            </a:pPr>
            <a:r>
              <a:rPr lang="en-US" sz="1250" dirty="0">
                <a:solidFill>
                  <a:srgbClr val="334155"/>
                </a:solidFill>
                <a:latin typeface="Aptos" pitchFamily="34" charset="0"/>
                <a:ea typeface="Aptos" pitchFamily="34" charset="-122"/>
                <a:cs typeface="Aptos" pitchFamily="34" charset="-120"/>
              </a:rPr>
              <a:t>Day 1 playback</a:t>
            </a:r>
            <a:endParaRPr lang="en-US" sz="125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AGENDA</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Agenda - Day 2: Earn the right to trust it (9:00 - 2:00)</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Shape 9"/>
          <p:cNvSpPr/>
          <p:nvPr/>
        </p:nvSpPr>
        <p:spPr>
          <a:xfrm>
            <a:off x="640080" y="1463040"/>
            <a:ext cx="10881360" cy="658368"/>
          </a:xfrm>
          <a:prstGeom prst="roundRect">
            <a:avLst>
              <a:gd name="adj" fmla="val 8333"/>
            </a:avLst>
          </a:prstGeom>
          <a:solidFill>
            <a:srgbClr val="FFFFFF"/>
          </a:solidFill>
          <a:ln w="12700">
            <a:solidFill>
              <a:srgbClr val="E2E8F0"/>
            </a:solidFill>
            <a:prstDash val="solid"/>
          </a:ln>
        </p:spPr>
      </p:sp>
      <p:sp>
        <p:nvSpPr>
          <p:cNvPr id="12" name="Text 10"/>
          <p:cNvSpPr/>
          <p:nvPr/>
        </p:nvSpPr>
        <p:spPr>
          <a:xfrm>
            <a:off x="868680" y="1664208"/>
            <a:ext cx="118872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9:00</a:t>
            </a:r>
            <a:endParaRPr lang="en-US" sz="1200" dirty="0"/>
          </a:p>
        </p:txBody>
      </p:sp>
      <p:sp>
        <p:nvSpPr>
          <p:cNvPr id="13" name="Text 11"/>
          <p:cNvSpPr/>
          <p:nvPr/>
        </p:nvSpPr>
        <p:spPr>
          <a:xfrm>
            <a:off x="2103120" y="1664208"/>
            <a:ext cx="1005840" cy="237744"/>
          </a:xfrm>
          <a:prstGeom prst="rect">
            <a:avLst/>
          </a:prstGeom>
          <a:noFill/>
          <a:ln/>
        </p:spPr>
        <p:txBody>
          <a:bodyPr wrap="square" lIns="0" tIns="0" rIns="0" bIns="0" rtlCol="0" anchor="ctr"/>
          <a:lstStyle/>
          <a:p>
            <a:pPr indent="0" marL="0">
              <a:buNone/>
            </a:pPr>
            <a:r>
              <a:rPr lang="en-US" sz="1200" b="1" dirty="0">
                <a:solidFill>
                  <a:srgbClr val="0B1220"/>
                </a:solidFill>
                <a:latin typeface="Aptos" pitchFamily="34" charset="0"/>
                <a:ea typeface="Aptos" pitchFamily="34" charset="-122"/>
                <a:cs typeface="Aptos" pitchFamily="34" charset="-120"/>
              </a:rPr>
              <a:t>Recap</a:t>
            </a:r>
            <a:endParaRPr lang="en-US" sz="1200" dirty="0"/>
          </a:p>
        </p:txBody>
      </p:sp>
      <p:sp>
        <p:nvSpPr>
          <p:cNvPr id="14" name="Text 12"/>
          <p:cNvSpPr/>
          <p:nvPr/>
        </p:nvSpPr>
        <p:spPr>
          <a:xfrm>
            <a:off x="3200400" y="1664208"/>
            <a:ext cx="8138160" cy="237744"/>
          </a:xfrm>
          <a:prstGeom prst="rect">
            <a:avLst/>
          </a:prstGeom>
          <a:noFill/>
          <a:ln/>
        </p:spPr>
        <p:txBody>
          <a:bodyPr wrap="square" lIns="0" tIns="0" rIns="0" bIns="0" rtlCol="0" anchor="ctr"/>
          <a:lstStyle/>
          <a:p>
            <a:pPr indent="0" marL="0">
              <a:buNone/>
            </a:pPr>
            <a:r>
              <a:rPr lang="en-US" sz="1250" dirty="0">
                <a:solidFill>
                  <a:srgbClr val="334155"/>
                </a:solidFill>
                <a:latin typeface="Aptos" pitchFamily="34" charset="0"/>
                <a:ea typeface="Aptos" pitchFamily="34" charset="-122"/>
                <a:cs typeface="Aptos" pitchFamily="34" charset="-120"/>
              </a:rPr>
              <a:t>Environment check &amp; Day 1 recap</a:t>
            </a:r>
            <a:endParaRPr lang="en-US" sz="1250" dirty="0"/>
          </a:p>
        </p:txBody>
      </p:sp>
      <p:sp>
        <p:nvSpPr>
          <p:cNvPr id="15" name="Shape 13"/>
          <p:cNvSpPr/>
          <p:nvPr/>
        </p:nvSpPr>
        <p:spPr>
          <a:xfrm>
            <a:off x="640080" y="2304288"/>
            <a:ext cx="10881360" cy="658368"/>
          </a:xfrm>
          <a:prstGeom prst="roundRect">
            <a:avLst>
              <a:gd name="adj" fmla="val 8333"/>
            </a:avLst>
          </a:prstGeom>
          <a:solidFill>
            <a:srgbClr val="F1F5F9"/>
          </a:solidFill>
          <a:ln w="12700">
            <a:solidFill>
              <a:srgbClr val="E2E8F0"/>
            </a:solidFill>
            <a:prstDash val="solid"/>
          </a:ln>
        </p:spPr>
      </p:sp>
      <p:sp>
        <p:nvSpPr>
          <p:cNvPr id="16" name="Text 14"/>
          <p:cNvSpPr/>
          <p:nvPr/>
        </p:nvSpPr>
        <p:spPr>
          <a:xfrm>
            <a:off x="868680" y="2505456"/>
            <a:ext cx="118872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9:15</a:t>
            </a:r>
            <a:endParaRPr lang="en-US" sz="1200" dirty="0"/>
          </a:p>
        </p:txBody>
      </p:sp>
      <p:sp>
        <p:nvSpPr>
          <p:cNvPr id="17" name="Text 15"/>
          <p:cNvSpPr/>
          <p:nvPr/>
        </p:nvSpPr>
        <p:spPr>
          <a:xfrm>
            <a:off x="2103120" y="2505456"/>
            <a:ext cx="1005840" cy="237744"/>
          </a:xfrm>
          <a:prstGeom prst="rect">
            <a:avLst/>
          </a:prstGeom>
          <a:noFill/>
          <a:ln/>
        </p:spPr>
        <p:txBody>
          <a:bodyPr wrap="square" lIns="0" tIns="0" rIns="0" bIns="0" rtlCol="0" anchor="ctr"/>
          <a:lstStyle/>
          <a:p>
            <a:pPr indent="0" marL="0">
              <a:buNone/>
            </a:pPr>
            <a:r>
              <a:rPr lang="en-US" sz="1200" b="1" dirty="0">
                <a:solidFill>
                  <a:srgbClr val="0B1220"/>
                </a:solidFill>
                <a:latin typeface="Aptos" pitchFamily="34" charset="0"/>
                <a:ea typeface="Aptos" pitchFamily="34" charset="-122"/>
                <a:cs typeface="Aptos" pitchFamily="34" charset="-120"/>
              </a:rPr>
              <a:t>Ch 6</a:t>
            </a:r>
            <a:endParaRPr lang="en-US" sz="1200" dirty="0"/>
          </a:p>
        </p:txBody>
      </p:sp>
      <p:sp>
        <p:nvSpPr>
          <p:cNvPr id="18" name="Text 16"/>
          <p:cNvSpPr/>
          <p:nvPr/>
        </p:nvSpPr>
        <p:spPr>
          <a:xfrm>
            <a:off x="3200400" y="2505456"/>
            <a:ext cx="8138160" cy="237744"/>
          </a:xfrm>
          <a:prstGeom prst="rect">
            <a:avLst/>
          </a:prstGeom>
          <a:noFill/>
          <a:ln/>
        </p:spPr>
        <p:txBody>
          <a:bodyPr wrap="square" lIns="0" tIns="0" rIns="0" bIns="0" rtlCol="0" anchor="ctr"/>
          <a:lstStyle/>
          <a:p>
            <a:pPr indent="0" marL="0">
              <a:buNone/>
            </a:pPr>
            <a:r>
              <a:rPr lang="en-US" sz="1250" dirty="0">
                <a:solidFill>
                  <a:srgbClr val="334155"/>
                </a:solidFill>
                <a:latin typeface="Aptos" pitchFamily="34" charset="0"/>
                <a:ea typeface="Aptos" pitchFamily="34" charset="-122"/>
                <a:cs typeface="Aptos" pitchFamily="34" charset="-120"/>
              </a:rPr>
              <a:t>LAW / Application Insights</a:t>
            </a:r>
            <a:endParaRPr lang="en-US" sz="1250" dirty="0"/>
          </a:p>
        </p:txBody>
      </p:sp>
      <p:sp>
        <p:nvSpPr>
          <p:cNvPr id="19" name="Shape 17"/>
          <p:cNvSpPr/>
          <p:nvPr/>
        </p:nvSpPr>
        <p:spPr>
          <a:xfrm>
            <a:off x="640080" y="3145536"/>
            <a:ext cx="10881360" cy="658368"/>
          </a:xfrm>
          <a:prstGeom prst="roundRect">
            <a:avLst>
              <a:gd name="adj" fmla="val 8333"/>
            </a:avLst>
          </a:prstGeom>
          <a:solidFill>
            <a:srgbClr val="FFFFFF"/>
          </a:solidFill>
          <a:ln w="12700">
            <a:solidFill>
              <a:srgbClr val="E2E8F0"/>
            </a:solidFill>
            <a:prstDash val="solid"/>
          </a:ln>
        </p:spPr>
      </p:sp>
      <p:sp>
        <p:nvSpPr>
          <p:cNvPr id="20" name="Text 18"/>
          <p:cNvSpPr/>
          <p:nvPr/>
        </p:nvSpPr>
        <p:spPr>
          <a:xfrm>
            <a:off x="868680" y="3346704"/>
            <a:ext cx="118872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10:45</a:t>
            </a:r>
            <a:endParaRPr lang="en-US" sz="1200" dirty="0"/>
          </a:p>
        </p:txBody>
      </p:sp>
      <p:sp>
        <p:nvSpPr>
          <p:cNvPr id="21" name="Text 19"/>
          <p:cNvSpPr/>
          <p:nvPr/>
        </p:nvSpPr>
        <p:spPr>
          <a:xfrm>
            <a:off x="2103120" y="3346704"/>
            <a:ext cx="1005840" cy="237744"/>
          </a:xfrm>
          <a:prstGeom prst="rect">
            <a:avLst/>
          </a:prstGeom>
          <a:noFill/>
          <a:ln/>
        </p:spPr>
        <p:txBody>
          <a:bodyPr wrap="square" lIns="0" tIns="0" rIns="0" bIns="0" rtlCol="0" anchor="ctr"/>
          <a:lstStyle/>
          <a:p>
            <a:pPr indent="0" marL="0">
              <a:buNone/>
            </a:pPr>
            <a:r>
              <a:rPr lang="en-US" sz="1200" b="1" dirty="0">
                <a:solidFill>
                  <a:srgbClr val="0B1220"/>
                </a:solidFill>
                <a:latin typeface="Aptos" pitchFamily="34" charset="0"/>
                <a:ea typeface="Aptos" pitchFamily="34" charset="-122"/>
                <a:cs typeface="Aptos" pitchFamily="34" charset="-120"/>
              </a:rPr>
              <a:t>Ch 7</a:t>
            </a:r>
            <a:endParaRPr lang="en-US" sz="1200" dirty="0"/>
          </a:p>
        </p:txBody>
      </p:sp>
      <p:sp>
        <p:nvSpPr>
          <p:cNvPr id="22" name="Text 20"/>
          <p:cNvSpPr/>
          <p:nvPr/>
        </p:nvSpPr>
        <p:spPr>
          <a:xfrm>
            <a:off x="3200400" y="3346704"/>
            <a:ext cx="8138160" cy="237744"/>
          </a:xfrm>
          <a:prstGeom prst="rect">
            <a:avLst/>
          </a:prstGeom>
          <a:noFill/>
          <a:ln/>
        </p:spPr>
        <p:txBody>
          <a:bodyPr wrap="square" lIns="0" tIns="0" rIns="0" bIns="0" rtlCol="0" anchor="ctr"/>
          <a:lstStyle/>
          <a:p>
            <a:pPr indent="0" marL="0">
              <a:buNone/>
            </a:pPr>
            <a:r>
              <a:rPr lang="en-US" sz="1250" dirty="0">
                <a:solidFill>
                  <a:srgbClr val="334155"/>
                </a:solidFill>
                <a:latin typeface="Aptos" pitchFamily="34" charset="0"/>
                <a:ea typeface="Aptos" pitchFamily="34" charset="-122"/>
                <a:cs typeface="Aptos" pitchFamily="34" charset="-120"/>
              </a:rPr>
              <a:t>HITL - Data Task Scheduler</a:t>
            </a:r>
            <a:endParaRPr lang="en-US" sz="1250" dirty="0"/>
          </a:p>
        </p:txBody>
      </p:sp>
      <p:sp>
        <p:nvSpPr>
          <p:cNvPr id="23" name="Shape 21"/>
          <p:cNvSpPr/>
          <p:nvPr/>
        </p:nvSpPr>
        <p:spPr>
          <a:xfrm>
            <a:off x="640080" y="3986784"/>
            <a:ext cx="10881360" cy="658368"/>
          </a:xfrm>
          <a:prstGeom prst="roundRect">
            <a:avLst>
              <a:gd name="adj" fmla="val 8333"/>
            </a:avLst>
          </a:prstGeom>
          <a:solidFill>
            <a:srgbClr val="F1F5F9"/>
          </a:solidFill>
          <a:ln w="12700">
            <a:solidFill>
              <a:srgbClr val="E2E8F0"/>
            </a:solidFill>
            <a:prstDash val="solid"/>
          </a:ln>
        </p:spPr>
      </p:sp>
      <p:sp>
        <p:nvSpPr>
          <p:cNvPr id="24" name="Text 22"/>
          <p:cNvSpPr/>
          <p:nvPr/>
        </p:nvSpPr>
        <p:spPr>
          <a:xfrm>
            <a:off x="868680" y="4187952"/>
            <a:ext cx="118872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12:45</a:t>
            </a:r>
            <a:endParaRPr lang="en-US" sz="1200" dirty="0"/>
          </a:p>
        </p:txBody>
      </p:sp>
      <p:sp>
        <p:nvSpPr>
          <p:cNvPr id="25" name="Text 23"/>
          <p:cNvSpPr/>
          <p:nvPr/>
        </p:nvSpPr>
        <p:spPr>
          <a:xfrm>
            <a:off x="2103120" y="4187952"/>
            <a:ext cx="1005840" cy="237744"/>
          </a:xfrm>
          <a:prstGeom prst="rect">
            <a:avLst/>
          </a:prstGeom>
          <a:noFill/>
          <a:ln/>
        </p:spPr>
        <p:txBody>
          <a:bodyPr wrap="square" lIns="0" tIns="0" rIns="0" bIns="0" rtlCol="0" anchor="ctr"/>
          <a:lstStyle/>
          <a:p>
            <a:pPr indent="0" marL="0">
              <a:buNone/>
            </a:pPr>
            <a:r>
              <a:rPr lang="en-US" sz="1200" b="1" dirty="0">
                <a:solidFill>
                  <a:srgbClr val="0B1220"/>
                </a:solidFill>
                <a:latin typeface="Aptos" pitchFamily="34" charset="0"/>
                <a:ea typeface="Aptos" pitchFamily="34" charset="-122"/>
                <a:cs typeface="Aptos" pitchFamily="34" charset="-120"/>
              </a:rPr>
              <a:t>Ch 8</a:t>
            </a:r>
            <a:endParaRPr lang="en-US" sz="1200" dirty="0"/>
          </a:p>
        </p:txBody>
      </p:sp>
      <p:sp>
        <p:nvSpPr>
          <p:cNvPr id="26" name="Text 24"/>
          <p:cNvSpPr/>
          <p:nvPr/>
        </p:nvSpPr>
        <p:spPr>
          <a:xfrm>
            <a:off x="3200400" y="4187952"/>
            <a:ext cx="8138160" cy="237744"/>
          </a:xfrm>
          <a:prstGeom prst="rect">
            <a:avLst/>
          </a:prstGeom>
          <a:noFill/>
          <a:ln/>
        </p:spPr>
        <p:txBody>
          <a:bodyPr wrap="square" lIns="0" tIns="0" rIns="0" bIns="0" rtlCol="0" anchor="ctr"/>
          <a:lstStyle/>
          <a:p>
            <a:pPr indent="0" marL="0">
              <a:buNone/>
            </a:pPr>
            <a:r>
              <a:rPr lang="en-US" sz="1250" dirty="0">
                <a:solidFill>
                  <a:srgbClr val="334155"/>
                </a:solidFill>
                <a:latin typeface="Aptos" pitchFamily="34" charset="0"/>
                <a:ea typeface="Aptos" pitchFamily="34" charset="-122"/>
                <a:cs typeface="Aptos" pitchFamily="34" charset="-120"/>
              </a:rPr>
              <a:t>Toolboxes</a:t>
            </a:r>
            <a:endParaRPr lang="en-US" sz="1250" dirty="0"/>
          </a:p>
        </p:txBody>
      </p:sp>
      <p:sp>
        <p:nvSpPr>
          <p:cNvPr id="27" name="Shape 25"/>
          <p:cNvSpPr/>
          <p:nvPr/>
        </p:nvSpPr>
        <p:spPr>
          <a:xfrm>
            <a:off x="640080" y="4828032"/>
            <a:ext cx="10881360" cy="658368"/>
          </a:xfrm>
          <a:prstGeom prst="roundRect">
            <a:avLst>
              <a:gd name="adj" fmla="val 8333"/>
            </a:avLst>
          </a:prstGeom>
          <a:solidFill>
            <a:srgbClr val="FFFFFF"/>
          </a:solidFill>
          <a:ln w="12700">
            <a:solidFill>
              <a:srgbClr val="E2E8F0"/>
            </a:solidFill>
            <a:prstDash val="solid"/>
          </a:ln>
        </p:spPr>
      </p:sp>
      <p:sp>
        <p:nvSpPr>
          <p:cNvPr id="28" name="Text 26"/>
          <p:cNvSpPr/>
          <p:nvPr/>
        </p:nvSpPr>
        <p:spPr>
          <a:xfrm>
            <a:off x="868680" y="5029200"/>
            <a:ext cx="118872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1:45</a:t>
            </a:r>
            <a:endParaRPr lang="en-US" sz="1200" dirty="0"/>
          </a:p>
        </p:txBody>
      </p:sp>
      <p:sp>
        <p:nvSpPr>
          <p:cNvPr id="29" name="Text 27"/>
          <p:cNvSpPr/>
          <p:nvPr/>
        </p:nvSpPr>
        <p:spPr>
          <a:xfrm>
            <a:off x="2103120" y="5029200"/>
            <a:ext cx="1005840" cy="237744"/>
          </a:xfrm>
          <a:prstGeom prst="rect">
            <a:avLst/>
          </a:prstGeom>
          <a:noFill/>
          <a:ln/>
        </p:spPr>
        <p:txBody>
          <a:bodyPr wrap="square" lIns="0" tIns="0" rIns="0" bIns="0" rtlCol="0" anchor="ctr"/>
          <a:lstStyle/>
          <a:p>
            <a:pPr indent="0" marL="0">
              <a:buNone/>
            </a:pPr>
            <a:r>
              <a:rPr lang="en-US" sz="1200" b="1" dirty="0">
                <a:solidFill>
                  <a:srgbClr val="0B1220"/>
                </a:solidFill>
                <a:latin typeface="Aptos" pitchFamily="34" charset="0"/>
                <a:ea typeface="Aptos" pitchFamily="34" charset="-122"/>
                <a:cs typeface="Aptos" pitchFamily="34" charset="-120"/>
              </a:rPr>
              <a:t>Ch 9</a:t>
            </a:r>
            <a:endParaRPr lang="en-US" sz="1200" dirty="0"/>
          </a:p>
        </p:txBody>
      </p:sp>
      <p:sp>
        <p:nvSpPr>
          <p:cNvPr id="30" name="Text 28"/>
          <p:cNvSpPr/>
          <p:nvPr/>
        </p:nvSpPr>
        <p:spPr>
          <a:xfrm>
            <a:off x="3200400" y="5029200"/>
            <a:ext cx="8138160" cy="237744"/>
          </a:xfrm>
          <a:prstGeom prst="rect">
            <a:avLst/>
          </a:prstGeom>
          <a:noFill/>
          <a:ln/>
        </p:spPr>
        <p:txBody>
          <a:bodyPr wrap="square" lIns="0" tIns="0" rIns="0" bIns="0" rtlCol="0" anchor="ctr"/>
          <a:lstStyle/>
          <a:p>
            <a:pPr indent="0" marL="0">
              <a:buNone/>
            </a:pPr>
            <a:r>
              <a:rPr lang="en-US" sz="1250" dirty="0">
                <a:solidFill>
                  <a:srgbClr val="334155"/>
                </a:solidFill>
                <a:latin typeface="Aptos" pitchFamily="34" charset="0"/>
                <a:ea typeface="Aptos" pitchFamily="34" charset="-122"/>
                <a:cs typeface="Aptos" pitchFamily="34" charset="-120"/>
              </a:rPr>
              <a:t>Closeout &amp; roadmap</a:t>
            </a:r>
            <a:endParaRPr lang="en-US" sz="125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THE USE CASE</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The use case: Discharge Transition Exception Coordinator</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640080" y="1417320"/>
            <a:ext cx="10881360" cy="548640"/>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A care manager or ADT nurse reviews tomorrow's synthetic discharge-candidate list. The agent finds the gaps before they become exceptions.</a:t>
            </a:r>
            <a:endParaRPr lang="en-US" sz="1400" dirty="0"/>
          </a:p>
        </p:txBody>
      </p:sp>
      <p:sp>
        <p:nvSpPr>
          <p:cNvPr id="12" name="Shape 10"/>
          <p:cNvSpPr/>
          <p:nvPr/>
        </p:nvSpPr>
        <p:spPr>
          <a:xfrm>
            <a:off x="640080" y="2148840"/>
            <a:ext cx="3520440" cy="1188720"/>
          </a:xfrm>
          <a:prstGeom prst="roundRect">
            <a:avLst>
              <a:gd name="adj" fmla="val 6154"/>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3" name="Shape 11"/>
          <p:cNvSpPr/>
          <p:nvPr/>
        </p:nvSpPr>
        <p:spPr>
          <a:xfrm>
            <a:off x="640080" y="2148840"/>
            <a:ext cx="64008" cy="1188720"/>
          </a:xfrm>
          <a:prstGeom prst="rect">
            <a:avLst/>
          </a:prstGeom>
          <a:solidFill>
            <a:srgbClr val="2563EB"/>
          </a:solidFill>
          <a:ln w="12700">
            <a:solidFill>
              <a:srgbClr val="2563EB"/>
            </a:solidFill>
            <a:prstDash val="solid"/>
          </a:ln>
        </p:spPr>
      </p:sp>
      <p:sp>
        <p:nvSpPr>
          <p:cNvPr id="14" name="Text 12"/>
          <p:cNvSpPr/>
          <p:nvPr/>
        </p:nvSpPr>
        <p:spPr>
          <a:xfrm>
            <a:off x="841248" y="229514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Assemble</a:t>
            </a:r>
            <a:endParaRPr lang="en-US" sz="1200" dirty="0"/>
          </a:p>
        </p:txBody>
      </p:sp>
      <p:sp>
        <p:nvSpPr>
          <p:cNvPr id="15" name="Text 13"/>
          <p:cNvSpPr/>
          <p:nvPr/>
        </p:nvSpPr>
        <p:spPr>
          <a:xfrm>
            <a:off x="841248" y="2606040"/>
            <a:ext cx="3200400" cy="6400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Minimum-necessary case context</a:t>
            </a:r>
            <a:endParaRPr lang="en-US" sz="920" dirty="0"/>
          </a:p>
        </p:txBody>
      </p:sp>
      <p:sp>
        <p:nvSpPr>
          <p:cNvPr id="16" name="Shape 14"/>
          <p:cNvSpPr/>
          <p:nvPr/>
        </p:nvSpPr>
        <p:spPr>
          <a:xfrm>
            <a:off x="4343400" y="2148840"/>
            <a:ext cx="3520440" cy="1188720"/>
          </a:xfrm>
          <a:prstGeom prst="roundRect">
            <a:avLst>
              <a:gd name="adj" fmla="val 6154"/>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7" name="Shape 15"/>
          <p:cNvSpPr/>
          <p:nvPr/>
        </p:nvSpPr>
        <p:spPr>
          <a:xfrm>
            <a:off x="4343400" y="2148840"/>
            <a:ext cx="64008" cy="1188720"/>
          </a:xfrm>
          <a:prstGeom prst="rect">
            <a:avLst/>
          </a:prstGeom>
          <a:solidFill>
            <a:srgbClr val="0F766E"/>
          </a:solidFill>
          <a:ln w="12700">
            <a:solidFill>
              <a:srgbClr val="0F766E"/>
            </a:solidFill>
            <a:prstDash val="solid"/>
          </a:ln>
        </p:spPr>
      </p:sp>
      <p:sp>
        <p:nvSpPr>
          <p:cNvPr id="18" name="Text 16"/>
          <p:cNvSpPr/>
          <p:nvPr/>
        </p:nvSpPr>
        <p:spPr>
          <a:xfrm>
            <a:off x="4544568" y="229514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Consume score</a:t>
            </a:r>
            <a:endParaRPr lang="en-US" sz="1200" dirty="0"/>
          </a:p>
        </p:txBody>
      </p:sp>
      <p:sp>
        <p:nvSpPr>
          <p:cNvPr id="19" name="Text 17"/>
          <p:cNvSpPr/>
          <p:nvPr/>
        </p:nvSpPr>
        <p:spPr>
          <a:xfrm>
            <a:off x="4544568" y="2606040"/>
            <a:ext cx="3200400" cy="6400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Approved risk score via risk_score.get</a:t>
            </a:r>
            <a:endParaRPr lang="en-US" sz="920" dirty="0"/>
          </a:p>
        </p:txBody>
      </p:sp>
      <p:sp>
        <p:nvSpPr>
          <p:cNvPr id="20" name="Shape 18"/>
          <p:cNvSpPr/>
          <p:nvPr/>
        </p:nvSpPr>
        <p:spPr>
          <a:xfrm>
            <a:off x="8046720" y="2148840"/>
            <a:ext cx="3520440" cy="1188720"/>
          </a:xfrm>
          <a:prstGeom prst="roundRect">
            <a:avLst>
              <a:gd name="adj" fmla="val 6154"/>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21" name="Shape 19"/>
          <p:cNvSpPr/>
          <p:nvPr/>
        </p:nvSpPr>
        <p:spPr>
          <a:xfrm>
            <a:off x="8046720" y="2148840"/>
            <a:ext cx="64008" cy="1188720"/>
          </a:xfrm>
          <a:prstGeom prst="rect">
            <a:avLst/>
          </a:prstGeom>
          <a:solidFill>
            <a:srgbClr val="7C3AED"/>
          </a:solidFill>
          <a:ln w="12700">
            <a:solidFill>
              <a:srgbClr val="7C3AED"/>
            </a:solidFill>
            <a:prstDash val="solid"/>
          </a:ln>
        </p:spPr>
      </p:sp>
      <p:sp>
        <p:nvSpPr>
          <p:cNvPr id="22" name="Text 20"/>
          <p:cNvSpPr/>
          <p:nvPr/>
        </p:nvSpPr>
        <p:spPr>
          <a:xfrm>
            <a:off x="8247888" y="229514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Ground</a:t>
            </a:r>
            <a:endParaRPr lang="en-US" sz="1200" dirty="0"/>
          </a:p>
        </p:txBody>
      </p:sp>
      <p:sp>
        <p:nvSpPr>
          <p:cNvPr id="23" name="Text 21"/>
          <p:cNvSpPr/>
          <p:nvPr/>
        </p:nvSpPr>
        <p:spPr>
          <a:xfrm>
            <a:off x="8247888" y="2606040"/>
            <a:ext cx="3200400" cy="6400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Effective-dated protocols (RAG)</a:t>
            </a:r>
            <a:endParaRPr lang="en-US" sz="920" dirty="0"/>
          </a:p>
        </p:txBody>
      </p:sp>
      <p:sp>
        <p:nvSpPr>
          <p:cNvPr id="24" name="Shape 22"/>
          <p:cNvSpPr/>
          <p:nvPr/>
        </p:nvSpPr>
        <p:spPr>
          <a:xfrm>
            <a:off x="640080" y="3566160"/>
            <a:ext cx="3520440" cy="1188720"/>
          </a:xfrm>
          <a:prstGeom prst="roundRect">
            <a:avLst>
              <a:gd name="adj" fmla="val 6154"/>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25" name="Shape 23"/>
          <p:cNvSpPr/>
          <p:nvPr/>
        </p:nvSpPr>
        <p:spPr>
          <a:xfrm>
            <a:off x="640080" y="3566160"/>
            <a:ext cx="64008" cy="1188720"/>
          </a:xfrm>
          <a:prstGeom prst="rect">
            <a:avLst/>
          </a:prstGeom>
          <a:solidFill>
            <a:srgbClr val="F59E0B"/>
          </a:solidFill>
          <a:ln w="12700">
            <a:solidFill>
              <a:srgbClr val="F59E0B"/>
            </a:solidFill>
            <a:prstDash val="solid"/>
          </a:ln>
        </p:spPr>
      </p:sp>
      <p:sp>
        <p:nvSpPr>
          <p:cNvPr id="26" name="Text 24"/>
          <p:cNvSpPr/>
          <p:nvPr/>
        </p:nvSpPr>
        <p:spPr>
          <a:xfrm>
            <a:off x="841248" y="371246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Find gaps</a:t>
            </a:r>
            <a:endParaRPr lang="en-US" sz="1200" dirty="0"/>
          </a:p>
        </p:txBody>
      </p:sp>
      <p:sp>
        <p:nvSpPr>
          <p:cNvPr id="27" name="Text 25"/>
          <p:cNvSpPr/>
          <p:nvPr/>
        </p:nvSpPr>
        <p:spPr>
          <a:xfrm>
            <a:off x="841248" y="4023360"/>
            <a:ext cx="3200400" cy="6400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Incomplete transition elements</a:t>
            </a:r>
            <a:endParaRPr lang="en-US" sz="920" dirty="0"/>
          </a:p>
        </p:txBody>
      </p:sp>
      <p:sp>
        <p:nvSpPr>
          <p:cNvPr id="28" name="Shape 26"/>
          <p:cNvSpPr/>
          <p:nvPr/>
        </p:nvSpPr>
        <p:spPr>
          <a:xfrm>
            <a:off x="4343400" y="3566160"/>
            <a:ext cx="3520440" cy="1188720"/>
          </a:xfrm>
          <a:prstGeom prst="roundRect">
            <a:avLst>
              <a:gd name="adj" fmla="val 6154"/>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29" name="Shape 27"/>
          <p:cNvSpPr/>
          <p:nvPr/>
        </p:nvSpPr>
        <p:spPr>
          <a:xfrm>
            <a:off x="4343400" y="3566160"/>
            <a:ext cx="64008" cy="1188720"/>
          </a:xfrm>
          <a:prstGeom prst="rect">
            <a:avLst/>
          </a:prstGeom>
          <a:solidFill>
            <a:srgbClr val="16A34A"/>
          </a:solidFill>
          <a:ln w="12700">
            <a:solidFill>
              <a:srgbClr val="16A34A"/>
            </a:solidFill>
            <a:prstDash val="solid"/>
          </a:ln>
        </p:spPr>
      </p:sp>
      <p:sp>
        <p:nvSpPr>
          <p:cNvPr id="30" name="Text 28"/>
          <p:cNvSpPr/>
          <p:nvPr/>
        </p:nvSpPr>
        <p:spPr>
          <a:xfrm>
            <a:off x="4544568" y="371246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Draft</a:t>
            </a:r>
            <a:endParaRPr lang="en-US" sz="1200" dirty="0"/>
          </a:p>
        </p:txBody>
      </p:sp>
      <p:sp>
        <p:nvSpPr>
          <p:cNvPr id="31" name="Text 29"/>
          <p:cNvSpPr/>
          <p:nvPr/>
        </p:nvSpPr>
        <p:spPr>
          <a:xfrm>
            <a:off x="4544568" y="4023360"/>
            <a:ext cx="3200400" cy="6400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Owners + due times, for review</a:t>
            </a:r>
            <a:endParaRPr lang="en-US" sz="920" dirty="0"/>
          </a:p>
        </p:txBody>
      </p:sp>
      <p:sp>
        <p:nvSpPr>
          <p:cNvPr id="32" name="Shape 30"/>
          <p:cNvSpPr/>
          <p:nvPr/>
        </p:nvSpPr>
        <p:spPr>
          <a:xfrm>
            <a:off x="8046720" y="3566160"/>
            <a:ext cx="3520440" cy="1188720"/>
          </a:xfrm>
          <a:prstGeom prst="roundRect">
            <a:avLst>
              <a:gd name="adj" fmla="val 6154"/>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33" name="Shape 31"/>
          <p:cNvSpPr/>
          <p:nvPr/>
        </p:nvSpPr>
        <p:spPr>
          <a:xfrm>
            <a:off x="8046720" y="3566160"/>
            <a:ext cx="64008" cy="1188720"/>
          </a:xfrm>
          <a:prstGeom prst="rect">
            <a:avLst/>
          </a:prstGeom>
          <a:solidFill>
            <a:srgbClr val="DC2626"/>
          </a:solidFill>
          <a:ln w="12700">
            <a:solidFill>
              <a:srgbClr val="DC2626"/>
            </a:solidFill>
            <a:prstDash val="solid"/>
          </a:ln>
        </p:spPr>
      </p:sp>
      <p:sp>
        <p:nvSpPr>
          <p:cNvPr id="34" name="Text 32"/>
          <p:cNvSpPr/>
          <p:nvPr/>
        </p:nvSpPr>
        <p:spPr>
          <a:xfrm>
            <a:off x="8247888" y="371246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Human gate</a:t>
            </a:r>
            <a:endParaRPr lang="en-US" sz="1200" dirty="0"/>
          </a:p>
        </p:txBody>
      </p:sp>
      <p:sp>
        <p:nvSpPr>
          <p:cNvPr id="35" name="Text 33"/>
          <p:cNvSpPr/>
          <p:nvPr/>
        </p:nvSpPr>
        <p:spPr>
          <a:xfrm>
            <a:off x="8247888" y="4023360"/>
            <a:ext cx="3200400" cy="6400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Approve / rework / reject</a:t>
            </a:r>
            <a:endParaRPr lang="en-US" sz="920" dirty="0"/>
          </a:p>
        </p:txBody>
      </p:sp>
      <p:sp>
        <p:nvSpPr>
          <p:cNvPr id="36" name="Text 34"/>
          <p:cNvSpPr/>
          <p:nvPr/>
        </p:nvSpPr>
        <p:spPr>
          <a:xfrm>
            <a:off x="640080" y="5212080"/>
            <a:ext cx="10881360" cy="365760"/>
          </a:xfrm>
          <a:prstGeom prst="rect">
            <a:avLst/>
          </a:prstGeom>
          <a:noFill/>
          <a:ln/>
        </p:spPr>
        <p:txBody>
          <a:bodyPr wrap="square" lIns="0" tIns="0" rIns="0" bIns="0" rtlCol="0" anchor="ctr"/>
          <a:lstStyle/>
          <a:p>
            <a:pPr indent="0" marL="0">
              <a:buNone/>
            </a:pPr>
            <a:r>
              <a:rPr lang="en-US" sz="1150" i="1" dirty="0">
                <a:solidFill>
                  <a:srgbClr val="64748B"/>
                </a:solidFill>
                <a:latin typeface="Aptos" pitchFamily="34" charset="0"/>
                <a:ea typeface="Aptos" pitchFamily="34" charset="-122"/>
                <a:cs typeface="Aptos" pitchFamily="34" charset="-120"/>
              </a:rPr>
              <a:t>Why this use case: it forces every governance question - knowledge, access, action, and human accountability.</a:t>
            </a:r>
            <a:endParaRPr lang="en-US" sz="115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THE USE CASE</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The hard boundary: what the agent must never do</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Shape 9"/>
          <p:cNvSpPr/>
          <p:nvPr/>
        </p:nvSpPr>
        <p:spPr>
          <a:xfrm>
            <a:off x="640080" y="1463040"/>
            <a:ext cx="5349240" cy="1554480"/>
          </a:xfrm>
          <a:prstGeom prst="roundRect">
            <a:avLst>
              <a:gd name="adj" fmla="val 4706"/>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2" name="Shape 10"/>
          <p:cNvSpPr/>
          <p:nvPr/>
        </p:nvSpPr>
        <p:spPr>
          <a:xfrm>
            <a:off x="640080" y="1463040"/>
            <a:ext cx="64008" cy="1554480"/>
          </a:xfrm>
          <a:prstGeom prst="rect">
            <a:avLst/>
          </a:prstGeom>
          <a:solidFill>
            <a:srgbClr val="16A34A"/>
          </a:solidFill>
          <a:ln w="12700">
            <a:solidFill>
              <a:srgbClr val="16A34A"/>
            </a:solidFill>
            <a:prstDash val="solid"/>
          </a:ln>
        </p:spPr>
      </p:sp>
      <p:sp>
        <p:nvSpPr>
          <p:cNvPr id="13" name="Text 11"/>
          <p:cNvSpPr/>
          <p:nvPr/>
        </p:nvSpPr>
        <p:spPr>
          <a:xfrm>
            <a:off x="841248" y="1609344"/>
            <a:ext cx="50292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May do</a:t>
            </a:r>
            <a:endParaRPr lang="en-US" sz="1200" dirty="0"/>
          </a:p>
        </p:txBody>
      </p:sp>
      <p:sp>
        <p:nvSpPr>
          <p:cNvPr id="14" name="Text 12"/>
          <p:cNvSpPr/>
          <p:nvPr/>
        </p:nvSpPr>
        <p:spPr>
          <a:xfrm>
            <a:off x="841248" y="1920240"/>
            <a:ext cx="5029200" cy="100584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Retrieve, summarize, cite, propose owners, draft an exception packet, create a review task.</a:t>
            </a:r>
            <a:endParaRPr lang="en-US" sz="920" dirty="0"/>
          </a:p>
        </p:txBody>
      </p:sp>
      <p:sp>
        <p:nvSpPr>
          <p:cNvPr id="15" name="Shape 13"/>
          <p:cNvSpPr/>
          <p:nvPr/>
        </p:nvSpPr>
        <p:spPr>
          <a:xfrm>
            <a:off x="6126480" y="1463040"/>
            <a:ext cx="5394960" cy="1554480"/>
          </a:xfrm>
          <a:prstGeom prst="roundRect">
            <a:avLst>
              <a:gd name="adj" fmla="val 4706"/>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6" name="Shape 14"/>
          <p:cNvSpPr/>
          <p:nvPr/>
        </p:nvSpPr>
        <p:spPr>
          <a:xfrm>
            <a:off x="6126480" y="1463040"/>
            <a:ext cx="64008" cy="1554480"/>
          </a:xfrm>
          <a:prstGeom prst="rect">
            <a:avLst/>
          </a:prstGeom>
          <a:solidFill>
            <a:srgbClr val="DC2626"/>
          </a:solidFill>
          <a:ln w="12700">
            <a:solidFill>
              <a:srgbClr val="DC2626"/>
            </a:solidFill>
            <a:prstDash val="solid"/>
          </a:ln>
        </p:spPr>
      </p:sp>
      <p:sp>
        <p:nvSpPr>
          <p:cNvPr id="17" name="Text 15"/>
          <p:cNvSpPr/>
          <p:nvPr/>
        </p:nvSpPr>
        <p:spPr>
          <a:xfrm>
            <a:off x="6327648" y="1609344"/>
            <a:ext cx="507492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Must never do</a:t>
            </a:r>
            <a:endParaRPr lang="en-US" sz="1200" dirty="0"/>
          </a:p>
        </p:txBody>
      </p:sp>
      <p:sp>
        <p:nvSpPr>
          <p:cNvPr id="18" name="Text 16"/>
          <p:cNvSpPr/>
          <p:nvPr/>
        </p:nvSpPr>
        <p:spPr>
          <a:xfrm>
            <a:off x="6327648" y="1920240"/>
            <a:ext cx="5074920" cy="100584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Decide discharge readiness, make a clinical determination, change orders, generate/override the risk score, act without human approval.</a:t>
            </a:r>
            <a:endParaRPr lang="en-US" sz="920" dirty="0"/>
          </a:p>
        </p:txBody>
      </p:sp>
      <p:sp>
        <p:nvSpPr>
          <p:cNvPr id="19" name="Text 17"/>
          <p:cNvSpPr/>
          <p:nvPr/>
        </p:nvSpPr>
        <p:spPr>
          <a:xfrm>
            <a:off x="640080" y="3291840"/>
            <a:ext cx="10789920" cy="274320"/>
          </a:xfrm>
          <a:prstGeom prst="rect">
            <a:avLst/>
          </a:prstGeom>
          <a:noFill/>
          <a:ln/>
        </p:spPr>
        <p:txBody>
          <a:bodyPr wrap="square" lIns="0" tIns="0" rIns="0" bIns="0" rtlCol="0" anchor="ctr"/>
          <a:lstStyle/>
          <a:p>
            <a:pPr indent="0" marL="0">
              <a:buNone/>
            </a:pPr>
            <a:r>
              <a:rPr lang="en-US" sz="1300" b="1" dirty="0">
                <a:solidFill>
                  <a:srgbClr val="0B1220"/>
                </a:solidFill>
                <a:latin typeface="Aptos" pitchFamily="34" charset="0"/>
                <a:ea typeface="Aptos" pitchFamily="34" charset="-122"/>
                <a:cs typeface="Aptos" pitchFamily="34" charset="-120"/>
              </a:rPr>
              <a:t>Enforced in code and policy, not just in the prompt:</a:t>
            </a:r>
            <a:endParaRPr lang="en-US" sz="1300" dirty="0"/>
          </a:p>
        </p:txBody>
      </p:sp>
      <p:sp>
        <p:nvSpPr>
          <p:cNvPr id="20" name="Text 18"/>
          <p:cNvSpPr/>
          <p:nvPr/>
        </p:nvSpPr>
        <p:spPr>
          <a:xfrm>
            <a:off x="822960" y="3657600"/>
            <a:ext cx="10607040" cy="1920240"/>
          </a:xfrm>
          <a:prstGeom prst="rect">
            <a:avLst/>
          </a:prstGeom>
          <a:noFill/>
          <a:ln/>
        </p:spPr>
        <p:txBody>
          <a:bodyPr wrap="square" lIns="381" tIns="381" rIns="381" bIns="381" rtlCol="0" anchor="ctr">
            <a:normAutofit/>
          </a:bodyPr>
          <a:lstStyle/>
          <a:p>
            <a:pPr marL="152400" indent="-152400">
              <a:buSzPct val="100000"/>
              <a:buChar char="•"/>
            </a:pPr>
            <a:r>
              <a:rPr lang="en-US" sz="1200" dirty="0">
                <a:solidFill>
                  <a:srgbClr val="334155"/>
                </a:solidFill>
                <a:latin typeface="Aptos" pitchFamily="34" charset="0"/>
                <a:ea typeface="Aptos" pitchFamily="34" charset="-122"/>
                <a:cs typeface="Aptos" pitchFamily="34" charset="-120"/>
              </a:rPr>
              <a:t>Tools return PHI-minimizing defaults (redacted / aggregate) by default.</a:t>
            </a:r>
            <a:endParaRPr lang="en-US" sz="1200" dirty="0"/>
          </a:p>
          <a:p>
            <a:pPr marL="152400" indent="-152400">
              <a:buSzPct val="100000"/>
              <a:buChar char="•"/>
            </a:pPr>
            <a:r>
              <a:rPr lang="en-US" sz="1200" dirty="0">
                <a:solidFill>
                  <a:srgbClr val="334155"/>
                </a:solidFill>
                <a:latin typeface="Aptos" pitchFamily="34" charset="0"/>
                <a:ea typeface="Aptos" pitchFamily="34" charset="-122"/>
                <a:cs typeface="Aptos" pitchFamily="34" charset="-120"/>
              </a:rPr>
              <a:t>risk_score.get is read-only: cannot generate, recalculate, or override.</a:t>
            </a:r>
            <a:endParaRPr lang="en-US" sz="1200" dirty="0"/>
          </a:p>
          <a:p>
            <a:pPr marL="152400" indent="-152400">
              <a:buSzPct val="100000"/>
              <a:buChar char="•"/>
            </a:pPr>
            <a:r>
              <a:rPr lang="en-US" sz="1200" dirty="0">
                <a:solidFill>
                  <a:srgbClr val="334155"/>
                </a:solidFill>
                <a:latin typeface="Aptos" pitchFamily="34" charset="0"/>
                <a:ea typeface="Aptos" pitchFamily="34" charset="-122"/>
                <a:cs typeface="Aptos" pitchFamily="34" charset="-120"/>
              </a:rPr>
              <a:t>task.create drafts only; it cannot approve.</a:t>
            </a:r>
            <a:endParaRPr lang="en-US" sz="1200" dirty="0"/>
          </a:p>
          <a:p>
            <a:pPr marL="152400" indent="-152400">
              <a:buSzPct val="100000"/>
              <a:buChar char="•"/>
            </a:pPr>
            <a:r>
              <a:rPr lang="en-US" sz="1200" dirty="0">
                <a:solidFill>
                  <a:srgbClr val="334155"/>
                </a:solidFill>
                <a:latin typeface="Aptos" pitchFamily="34" charset="0"/>
                <a:ea typeface="Aptos" pitchFamily="34" charset="-122"/>
                <a:cs typeface="Aptos" pitchFamily="34" charset="-120"/>
              </a:rPr>
              <a:t>Every material action writes an audit event.</a:t>
            </a:r>
            <a:endParaRPr lang="en-US" sz="1200" dirty="0"/>
          </a:p>
          <a:p>
            <a:pPr marL="152400" indent="-152400">
              <a:buSzPct val="100000"/>
              <a:buChar char="•"/>
            </a:pPr>
            <a:r>
              <a:rPr lang="en-US" sz="1200" dirty="0">
                <a:solidFill>
                  <a:srgbClr val="334155"/>
                </a:solidFill>
                <a:latin typeface="Aptos" pitchFamily="34" charset="0"/>
                <a:ea typeface="Aptos" pitchFamily="34" charset="-122"/>
                <a:cs typeface="Aptos" pitchFamily="34" charset="-120"/>
              </a:rPr>
              <a:t>Missing or conflicting evidence escalates instead of guessing.</a:t>
            </a:r>
            <a:endParaRPr lang="en-US" sz="12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HOW TO LISTEN TO THIS WORKSHOP</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The through-line: Governance, Access, Patterns</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640080" y="1463040"/>
            <a:ext cx="3520440" cy="2194560"/>
          </a:xfrm>
          <a:prstGeom prst="roundRect">
            <a:avLst>
              <a:gd name="adj" fmla="val 3333"/>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6" name="Shape 4"/>
          <p:cNvSpPr/>
          <p:nvPr/>
        </p:nvSpPr>
        <p:spPr>
          <a:xfrm>
            <a:off x="640080" y="1463040"/>
            <a:ext cx="64008" cy="2194560"/>
          </a:xfrm>
          <a:prstGeom prst="rect">
            <a:avLst/>
          </a:prstGeom>
          <a:solidFill>
            <a:srgbClr val="0F766E"/>
          </a:solidFill>
          <a:ln w="12700">
            <a:solidFill>
              <a:srgbClr val="0F766E"/>
            </a:solidFill>
            <a:prstDash val="solid"/>
          </a:ln>
        </p:spPr>
      </p:sp>
      <p:sp>
        <p:nvSpPr>
          <p:cNvPr id="7" name="Text 5"/>
          <p:cNvSpPr/>
          <p:nvPr/>
        </p:nvSpPr>
        <p:spPr>
          <a:xfrm>
            <a:off x="841248" y="160934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Governance</a:t>
            </a:r>
            <a:endParaRPr lang="en-US" sz="1200" dirty="0"/>
          </a:p>
        </p:txBody>
      </p:sp>
      <p:sp>
        <p:nvSpPr>
          <p:cNvPr id="8" name="Text 6"/>
          <p:cNvSpPr/>
          <p:nvPr/>
        </p:nvSpPr>
        <p:spPr>
          <a:xfrm>
            <a:off x="841248" y="1920240"/>
            <a:ext cx="3200400" cy="164592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Who owns the agent, its data, its tools, and its decisions. Policy, audit, evaluation, and human accountability as architecture - not paperwork.</a:t>
            </a:r>
            <a:endParaRPr lang="en-US" sz="920" dirty="0"/>
          </a:p>
        </p:txBody>
      </p:sp>
      <p:sp>
        <p:nvSpPr>
          <p:cNvPr id="9" name="Shape 7"/>
          <p:cNvSpPr/>
          <p:nvPr/>
        </p:nvSpPr>
        <p:spPr>
          <a:xfrm>
            <a:off x="4343400" y="1463040"/>
            <a:ext cx="3520440" cy="2194560"/>
          </a:xfrm>
          <a:prstGeom prst="roundRect">
            <a:avLst>
              <a:gd name="adj" fmla="val 3333"/>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0" name="Shape 8"/>
          <p:cNvSpPr/>
          <p:nvPr/>
        </p:nvSpPr>
        <p:spPr>
          <a:xfrm>
            <a:off x="4343400" y="1463040"/>
            <a:ext cx="64008" cy="2194560"/>
          </a:xfrm>
          <a:prstGeom prst="rect">
            <a:avLst/>
          </a:prstGeom>
          <a:solidFill>
            <a:srgbClr val="7C3AED"/>
          </a:solidFill>
          <a:ln w="12700">
            <a:solidFill>
              <a:srgbClr val="7C3AED"/>
            </a:solidFill>
            <a:prstDash val="solid"/>
          </a:ln>
        </p:spPr>
      </p:sp>
      <p:sp>
        <p:nvSpPr>
          <p:cNvPr id="11" name="Text 9"/>
          <p:cNvSpPr/>
          <p:nvPr/>
        </p:nvSpPr>
        <p:spPr>
          <a:xfrm>
            <a:off x="4544568" y="160934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Access</a:t>
            </a:r>
            <a:endParaRPr lang="en-US" sz="1200" dirty="0"/>
          </a:p>
        </p:txBody>
      </p:sp>
      <p:sp>
        <p:nvSpPr>
          <p:cNvPr id="12" name="Text 10"/>
          <p:cNvSpPr/>
          <p:nvPr/>
        </p:nvSpPr>
        <p:spPr>
          <a:xfrm>
            <a:off x="4544568" y="1920240"/>
            <a:ext cx="3200400" cy="164592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Identity and least privilege at every hop: user, agent identity, tool scope, and case context. Deny by default; PHI minimized.</a:t>
            </a:r>
            <a:endParaRPr lang="en-US" sz="920" dirty="0"/>
          </a:p>
        </p:txBody>
      </p:sp>
      <p:sp>
        <p:nvSpPr>
          <p:cNvPr id="13" name="Shape 11"/>
          <p:cNvSpPr/>
          <p:nvPr/>
        </p:nvSpPr>
        <p:spPr>
          <a:xfrm>
            <a:off x="8046720" y="1463040"/>
            <a:ext cx="3520440" cy="2194560"/>
          </a:xfrm>
          <a:prstGeom prst="roundRect">
            <a:avLst>
              <a:gd name="adj" fmla="val 3333"/>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4" name="Shape 12"/>
          <p:cNvSpPr/>
          <p:nvPr/>
        </p:nvSpPr>
        <p:spPr>
          <a:xfrm>
            <a:off x="8046720" y="1463040"/>
            <a:ext cx="64008" cy="2194560"/>
          </a:xfrm>
          <a:prstGeom prst="rect">
            <a:avLst/>
          </a:prstGeom>
          <a:solidFill>
            <a:srgbClr val="F59E0B"/>
          </a:solidFill>
          <a:ln w="12700">
            <a:solidFill>
              <a:srgbClr val="F59E0B"/>
            </a:solidFill>
            <a:prstDash val="solid"/>
          </a:ln>
        </p:spPr>
      </p:sp>
      <p:sp>
        <p:nvSpPr>
          <p:cNvPr id="15" name="Text 13"/>
          <p:cNvSpPr/>
          <p:nvPr/>
        </p:nvSpPr>
        <p:spPr>
          <a:xfrm>
            <a:off x="8247888" y="160934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Patterns</a:t>
            </a:r>
            <a:endParaRPr lang="en-US" sz="1200" dirty="0"/>
          </a:p>
        </p:txBody>
      </p:sp>
      <p:sp>
        <p:nvSpPr>
          <p:cNvPr id="16" name="Text 14"/>
          <p:cNvSpPr/>
          <p:nvPr/>
        </p:nvSpPr>
        <p:spPr>
          <a:xfrm>
            <a:off x="8247888" y="1920240"/>
            <a:ext cx="3200400" cy="164592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The Microsoft-recommended building blocks: hosted agents, MCP tool boundary, Foundry IQ RAG, observability, HITL, and toolboxes.</a:t>
            </a:r>
            <a:endParaRPr lang="en-US" sz="920" dirty="0"/>
          </a:p>
        </p:txBody>
      </p:sp>
      <p:sp>
        <p:nvSpPr>
          <p:cNvPr id="17" name="Text 15"/>
          <p:cNvSpPr/>
          <p:nvPr/>
        </p:nvSpPr>
        <p:spPr>
          <a:xfrm>
            <a:off x="640080" y="4023360"/>
            <a:ext cx="10881360" cy="457200"/>
          </a:xfrm>
          <a:prstGeom prst="rect">
            <a:avLst/>
          </a:prstGeom>
          <a:noFill/>
          <a:ln/>
        </p:spPr>
        <p:txBody>
          <a:bodyPr wrap="square" lIns="0" tIns="0" rIns="0" bIns="0" rtlCol="0" anchor="ctr">
            <a:normAutofit/>
          </a:bodyPr>
          <a:lstStyle/>
          <a:p>
            <a:pPr algn="ctr" indent="0" marL="0">
              <a:buNone/>
            </a:pPr>
            <a:r>
              <a:rPr lang="en-US" sz="1500" b="1" dirty="0">
                <a:solidFill>
                  <a:srgbClr val="0B1220"/>
                </a:solidFill>
                <a:latin typeface="Aptos Display" pitchFamily="34" charset="0"/>
                <a:ea typeface="Aptos Display" pitchFamily="34" charset="-122"/>
                <a:cs typeface="Aptos Display" pitchFamily="34" charset="-120"/>
              </a:rPr>
              <a:t>Every chapter, ask: what does this add to governance, to access, and which recommended pattern does it use?</a:t>
            </a:r>
            <a:endParaRPr lang="en-US" sz="15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1 | ITEM 1 | DAY 1</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Hosted Agents + BYO Registry</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640080" y="1417320"/>
            <a:ext cx="5486400" cy="274320"/>
          </a:xfrm>
          <a:prstGeom prst="rect">
            <a:avLst/>
          </a:prstGeom>
          <a:noFill/>
          <a:ln/>
        </p:spPr>
        <p:txBody>
          <a:bodyPr wrap="square" lIns="0" tIns="0" rIns="0" bIns="0" rtlCol="0" anchor="ctr"/>
          <a:lstStyle/>
          <a:p>
            <a:pPr indent="0" marL="0">
              <a:buNone/>
            </a:pPr>
            <a:r>
              <a:rPr lang="en-US" sz="1300" b="1" dirty="0">
                <a:solidFill>
                  <a:srgbClr val="0F766E"/>
                </a:solidFill>
                <a:latin typeface="Aptos" pitchFamily="34" charset="0"/>
                <a:ea typeface="Aptos" pitchFamily="34" charset="-122"/>
                <a:cs typeface="Aptos" pitchFamily="34" charset="-120"/>
              </a:rPr>
              <a:t>What we will cover</a:t>
            </a:r>
            <a:endParaRPr lang="en-US" sz="1300" dirty="0"/>
          </a:p>
        </p:txBody>
      </p:sp>
      <p:sp>
        <p:nvSpPr>
          <p:cNvPr id="12" name="Text 10"/>
          <p:cNvSpPr/>
          <p:nvPr/>
        </p:nvSpPr>
        <p:spPr>
          <a:xfrm>
            <a:off x="822960" y="1783080"/>
            <a:ext cx="6766560" cy="2377440"/>
          </a:xfrm>
          <a:prstGeom prst="rect">
            <a:avLst/>
          </a:prstGeom>
          <a:noFill/>
          <a:ln/>
        </p:spPr>
        <p:txBody>
          <a:bodyPr wrap="square" lIns="381" tIns="381" rIns="381" bIns="381" rtlCol="0" anchor="ctr">
            <a:normAutofit/>
          </a:bodyPr>
          <a:lstStyle/>
          <a:p>
            <a:pPr marL="152400" indent="-152400">
              <a:buSzPct val="100000"/>
              <a:buChar char="•"/>
            </a:pPr>
            <a:r>
              <a:rPr lang="en-US" sz="1300" dirty="0">
                <a:solidFill>
                  <a:srgbClr val="334155"/>
                </a:solidFill>
                <a:latin typeface="Aptos" pitchFamily="34" charset="0"/>
                <a:ea typeface="Aptos" pitchFamily="34" charset="-122"/>
                <a:cs typeface="Aptos" pitchFamily="34" charset="-120"/>
              </a:rPr>
              <a:t>What a hosted agent is and why code-first agents run best in a managed runtime.</a:t>
            </a:r>
            <a:endParaRPr lang="en-US" sz="1300" dirty="0"/>
          </a:p>
          <a:p>
            <a:pPr marL="152400" indent="-152400">
              <a:buSzPct val="100000"/>
              <a:buChar char="•"/>
            </a:pPr>
            <a:r>
              <a:rPr lang="en-US" sz="1300" dirty="0">
                <a:solidFill>
                  <a:srgbClr val="334155"/>
                </a:solidFill>
                <a:latin typeface="Aptos" pitchFamily="34" charset="0"/>
                <a:ea typeface="Aptos" pitchFamily="34" charset="-122"/>
                <a:cs typeface="Aptos" pitchFamily="34" charset="-120"/>
              </a:rPr>
              <a:t>How Bring-Your-Own Registry gives enterprises image provenance and promotion control.</a:t>
            </a:r>
            <a:endParaRPr lang="en-US" sz="1300" dirty="0"/>
          </a:p>
          <a:p>
            <a:pPr marL="152400" indent="-152400">
              <a:buSzPct val="100000"/>
              <a:buChar char="•"/>
            </a:pPr>
            <a:r>
              <a:rPr lang="en-US" sz="1300" dirty="0">
                <a:solidFill>
                  <a:srgbClr val="334155"/>
                </a:solidFill>
                <a:latin typeface="Aptos" pitchFamily="34" charset="0"/>
                <a:ea typeface="Aptos" pitchFamily="34" charset="-122"/>
                <a:cs typeface="Aptos" pitchFamily="34" charset="-120"/>
              </a:rPr>
              <a:t>The deployment lifecycle: build, version, activate, invoke, observe.</a:t>
            </a:r>
            <a:endParaRPr lang="en-US" sz="1300" dirty="0"/>
          </a:p>
        </p:txBody>
      </p:sp>
      <p:sp>
        <p:nvSpPr>
          <p:cNvPr id="13" name="Shape 11"/>
          <p:cNvSpPr/>
          <p:nvPr/>
        </p:nvSpPr>
        <p:spPr>
          <a:xfrm>
            <a:off x="7818120" y="1554480"/>
            <a:ext cx="3703320" cy="3108960"/>
          </a:xfrm>
          <a:prstGeom prst="roundRect">
            <a:avLst>
              <a:gd name="adj" fmla="val 2941"/>
            </a:avLst>
          </a:prstGeom>
          <a:solidFill>
            <a:srgbClr val="E6FFFB"/>
          </a:solidFill>
          <a:ln w="12700">
            <a:solidFill>
              <a:srgbClr val="99F6E4"/>
            </a:solidFill>
            <a:prstDash val="solid"/>
          </a:ln>
        </p:spPr>
      </p:sp>
      <p:sp>
        <p:nvSpPr>
          <p:cNvPr id="14" name="Text 12"/>
          <p:cNvSpPr/>
          <p:nvPr/>
        </p:nvSpPr>
        <p:spPr>
          <a:xfrm>
            <a:off x="8046720" y="1783080"/>
            <a:ext cx="3291840" cy="274320"/>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What is in it for you</a:t>
            </a:r>
            <a:endParaRPr lang="en-US" sz="1200" dirty="0"/>
          </a:p>
        </p:txBody>
      </p:sp>
      <p:sp>
        <p:nvSpPr>
          <p:cNvPr id="15" name="Text 13"/>
          <p:cNvSpPr/>
          <p:nvPr/>
        </p:nvSpPr>
        <p:spPr>
          <a:xfrm>
            <a:off x="8046720" y="2194560"/>
            <a:ext cx="3246120" cy="2194560"/>
          </a:xfrm>
          <a:prstGeom prst="rect">
            <a:avLst/>
          </a:prstGeom>
          <a:noFill/>
          <a:ln/>
        </p:spPr>
        <p:txBody>
          <a:bodyPr wrap="square" lIns="0" tIns="0" rIns="0" bIns="0" rtlCol="0" anchor="t">
            <a:normAutofit/>
          </a:bodyPr>
          <a:lstStyle/>
          <a:p>
            <a:pPr indent="0" marL="0">
              <a:buNone/>
            </a:pPr>
            <a:r>
              <a:rPr lang="en-US" sz="1600" b="1" dirty="0">
                <a:solidFill>
                  <a:srgbClr val="0B1220"/>
                </a:solidFill>
                <a:latin typeface="Aptos Display" pitchFamily="34" charset="0"/>
                <a:ea typeface="Aptos Display" pitchFamily="34" charset="-122"/>
                <a:cs typeface="Aptos Display" pitchFamily="34" charset="-120"/>
              </a:rPr>
              <a:t>You get a runtime you do not have to operate, with enterprise controls over what image ships.</a:t>
            </a:r>
            <a:endParaRPr lang="en-US" sz="16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1 | TEACH</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The pattern: managed runtime for your own code</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Shape 9"/>
          <p:cNvSpPr/>
          <p:nvPr/>
        </p:nvSpPr>
        <p:spPr>
          <a:xfrm>
            <a:off x="64008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2" name="Shape 10"/>
          <p:cNvSpPr/>
          <p:nvPr/>
        </p:nvSpPr>
        <p:spPr>
          <a:xfrm>
            <a:off x="640080" y="1554480"/>
            <a:ext cx="64008" cy="2103120"/>
          </a:xfrm>
          <a:prstGeom prst="rect">
            <a:avLst/>
          </a:prstGeom>
          <a:solidFill>
            <a:srgbClr val="0F766E"/>
          </a:solidFill>
          <a:ln w="12700">
            <a:solidFill>
              <a:srgbClr val="0F766E"/>
            </a:solidFill>
            <a:prstDash val="solid"/>
          </a:ln>
        </p:spPr>
      </p:sp>
      <p:sp>
        <p:nvSpPr>
          <p:cNvPr id="13" name="Text 11"/>
          <p:cNvSpPr/>
          <p:nvPr/>
        </p:nvSpPr>
        <p:spPr>
          <a:xfrm>
            <a:off x="84124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Hosted agent</a:t>
            </a:r>
            <a:endParaRPr lang="en-US" sz="1200" dirty="0"/>
          </a:p>
        </p:txBody>
      </p:sp>
      <p:sp>
        <p:nvSpPr>
          <p:cNvPr id="14" name="Text 12"/>
          <p:cNvSpPr/>
          <p:nvPr/>
        </p:nvSpPr>
        <p:spPr>
          <a:xfrm>
            <a:off x="84124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Bring your code/framework as a container or source; Foundry runs it with a managed endpoint, autoscale, and identity.</a:t>
            </a:r>
            <a:endParaRPr lang="en-US" sz="920" dirty="0"/>
          </a:p>
        </p:txBody>
      </p:sp>
      <p:sp>
        <p:nvSpPr>
          <p:cNvPr id="15" name="Shape 13"/>
          <p:cNvSpPr/>
          <p:nvPr/>
        </p:nvSpPr>
        <p:spPr>
          <a:xfrm>
            <a:off x="434340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6" name="Shape 14"/>
          <p:cNvSpPr/>
          <p:nvPr/>
        </p:nvSpPr>
        <p:spPr>
          <a:xfrm>
            <a:off x="4343400" y="1554480"/>
            <a:ext cx="64008" cy="2103120"/>
          </a:xfrm>
          <a:prstGeom prst="rect">
            <a:avLst/>
          </a:prstGeom>
          <a:solidFill>
            <a:srgbClr val="2563EB"/>
          </a:solidFill>
          <a:ln w="12700">
            <a:solidFill>
              <a:srgbClr val="2563EB"/>
            </a:solidFill>
            <a:prstDash val="solid"/>
          </a:ln>
        </p:spPr>
      </p:sp>
      <p:sp>
        <p:nvSpPr>
          <p:cNvPr id="17" name="Text 15"/>
          <p:cNvSpPr/>
          <p:nvPr/>
        </p:nvSpPr>
        <p:spPr>
          <a:xfrm>
            <a:off x="454456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BYO Registry</a:t>
            </a:r>
            <a:endParaRPr lang="en-US" sz="1200" dirty="0"/>
          </a:p>
        </p:txBody>
      </p:sp>
      <p:sp>
        <p:nvSpPr>
          <p:cNvPr id="18" name="Text 16"/>
          <p:cNvSpPr/>
          <p:nvPr/>
        </p:nvSpPr>
        <p:spPr>
          <a:xfrm>
            <a:off x="454456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Your Azure Container Registry holds the image. Scan, sign, and promote through approved environments.</a:t>
            </a:r>
            <a:endParaRPr lang="en-US" sz="920" dirty="0"/>
          </a:p>
        </p:txBody>
      </p:sp>
      <p:sp>
        <p:nvSpPr>
          <p:cNvPr id="19" name="Shape 17"/>
          <p:cNvSpPr/>
          <p:nvPr/>
        </p:nvSpPr>
        <p:spPr>
          <a:xfrm>
            <a:off x="804672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20" name="Shape 18"/>
          <p:cNvSpPr/>
          <p:nvPr/>
        </p:nvSpPr>
        <p:spPr>
          <a:xfrm>
            <a:off x="8046720" y="1554480"/>
            <a:ext cx="64008" cy="2103120"/>
          </a:xfrm>
          <a:prstGeom prst="rect">
            <a:avLst/>
          </a:prstGeom>
          <a:solidFill>
            <a:srgbClr val="F59E0B"/>
          </a:solidFill>
          <a:ln w="12700">
            <a:solidFill>
              <a:srgbClr val="F59E0B"/>
            </a:solidFill>
            <a:prstDash val="solid"/>
          </a:ln>
        </p:spPr>
      </p:sp>
      <p:sp>
        <p:nvSpPr>
          <p:cNvPr id="21" name="Text 19"/>
          <p:cNvSpPr/>
          <p:nvPr/>
        </p:nvSpPr>
        <p:spPr>
          <a:xfrm>
            <a:off x="824788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Cost model</a:t>
            </a:r>
            <a:endParaRPr lang="en-US" sz="1200" dirty="0"/>
          </a:p>
        </p:txBody>
      </p:sp>
      <p:sp>
        <p:nvSpPr>
          <p:cNvPr id="22" name="Text 20"/>
          <p:cNvSpPr/>
          <p:nvPr/>
        </p:nvSpPr>
        <p:spPr>
          <a:xfrm>
            <a:off x="824788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Model inference + tool usage + container compute + enterprise resources + telemetry. Estimate; do not quote a single price.</a:t>
            </a:r>
            <a:endParaRPr lang="en-US" sz="920" dirty="0"/>
          </a:p>
        </p:txBody>
      </p:sp>
      <p:sp>
        <p:nvSpPr>
          <p:cNvPr id="23" name="Text 21"/>
          <p:cNvSpPr/>
          <p:nvPr/>
        </p:nvSpPr>
        <p:spPr>
          <a:xfrm>
            <a:off x="640080" y="4023360"/>
            <a:ext cx="10881360" cy="365760"/>
          </a:xfrm>
          <a:prstGeom prst="rect">
            <a:avLst/>
          </a:prstGeom>
          <a:noFill/>
          <a:ln/>
        </p:spPr>
        <p:txBody>
          <a:bodyPr wrap="square" lIns="0" tIns="0" rIns="0" bIns="0" rtlCol="0" anchor="ctr"/>
          <a:lstStyle/>
          <a:p>
            <a:pPr indent="0" marL="0">
              <a:buNone/>
            </a:pPr>
            <a:r>
              <a:rPr lang="en-US" sz="1200" i="1" dirty="0">
                <a:solidFill>
                  <a:srgbClr val="64748B"/>
                </a:solidFill>
                <a:latin typeface="Aptos" pitchFamily="34" charset="0"/>
                <a:ea typeface="Aptos" pitchFamily="34" charset="-122"/>
                <a:cs typeface="Aptos" pitchFamily="34" charset="-120"/>
              </a:rPr>
              <a:t>Microsoft-recommended pattern - reusable beyond this use case.</a:t>
            </a:r>
            <a:endParaRPr lang="en-US" sz="12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1 | GOVERNANCE, ACCESS, PATTERNS</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Governance &amp; access angle</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822960" y="1554480"/>
            <a:ext cx="10607040" cy="2377440"/>
          </a:xfrm>
          <a:prstGeom prst="rect">
            <a:avLst/>
          </a:prstGeom>
          <a:noFill/>
          <a:ln/>
        </p:spPr>
        <p:txBody>
          <a:bodyPr wrap="square" lIns="381" tIns="381" rIns="381" bIns="381" rtlCol="0" anchor="ctr">
            <a:normAutofit/>
          </a:bodyPr>
          <a:lstStyle/>
          <a:p>
            <a:pPr marL="152400" indent="-152400">
              <a:buSzPct val="100000"/>
              <a:buChar char="•"/>
            </a:pPr>
            <a:r>
              <a:rPr lang="en-US" sz="1350" dirty="0">
                <a:solidFill>
                  <a:srgbClr val="334155"/>
                </a:solidFill>
                <a:latin typeface="Aptos" pitchFamily="34" charset="0"/>
                <a:ea typeface="Aptos" pitchFamily="34" charset="-122"/>
                <a:cs typeface="Aptos" pitchFamily="34" charset="-120"/>
              </a:rPr>
              <a:t>Governance: image provenance, scanning, and promotion gates before pilot or prod.</a:t>
            </a:r>
            <a:endParaRPr lang="en-US" sz="1350" dirty="0"/>
          </a:p>
          <a:p>
            <a:pPr marL="152400" indent="-152400">
              <a:buSzPct val="100000"/>
              <a:buChar char="•"/>
            </a:pPr>
            <a:r>
              <a:rPr lang="en-US" sz="1350" dirty="0">
                <a:solidFill>
                  <a:srgbClr val="334155"/>
                </a:solidFill>
                <a:latin typeface="Aptos" pitchFamily="34" charset="0"/>
                <a:ea typeface="Aptos" pitchFamily="34" charset="-122"/>
                <a:cs typeface="Aptos" pitchFamily="34" charset="-120"/>
              </a:rPr>
              <a:t>Access: each agent gets a dedicated Entra identity; grant least-privilege RBAC explicitly.</a:t>
            </a:r>
            <a:endParaRPr lang="en-US" sz="1350" dirty="0"/>
          </a:p>
          <a:p>
            <a:pPr marL="152400" indent="-152400">
              <a:buSzPct val="100000"/>
              <a:buChar char="•"/>
            </a:pPr>
            <a:r>
              <a:rPr lang="en-US" sz="1350" dirty="0">
                <a:solidFill>
                  <a:srgbClr val="334155"/>
                </a:solidFill>
                <a:latin typeface="Aptos" pitchFamily="34" charset="0"/>
                <a:ea typeface="Aptos" pitchFamily="34" charset="-122"/>
                <a:cs typeface="Aptos" pitchFamily="34" charset="-120"/>
              </a:rPr>
              <a:t>Pattern: separate dev/test/pilot/prod images and pin agent versions in evaluation records.</a:t>
            </a:r>
            <a:endParaRPr lang="en-US" sz="1350" dirty="0"/>
          </a:p>
        </p:txBody>
      </p:sp>
      <p:sp>
        <p:nvSpPr>
          <p:cNvPr id="12" name="Shape 10"/>
          <p:cNvSpPr/>
          <p:nvPr/>
        </p:nvSpPr>
        <p:spPr>
          <a:xfrm>
            <a:off x="640080" y="4617720"/>
            <a:ext cx="10881360" cy="960120"/>
          </a:xfrm>
          <a:prstGeom prst="roundRect">
            <a:avLst>
              <a:gd name="adj" fmla="val 9524"/>
            </a:avLst>
          </a:prstGeom>
          <a:solidFill>
            <a:srgbClr val="FFFBEB"/>
          </a:solidFill>
          <a:ln w="12700">
            <a:solidFill>
              <a:srgbClr val="FDE68A"/>
            </a:solidFill>
            <a:prstDash val="solid"/>
          </a:ln>
        </p:spPr>
      </p:sp>
      <p:sp>
        <p:nvSpPr>
          <p:cNvPr id="13" name="Text 11"/>
          <p:cNvSpPr/>
          <p:nvPr/>
        </p:nvSpPr>
        <p:spPr>
          <a:xfrm>
            <a:off x="868680" y="4773168"/>
            <a:ext cx="1463040" cy="219456"/>
          </a:xfrm>
          <a:prstGeom prst="rect">
            <a:avLst/>
          </a:prstGeom>
          <a:noFill/>
          <a:ln/>
        </p:spPr>
        <p:txBody>
          <a:bodyPr wrap="square" lIns="0" tIns="0" rIns="0" bIns="0" rtlCol="0" anchor="ctr"/>
          <a:lstStyle/>
          <a:p>
            <a:pPr indent="0" marL="0">
              <a:buNone/>
            </a:pPr>
            <a:r>
              <a:rPr lang="en-US" sz="1000" b="1" dirty="0">
                <a:solidFill>
                  <a:srgbClr val="92400E"/>
                </a:solidFill>
                <a:latin typeface="Aptos" pitchFamily="34" charset="0"/>
                <a:ea typeface="Aptos" pitchFamily="34" charset="-122"/>
                <a:cs typeface="Aptos" pitchFamily="34" charset="-120"/>
              </a:rPr>
              <a:t>Facilitator</a:t>
            </a:r>
            <a:endParaRPr lang="en-US" sz="1000" dirty="0"/>
          </a:p>
        </p:txBody>
      </p:sp>
      <p:sp>
        <p:nvSpPr>
          <p:cNvPr id="14" name="Text 12"/>
          <p:cNvSpPr/>
          <p:nvPr/>
        </p:nvSpPr>
        <p:spPr>
          <a:xfrm>
            <a:off x="868680" y="5029200"/>
            <a:ext cx="10424160" cy="457200"/>
          </a:xfrm>
          <a:prstGeom prst="rect">
            <a:avLst/>
          </a:prstGeom>
          <a:noFill/>
          <a:ln/>
        </p:spPr>
        <p:txBody>
          <a:bodyPr wrap="square" lIns="0" tIns="0" rIns="0" bIns="0" rtlCol="0" anchor="ctr">
            <a:normAutofit/>
          </a:bodyPr>
          <a:lstStyle/>
          <a:p>
            <a:pPr indent="0" marL="0">
              <a:buNone/>
            </a:pPr>
            <a:r>
              <a:rPr lang="en-US" sz="1150" dirty="0">
                <a:solidFill>
                  <a:srgbClr val="334155"/>
                </a:solidFill>
                <a:latin typeface="Aptos" pitchFamily="34" charset="0"/>
                <a:ea typeface="Aptos" pitchFamily="34" charset="-122"/>
                <a:cs typeface="Aptos" pitchFamily="34" charset="-120"/>
              </a:rPr>
              <a:t>Live cue: show agents/ manifests + backend/ orchestrator; run /api/health. Checkpoint: chapter-01-backend-tests.</a:t>
            </a:r>
            <a:endParaRPr lang="en-US" sz="115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2 | ITEM 2 | DAY 1</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MCP Server (Work IQ)</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640080" y="1417320"/>
            <a:ext cx="5486400" cy="274320"/>
          </a:xfrm>
          <a:prstGeom prst="rect">
            <a:avLst/>
          </a:prstGeom>
          <a:noFill/>
          <a:ln/>
        </p:spPr>
        <p:txBody>
          <a:bodyPr wrap="square" lIns="0" tIns="0" rIns="0" bIns="0" rtlCol="0" anchor="ctr"/>
          <a:lstStyle/>
          <a:p>
            <a:pPr indent="0" marL="0">
              <a:buNone/>
            </a:pPr>
            <a:r>
              <a:rPr lang="en-US" sz="1300" b="1" dirty="0">
                <a:solidFill>
                  <a:srgbClr val="0F766E"/>
                </a:solidFill>
                <a:latin typeface="Aptos" pitchFamily="34" charset="0"/>
                <a:ea typeface="Aptos" pitchFamily="34" charset="-122"/>
                <a:cs typeface="Aptos" pitchFamily="34" charset="-120"/>
              </a:rPr>
              <a:t>What we will cover</a:t>
            </a:r>
            <a:endParaRPr lang="en-US" sz="1300" dirty="0"/>
          </a:p>
        </p:txBody>
      </p:sp>
      <p:sp>
        <p:nvSpPr>
          <p:cNvPr id="12" name="Text 10"/>
          <p:cNvSpPr/>
          <p:nvPr/>
        </p:nvSpPr>
        <p:spPr>
          <a:xfrm>
            <a:off x="822960" y="1783080"/>
            <a:ext cx="6766560" cy="2377440"/>
          </a:xfrm>
          <a:prstGeom prst="rect">
            <a:avLst/>
          </a:prstGeom>
          <a:noFill/>
          <a:ln/>
        </p:spPr>
        <p:txBody>
          <a:bodyPr wrap="square" lIns="381" tIns="381" rIns="381" bIns="381" rtlCol="0" anchor="ctr">
            <a:normAutofit/>
          </a:bodyPr>
          <a:lstStyle/>
          <a:p>
            <a:pPr marL="152400" indent="-152400">
              <a:buSzPct val="100000"/>
              <a:buChar char="•"/>
            </a:pPr>
            <a:r>
              <a:rPr lang="en-US" sz="1300" dirty="0">
                <a:solidFill>
                  <a:srgbClr val="334155"/>
                </a:solidFill>
                <a:latin typeface="Aptos" pitchFamily="34" charset="0"/>
                <a:ea typeface="Aptos" pitchFamily="34" charset="-122"/>
                <a:cs typeface="Aptos" pitchFamily="34" charset="-120"/>
              </a:rPr>
              <a:t>Why the agent should not touch data directly - the MCP tool boundary.</a:t>
            </a:r>
            <a:endParaRPr lang="en-US" sz="1300" dirty="0"/>
          </a:p>
          <a:p>
            <a:pPr marL="152400" indent="-152400">
              <a:buSzPct val="100000"/>
              <a:buChar char="•"/>
            </a:pPr>
            <a:r>
              <a:rPr lang="en-US" sz="1300" dirty="0">
                <a:solidFill>
                  <a:srgbClr val="334155"/>
                </a:solidFill>
                <a:latin typeface="Aptos" pitchFamily="34" charset="0"/>
                <a:ea typeface="Aptos" pitchFamily="34" charset="-122"/>
                <a:cs typeface="Aptos" pitchFamily="34" charset="-120"/>
              </a:rPr>
              <a:t>What Work IQ adds: permission-aware enterprise work context.</a:t>
            </a:r>
            <a:endParaRPr lang="en-US" sz="1300" dirty="0"/>
          </a:p>
          <a:p>
            <a:pPr marL="152400" indent="-152400">
              <a:buSzPct val="100000"/>
              <a:buChar char="•"/>
            </a:pPr>
            <a:r>
              <a:rPr lang="en-US" sz="1300" dirty="0">
                <a:solidFill>
                  <a:srgbClr val="334155"/>
                </a:solidFill>
                <a:latin typeface="Aptos" pitchFamily="34" charset="0"/>
                <a:ea typeface="Aptos" pitchFamily="34" charset="-122"/>
                <a:cs typeface="Aptos" pitchFamily="34" charset="-120"/>
              </a:rPr>
              <a:t>How to authorize access case by case, not agent-wide.</a:t>
            </a:r>
            <a:endParaRPr lang="en-US" sz="1300" dirty="0"/>
          </a:p>
        </p:txBody>
      </p:sp>
      <p:sp>
        <p:nvSpPr>
          <p:cNvPr id="13" name="Shape 11"/>
          <p:cNvSpPr/>
          <p:nvPr/>
        </p:nvSpPr>
        <p:spPr>
          <a:xfrm>
            <a:off x="7818120" y="1554480"/>
            <a:ext cx="3703320" cy="3108960"/>
          </a:xfrm>
          <a:prstGeom prst="roundRect">
            <a:avLst>
              <a:gd name="adj" fmla="val 2941"/>
            </a:avLst>
          </a:prstGeom>
          <a:solidFill>
            <a:srgbClr val="E6FFFB"/>
          </a:solidFill>
          <a:ln w="12700">
            <a:solidFill>
              <a:srgbClr val="99F6E4"/>
            </a:solidFill>
            <a:prstDash val="solid"/>
          </a:ln>
        </p:spPr>
      </p:sp>
      <p:sp>
        <p:nvSpPr>
          <p:cNvPr id="14" name="Text 12"/>
          <p:cNvSpPr/>
          <p:nvPr/>
        </p:nvSpPr>
        <p:spPr>
          <a:xfrm>
            <a:off x="8046720" y="1783080"/>
            <a:ext cx="3291840" cy="274320"/>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What is in it for you</a:t>
            </a:r>
            <a:endParaRPr lang="en-US" sz="1200" dirty="0"/>
          </a:p>
        </p:txBody>
      </p:sp>
      <p:sp>
        <p:nvSpPr>
          <p:cNvPr id="15" name="Text 13"/>
          <p:cNvSpPr/>
          <p:nvPr/>
        </p:nvSpPr>
        <p:spPr>
          <a:xfrm>
            <a:off x="8046720" y="2194560"/>
            <a:ext cx="3246120" cy="2194560"/>
          </a:xfrm>
          <a:prstGeom prst="rect">
            <a:avLst/>
          </a:prstGeom>
          <a:noFill/>
          <a:ln/>
        </p:spPr>
        <p:txBody>
          <a:bodyPr wrap="square" lIns="0" tIns="0" rIns="0" bIns="0" rtlCol="0" anchor="t">
            <a:normAutofit/>
          </a:bodyPr>
          <a:lstStyle/>
          <a:p>
            <a:pPr indent="0" marL="0">
              <a:buNone/>
            </a:pPr>
            <a:r>
              <a:rPr lang="en-US" sz="1600" b="1" dirty="0">
                <a:solidFill>
                  <a:srgbClr val="0B1220"/>
                </a:solidFill>
                <a:latin typeface="Aptos Display" pitchFamily="34" charset="0"/>
                <a:ea typeface="Aptos Display" pitchFamily="34" charset="-122"/>
                <a:cs typeface="Aptos Display" pitchFamily="34" charset="-120"/>
              </a:rPr>
              <a:t>You get one governed place to control, audit, and version every tool an agent can call.</a:t>
            </a:r>
            <a:endParaRPr lang="en-US" sz="16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2 | TEACH</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The pattern: tools behind a governed MCP boundary</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Shape 9"/>
          <p:cNvSpPr/>
          <p:nvPr/>
        </p:nvSpPr>
        <p:spPr>
          <a:xfrm>
            <a:off x="64008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2" name="Shape 10"/>
          <p:cNvSpPr/>
          <p:nvPr/>
        </p:nvSpPr>
        <p:spPr>
          <a:xfrm>
            <a:off x="640080" y="1554480"/>
            <a:ext cx="64008" cy="2103120"/>
          </a:xfrm>
          <a:prstGeom prst="rect">
            <a:avLst/>
          </a:prstGeom>
          <a:solidFill>
            <a:srgbClr val="0F766E"/>
          </a:solidFill>
          <a:ln w="12700">
            <a:solidFill>
              <a:srgbClr val="0F766E"/>
            </a:solidFill>
            <a:prstDash val="solid"/>
          </a:ln>
        </p:spPr>
      </p:sp>
      <p:sp>
        <p:nvSpPr>
          <p:cNvPr id="13" name="Text 11"/>
          <p:cNvSpPr/>
          <p:nvPr/>
        </p:nvSpPr>
        <p:spPr>
          <a:xfrm>
            <a:off x="84124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MCP boundary</a:t>
            </a:r>
            <a:endParaRPr lang="en-US" sz="1200" dirty="0"/>
          </a:p>
        </p:txBody>
      </p:sp>
      <p:sp>
        <p:nvSpPr>
          <p:cNvPr id="14" name="Text 12"/>
          <p:cNvSpPr/>
          <p:nvPr/>
        </p:nvSpPr>
        <p:spPr>
          <a:xfrm>
            <a:off x="84124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Typed tools with auth, scope checks, deterministic denials, audit, and telemetry. The model asks; the tool decides.</a:t>
            </a:r>
            <a:endParaRPr lang="en-US" sz="920" dirty="0"/>
          </a:p>
        </p:txBody>
      </p:sp>
      <p:sp>
        <p:nvSpPr>
          <p:cNvPr id="15" name="Shape 13"/>
          <p:cNvSpPr/>
          <p:nvPr/>
        </p:nvSpPr>
        <p:spPr>
          <a:xfrm>
            <a:off x="434340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6" name="Shape 14"/>
          <p:cNvSpPr/>
          <p:nvPr/>
        </p:nvSpPr>
        <p:spPr>
          <a:xfrm>
            <a:off x="4343400" y="1554480"/>
            <a:ext cx="64008" cy="2103120"/>
          </a:xfrm>
          <a:prstGeom prst="rect">
            <a:avLst/>
          </a:prstGeom>
          <a:solidFill>
            <a:srgbClr val="7C3AED"/>
          </a:solidFill>
          <a:ln w="12700">
            <a:solidFill>
              <a:srgbClr val="7C3AED"/>
            </a:solidFill>
            <a:prstDash val="solid"/>
          </a:ln>
        </p:spPr>
      </p:sp>
      <p:sp>
        <p:nvSpPr>
          <p:cNvPr id="17" name="Text 15"/>
          <p:cNvSpPr/>
          <p:nvPr/>
        </p:nvSpPr>
        <p:spPr>
          <a:xfrm>
            <a:off x="454456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Work IQ</a:t>
            </a:r>
            <a:endParaRPr lang="en-US" sz="1200" dirty="0"/>
          </a:p>
        </p:txBody>
      </p:sp>
      <p:sp>
        <p:nvSpPr>
          <p:cNvPr id="18" name="Text 16"/>
          <p:cNvSpPr/>
          <p:nvPr/>
        </p:nvSpPr>
        <p:spPr>
          <a:xfrm>
            <a:off x="454456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Permission-aware context across Microsoft 365 work signals, honoring existing permissions and sensitivity labels.</a:t>
            </a:r>
            <a:endParaRPr lang="en-US" sz="920" dirty="0"/>
          </a:p>
        </p:txBody>
      </p:sp>
      <p:sp>
        <p:nvSpPr>
          <p:cNvPr id="19" name="Shape 17"/>
          <p:cNvSpPr/>
          <p:nvPr/>
        </p:nvSpPr>
        <p:spPr>
          <a:xfrm>
            <a:off x="804672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20" name="Shape 18"/>
          <p:cNvSpPr/>
          <p:nvPr/>
        </p:nvSpPr>
        <p:spPr>
          <a:xfrm>
            <a:off x="8046720" y="1554480"/>
            <a:ext cx="64008" cy="2103120"/>
          </a:xfrm>
          <a:prstGeom prst="rect">
            <a:avLst/>
          </a:prstGeom>
          <a:solidFill>
            <a:srgbClr val="F59E0B"/>
          </a:solidFill>
          <a:ln w="12700">
            <a:solidFill>
              <a:srgbClr val="F59E0B"/>
            </a:solidFill>
            <a:prstDash val="solid"/>
          </a:ln>
        </p:spPr>
      </p:sp>
      <p:sp>
        <p:nvSpPr>
          <p:cNvPr id="21" name="Text 19"/>
          <p:cNvSpPr/>
          <p:nvPr/>
        </p:nvSpPr>
        <p:spPr>
          <a:xfrm>
            <a:off x="824788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Toolbox endpoint</a:t>
            </a:r>
            <a:endParaRPr lang="en-US" sz="1200" dirty="0"/>
          </a:p>
        </p:txBody>
      </p:sp>
      <p:sp>
        <p:nvSpPr>
          <p:cNvPr id="22" name="Text 20"/>
          <p:cNvSpPr/>
          <p:nvPr/>
        </p:nvSpPr>
        <p:spPr>
          <a:xfrm>
            <a:off x="824788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Curate tools once; expose through one MCP-compatible endpoint with centralized auth and governance.</a:t>
            </a:r>
            <a:endParaRPr lang="en-US" sz="920" dirty="0"/>
          </a:p>
        </p:txBody>
      </p:sp>
      <p:sp>
        <p:nvSpPr>
          <p:cNvPr id="23" name="Text 21"/>
          <p:cNvSpPr/>
          <p:nvPr/>
        </p:nvSpPr>
        <p:spPr>
          <a:xfrm>
            <a:off x="640080" y="4023360"/>
            <a:ext cx="10881360" cy="365760"/>
          </a:xfrm>
          <a:prstGeom prst="rect">
            <a:avLst/>
          </a:prstGeom>
          <a:noFill/>
          <a:ln/>
        </p:spPr>
        <p:txBody>
          <a:bodyPr wrap="square" lIns="0" tIns="0" rIns="0" bIns="0" rtlCol="0" anchor="ctr"/>
          <a:lstStyle/>
          <a:p>
            <a:pPr indent="0" marL="0">
              <a:buNone/>
            </a:pPr>
            <a:r>
              <a:rPr lang="en-US" sz="1200" i="1" dirty="0">
                <a:solidFill>
                  <a:srgbClr val="64748B"/>
                </a:solidFill>
                <a:latin typeface="Aptos" pitchFamily="34" charset="0"/>
                <a:ea typeface="Aptos" pitchFamily="34" charset="-122"/>
                <a:cs typeface="Aptos" pitchFamily="34" charset="-120"/>
              </a:rPr>
              <a:t>Microsoft-recommended pattern - reusable beyond this use case.</a:t>
            </a:r>
            <a:endParaRPr lang="en-US" sz="12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2 | GOVERNANCE, ACCESS, PATTERNS</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Governance &amp; access angle</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822960" y="1554480"/>
            <a:ext cx="10607040" cy="2377440"/>
          </a:xfrm>
          <a:prstGeom prst="rect">
            <a:avLst/>
          </a:prstGeom>
          <a:noFill/>
          <a:ln/>
        </p:spPr>
        <p:txBody>
          <a:bodyPr wrap="square" lIns="381" tIns="381" rIns="381" bIns="381" rtlCol="0" anchor="ctr">
            <a:normAutofit/>
          </a:bodyPr>
          <a:lstStyle/>
          <a:p>
            <a:pPr marL="152400" indent="-152400">
              <a:buSzPct val="100000"/>
              <a:buChar char="•"/>
            </a:pPr>
            <a:r>
              <a:rPr lang="en-US" sz="1350" dirty="0">
                <a:solidFill>
                  <a:srgbClr val="334155"/>
                </a:solidFill>
                <a:latin typeface="Aptos" pitchFamily="34" charset="0"/>
                <a:ea typeface="Aptos" pitchFamily="34" charset="-122"/>
                <a:cs typeface="Aptos" pitchFamily="34" charset="-120"/>
              </a:rPr>
              <a:t>Governance: every tool call is typed, logged, and versioned; denied calls are recorded too.</a:t>
            </a:r>
            <a:endParaRPr lang="en-US" sz="1350" dirty="0"/>
          </a:p>
          <a:p>
            <a:pPr marL="152400" indent="-152400">
              <a:buSzPct val="100000"/>
              <a:buChar char="•"/>
            </a:pPr>
            <a:r>
              <a:rPr lang="en-US" sz="1350" dirty="0">
                <a:solidFill>
                  <a:srgbClr val="334155"/>
                </a:solidFill>
                <a:latin typeface="Aptos" pitchFamily="34" charset="0"/>
                <a:ea typeface="Aptos" pitchFamily="34" charset="-122"/>
                <a:cs typeface="Aptos" pitchFamily="34" charset="-120"/>
              </a:rPr>
              <a:t>Access: authorize the request - subject, agent identity, case, purpose, scope - not the agent in general.</a:t>
            </a:r>
            <a:endParaRPr lang="en-US" sz="1350" dirty="0"/>
          </a:p>
          <a:p>
            <a:pPr marL="152400" indent="-152400">
              <a:buSzPct val="100000"/>
              <a:buChar char="•"/>
            </a:pPr>
            <a:r>
              <a:rPr lang="en-US" sz="1350" dirty="0">
                <a:solidFill>
                  <a:srgbClr val="334155"/>
                </a:solidFill>
                <a:latin typeface="Aptos" pitchFamily="34" charset="0"/>
                <a:ea typeface="Aptos" pitchFamily="34" charset="-122"/>
                <a:cs typeface="Aptos" pitchFamily="34" charset="-120"/>
              </a:rPr>
              <a:t>Pattern: PHI-minimizing defaults; full data requires an explicit, logged scope.</a:t>
            </a:r>
            <a:endParaRPr lang="en-US" sz="1350" dirty="0"/>
          </a:p>
        </p:txBody>
      </p:sp>
      <p:sp>
        <p:nvSpPr>
          <p:cNvPr id="12" name="Shape 10"/>
          <p:cNvSpPr/>
          <p:nvPr/>
        </p:nvSpPr>
        <p:spPr>
          <a:xfrm>
            <a:off x="640080" y="4617720"/>
            <a:ext cx="10881360" cy="960120"/>
          </a:xfrm>
          <a:prstGeom prst="roundRect">
            <a:avLst>
              <a:gd name="adj" fmla="val 9524"/>
            </a:avLst>
          </a:prstGeom>
          <a:solidFill>
            <a:srgbClr val="FFFBEB"/>
          </a:solidFill>
          <a:ln w="12700">
            <a:solidFill>
              <a:srgbClr val="FDE68A"/>
            </a:solidFill>
            <a:prstDash val="solid"/>
          </a:ln>
        </p:spPr>
      </p:sp>
      <p:sp>
        <p:nvSpPr>
          <p:cNvPr id="13" name="Text 11"/>
          <p:cNvSpPr/>
          <p:nvPr/>
        </p:nvSpPr>
        <p:spPr>
          <a:xfrm>
            <a:off x="868680" y="4773168"/>
            <a:ext cx="1463040" cy="219456"/>
          </a:xfrm>
          <a:prstGeom prst="rect">
            <a:avLst/>
          </a:prstGeom>
          <a:noFill/>
          <a:ln/>
        </p:spPr>
        <p:txBody>
          <a:bodyPr wrap="square" lIns="0" tIns="0" rIns="0" bIns="0" rtlCol="0" anchor="ctr"/>
          <a:lstStyle/>
          <a:p>
            <a:pPr indent="0" marL="0">
              <a:buNone/>
            </a:pPr>
            <a:r>
              <a:rPr lang="en-US" sz="1000" b="1" dirty="0">
                <a:solidFill>
                  <a:srgbClr val="92400E"/>
                </a:solidFill>
                <a:latin typeface="Aptos" pitchFamily="34" charset="0"/>
                <a:ea typeface="Aptos" pitchFamily="34" charset="-122"/>
                <a:cs typeface="Aptos" pitchFamily="34" charset="-120"/>
              </a:rPr>
              <a:t>Facilitator</a:t>
            </a:r>
            <a:endParaRPr lang="en-US" sz="1000" dirty="0"/>
          </a:p>
        </p:txBody>
      </p:sp>
      <p:sp>
        <p:nvSpPr>
          <p:cNvPr id="14" name="Text 12"/>
          <p:cNvSpPr/>
          <p:nvPr/>
        </p:nvSpPr>
        <p:spPr>
          <a:xfrm>
            <a:off x="868680" y="5029200"/>
            <a:ext cx="10424160" cy="457200"/>
          </a:xfrm>
          <a:prstGeom prst="rect">
            <a:avLst/>
          </a:prstGeom>
          <a:noFill/>
          <a:ln/>
        </p:spPr>
        <p:txBody>
          <a:bodyPr wrap="square" lIns="0" tIns="0" rIns="0" bIns="0" rtlCol="0" anchor="ctr">
            <a:normAutofit/>
          </a:bodyPr>
          <a:lstStyle/>
          <a:p>
            <a:pPr indent="0" marL="0">
              <a:buNone/>
            </a:pPr>
            <a:r>
              <a:rPr lang="en-US" sz="1150" dirty="0">
                <a:solidFill>
                  <a:srgbClr val="334155"/>
                </a:solidFill>
                <a:latin typeface="Aptos" pitchFamily="34" charset="0"/>
                <a:ea typeface="Aptos" pitchFamily="34" charset="-122"/>
                <a:cs typeface="Aptos" pitchFamily="34" charset="-120"/>
              </a:rPr>
              <a:t>Live cue: tighten one field in an MCP schema; run tool-contract validation; show allow/redact/deny. Checkpoint: chapter-02-mcp-validate.</a:t>
            </a:r>
            <a:endParaRPr lang="en-US" sz="115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3 | ITEM 3 | DAY 1</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Compliance - Policy &amp; Guardrails</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640080" y="1417320"/>
            <a:ext cx="5486400" cy="274320"/>
          </a:xfrm>
          <a:prstGeom prst="rect">
            <a:avLst/>
          </a:prstGeom>
          <a:noFill/>
          <a:ln/>
        </p:spPr>
        <p:txBody>
          <a:bodyPr wrap="square" lIns="0" tIns="0" rIns="0" bIns="0" rtlCol="0" anchor="ctr"/>
          <a:lstStyle/>
          <a:p>
            <a:pPr indent="0" marL="0">
              <a:buNone/>
            </a:pPr>
            <a:r>
              <a:rPr lang="en-US" sz="1300" b="1" dirty="0">
                <a:solidFill>
                  <a:srgbClr val="0F766E"/>
                </a:solidFill>
                <a:latin typeface="Aptos" pitchFamily="34" charset="0"/>
                <a:ea typeface="Aptos" pitchFamily="34" charset="-122"/>
                <a:cs typeface="Aptos" pitchFamily="34" charset="-120"/>
              </a:rPr>
              <a:t>What we will cover</a:t>
            </a:r>
            <a:endParaRPr lang="en-US" sz="1300" dirty="0"/>
          </a:p>
        </p:txBody>
      </p:sp>
      <p:sp>
        <p:nvSpPr>
          <p:cNvPr id="12" name="Text 10"/>
          <p:cNvSpPr/>
          <p:nvPr/>
        </p:nvSpPr>
        <p:spPr>
          <a:xfrm>
            <a:off x="822960" y="1783080"/>
            <a:ext cx="6766560" cy="2377440"/>
          </a:xfrm>
          <a:prstGeom prst="rect">
            <a:avLst/>
          </a:prstGeom>
          <a:noFill/>
          <a:ln/>
        </p:spPr>
        <p:txBody>
          <a:bodyPr wrap="square" lIns="381" tIns="381" rIns="381" bIns="381" rtlCol="0" anchor="ctr">
            <a:normAutofit/>
          </a:bodyPr>
          <a:lstStyle/>
          <a:p>
            <a:pPr marL="152400" indent="-152400">
              <a:buSzPct val="100000"/>
              <a:buChar char="•"/>
            </a:pPr>
            <a:r>
              <a:rPr lang="en-US" sz="1300" dirty="0">
                <a:solidFill>
                  <a:srgbClr val="334155"/>
                </a:solidFill>
                <a:latin typeface="Aptos" pitchFamily="34" charset="0"/>
                <a:ea typeface="Aptos" pitchFamily="34" charset="-122"/>
                <a:cs typeface="Aptos" pitchFamily="34" charset="-120"/>
              </a:rPr>
              <a:t>Why prompts alone cannot keep a healthcare agent safe.</a:t>
            </a:r>
            <a:endParaRPr lang="en-US" sz="1300" dirty="0"/>
          </a:p>
          <a:p>
            <a:pPr marL="152400" indent="-152400">
              <a:buSzPct val="100000"/>
              <a:buChar char="•"/>
            </a:pPr>
            <a:r>
              <a:rPr lang="en-US" sz="1300" dirty="0">
                <a:solidFill>
                  <a:srgbClr val="334155"/>
                </a:solidFill>
                <a:latin typeface="Aptos" pitchFamily="34" charset="0"/>
                <a:ea typeface="Aptos" pitchFamily="34" charset="-122"/>
                <a:cs typeface="Aptos" pitchFamily="34" charset="-120"/>
              </a:rPr>
              <a:t>The layered intervention points: input, retrieval, tool, output, workflow.</a:t>
            </a:r>
            <a:endParaRPr lang="en-US" sz="1300" dirty="0"/>
          </a:p>
          <a:p>
            <a:pPr marL="152400" indent="-152400">
              <a:buSzPct val="100000"/>
              <a:buChar char="•"/>
            </a:pPr>
            <a:r>
              <a:rPr lang="en-US" sz="1300" dirty="0">
                <a:solidFill>
                  <a:srgbClr val="334155"/>
                </a:solidFill>
                <a:latin typeface="Aptos" pitchFamily="34" charset="0"/>
                <a:ea typeface="Aptos" pitchFamily="34" charset="-122"/>
                <a:cs typeface="Aptos" pitchFamily="34" charset="-120"/>
              </a:rPr>
              <a:t>The prohibited-claims list and how it is enforced.</a:t>
            </a:r>
            <a:endParaRPr lang="en-US" sz="1300" dirty="0"/>
          </a:p>
        </p:txBody>
      </p:sp>
      <p:sp>
        <p:nvSpPr>
          <p:cNvPr id="13" name="Shape 11"/>
          <p:cNvSpPr/>
          <p:nvPr/>
        </p:nvSpPr>
        <p:spPr>
          <a:xfrm>
            <a:off x="7818120" y="1554480"/>
            <a:ext cx="3703320" cy="3108960"/>
          </a:xfrm>
          <a:prstGeom prst="roundRect">
            <a:avLst>
              <a:gd name="adj" fmla="val 2941"/>
            </a:avLst>
          </a:prstGeom>
          <a:solidFill>
            <a:srgbClr val="E6FFFB"/>
          </a:solidFill>
          <a:ln w="12700">
            <a:solidFill>
              <a:srgbClr val="99F6E4"/>
            </a:solidFill>
            <a:prstDash val="solid"/>
          </a:ln>
        </p:spPr>
      </p:sp>
      <p:sp>
        <p:nvSpPr>
          <p:cNvPr id="14" name="Text 12"/>
          <p:cNvSpPr/>
          <p:nvPr/>
        </p:nvSpPr>
        <p:spPr>
          <a:xfrm>
            <a:off x="8046720" y="1783080"/>
            <a:ext cx="3291840" cy="274320"/>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What is in it for you</a:t>
            </a:r>
            <a:endParaRPr lang="en-US" sz="1200" dirty="0"/>
          </a:p>
        </p:txBody>
      </p:sp>
      <p:sp>
        <p:nvSpPr>
          <p:cNvPr id="15" name="Text 13"/>
          <p:cNvSpPr/>
          <p:nvPr/>
        </p:nvSpPr>
        <p:spPr>
          <a:xfrm>
            <a:off x="8046720" y="2194560"/>
            <a:ext cx="3246120" cy="2194560"/>
          </a:xfrm>
          <a:prstGeom prst="rect">
            <a:avLst/>
          </a:prstGeom>
          <a:noFill/>
          <a:ln/>
        </p:spPr>
        <p:txBody>
          <a:bodyPr wrap="square" lIns="0" tIns="0" rIns="0" bIns="0" rtlCol="0" anchor="t">
            <a:normAutofit/>
          </a:bodyPr>
          <a:lstStyle/>
          <a:p>
            <a:pPr indent="0" marL="0">
              <a:buNone/>
            </a:pPr>
            <a:r>
              <a:rPr lang="en-US" sz="1600" b="1" dirty="0">
                <a:solidFill>
                  <a:srgbClr val="0B1220"/>
                </a:solidFill>
                <a:latin typeface="Aptos Display" pitchFamily="34" charset="0"/>
                <a:ea typeface="Aptos Display" pitchFamily="34" charset="-122"/>
                <a:cs typeface="Aptos Display" pitchFamily="34" charset="-120"/>
              </a:rPr>
              <a:t>You get a defensible answer to 'how do you stop it from doing something unsafe?'</a:t>
            </a:r>
            <a:endParaRPr lang="en-US" sz="16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3 | TEACH</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The pattern: layered guardrails as architecture</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Shape 9"/>
          <p:cNvSpPr/>
          <p:nvPr/>
        </p:nvSpPr>
        <p:spPr>
          <a:xfrm>
            <a:off x="64008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2" name="Shape 10"/>
          <p:cNvSpPr/>
          <p:nvPr/>
        </p:nvSpPr>
        <p:spPr>
          <a:xfrm>
            <a:off x="640080" y="1554480"/>
            <a:ext cx="64008" cy="2103120"/>
          </a:xfrm>
          <a:prstGeom prst="rect">
            <a:avLst/>
          </a:prstGeom>
          <a:solidFill>
            <a:srgbClr val="2563EB"/>
          </a:solidFill>
          <a:ln w="12700">
            <a:solidFill>
              <a:srgbClr val="2563EB"/>
            </a:solidFill>
            <a:prstDash val="solid"/>
          </a:ln>
        </p:spPr>
      </p:sp>
      <p:sp>
        <p:nvSpPr>
          <p:cNvPr id="13" name="Text 11"/>
          <p:cNvSpPr/>
          <p:nvPr/>
        </p:nvSpPr>
        <p:spPr>
          <a:xfrm>
            <a:off x="84124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Input &amp; retrieval</a:t>
            </a:r>
            <a:endParaRPr lang="en-US" sz="1200" dirty="0"/>
          </a:p>
        </p:txBody>
      </p:sp>
      <p:sp>
        <p:nvSpPr>
          <p:cNvPr id="14" name="Text 12"/>
          <p:cNvSpPr/>
          <p:nvPr/>
        </p:nvSpPr>
        <p:spPr>
          <a:xfrm>
            <a:off x="84124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Prompt Shields for user and document attacks; treat retrieved notes as data, never instructions.</a:t>
            </a:r>
            <a:endParaRPr lang="en-US" sz="920" dirty="0"/>
          </a:p>
        </p:txBody>
      </p:sp>
      <p:sp>
        <p:nvSpPr>
          <p:cNvPr id="15" name="Shape 13"/>
          <p:cNvSpPr/>
          <p:nvPr/>
        </p:nvSpPr>
        <p:spPr>
          <a:xfrm>
            <a:off x="434340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6" name="Shape 14"/>
          <p:cNvSpPr/>
          <p:nvPr/>
        </p:nvSpPr>
        <p:spPr>
          <a:xfrm>
            <a:off x="4343400" y="1554480"/>
            <a:ext cx="64008" cy="2103120"/>
          </a:xfrm>
          <a:prstGeom prst="rect">
            <a:avLst/>
          </a:prstGeom>
          <a:solidFill>
            <a:srgbClr val="0F766E"/>
          </a:solidFill>
          <a:ln w="12700">
            <a:solidFill>
              <a:srgbClr val="0F766E"/>
            </a:solidFill>
            <a:prstDash val="solid"/>
          </a:ln>
        </p:spPr>
      </p:sp>
      <p:sp>
        <p:nvSpPr>
          <p:cNvPr id="17" name="Text 15"/>
          <p:cNvSpPr/>
          <p:nvPr/>
        </p:nvSpPr>
        <p:spPr>
          <a:xfrm>
            <a:off x="454456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Tool &amp; output</a:t>
            </a:r>
            <a:endParaRPr lang="en-US" sz="1200" dirty="0"/>
          </a:p>
        </p:txBody>
      </p:sp>
      <p:sp>
        <p:nvSpPr>
          <p:cNvPr id="18" name="Text 16"/>
          <p:cNvSpPr/>
          <p:nvPr/>
        </p:nvSpPr>
        <p:spPr>
          <a:xfrm>
            <a:off x="454456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Scope and case checks on tools; validate citations, PHI, and prohibited claims on output.</a:t>
            </a:r>
            <a:endParaRPr lang="en-US" sz="920" dirty="0"/>
          </a:p>
        </p:txBody>
      </p:sp>
      <p:sp>
        <p:nvSpPr>
          <p:cNvPr id="19" name="Shape 17"/>
          <p:cNvSpPr/>
          <p:nvPr/>
        </p:nvSpPr>
        <p:spPr>
          <a:xfrm>
            <a:off x="804672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20" name="Shape 18"/>
          <p:cNvSpPr/>
          <p:nvPr/>
        </p:nvSpPr>
        <p:spPr>
          <a:xfrm>
            <a:off x="8046720" y="1554480"/>
            <a:ext cx="64008" cy="2103120"/>
          </a:xfrm>
          <a:prstGeom prst="rect">
            <a:avLst/>
          </a:prstGeom>
          <a:solidFill>
            <a:srgbClr val="DC2626"/>
          </a:solidFill>
          <a:ln w="12700">
            <a:solidFill>
              <a:srgbClr val="DC2626"/>
            </a:solidFill>
            <a:prstDash val="solid"/>
          </a:ln>
        </p:spPr>
      </p:sp>
      <p:sp>
        <p:nvSpPr>
          <p:cNvPr id="21" name="Text 19"/>
          <p:cNvSpPr/>
          <p:nvPr/>
        </p:nvSpPr>
        <p:spPr>
          <a:xfrm>
            <a:off x="824788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Workflow</a:t>
            </a:r>
            <a:endParaRPr lang="en-US" sz="1200" dirty="0"/>
          </a:p>
        </p:txBody>
      </p:sp>
      <p:sp>
        <p:nvSpPr>
          <p:cNvPr id="22" name="Text 20"/>
          <p:cNvSpPr/>
          <p:nvPr/>
        </p:nvSpPr>
        <p:spPr>
          <a:xfrm>
            <a:off x="824788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HITL gate, escalation, timeout, and audit as enforced transitions.</a:t>
            </a:r>
            <a:endParaRPr lang="en-US" sz="920" dirty="0"/>
          </a:p>
        </p:txBody>
      </p:sp>
      <p:sp>
        <p:nvSpPr>
          <p:cNvPr id="23" name="Text 21"/>
          <p:cNvSpPr/>
          <p:nvPr/>
        </p:nvSpPr>
        <p:spPr>
          <a:xfrm>
            <a:off x="640080" y="4023360"/>
            <a:ext cx="10881360" cy="365760"/>
          </a:xfrm>
          <a:prstGeom prst="rect">
            <a:avLst/>
          </a:prstGeom>
          <a:noFill/>
          <a:ln/>
        </p:spPr>
        <p:txBody>
          <a:bodyPr wrap="square" lIns="0" tIns="0" rIns="0" bIns="0" rtlCol="0" anchor="ctr"/>
          <a:lstStyle/>
          <a:p>
            <a:pPr indent="0" marL="0">
              <a:buNone/>
            </a:pPr>
            <a:r>
              <a:rPr lang="en-US" sz="1200" i="1" dirty="0">
                <a:solidFill>
                  <a:srgbClr val="64748B"/>
                </a:solidFill>
                <a:latin typeface="Aptos" pitchFamily="34" charset="0"/>
                <a:ea typeface="Aptos" pitchFamily="34" charset="-122"/>
                <a:cs typeface="Aptos" pitchFamily="34" charset="-120"/>
              </a:rPr>
              <a:t>Microsoft-recommended pattern - reusable beyond this use case.</a:t>
            </a:r>
            <a:endParaRPr lang="en-US" sz="12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3 | GOVERNANCE, ACCESS, PATTERNS</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Governance &amp; access angle</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822960" y="1554480"/>
            <a:ext cx="10607040" cy="2377440"/>
          </a:xfrm>
          <a:prstGeom prst="rect">
            <a:avLst/>
          </a:prstGeom>
          <a:noFill/>
          <a:ln/>
        </p:spPr>
        <p:txBody>
          <a:bodyPr wrap="square" lIns="381" tIns="381" rIns="381" bIns="381" rtlCol="0" anchor="ctr">
            <a:normAutofit/>
          </a:bodyPr>
          <a:lstStyle/>
          <a:p>
            <a:pPr marL="152400" indent="-152400">
              <a:buSzPct val="100000"/>
              <a:buChar char="•"/>
            </a:pPr>
            <a:r>
              <a:rPr lang="en-US" sz="1350" dirty="0">
                <a:solidFill>
                  <a:srgbClr val="334155"/>
                </a:solidFill>
                <a:latin typeface="Aptos" pitchFamily="34" charset="0"/>
                <a:ea typeface="Aptos" pitchFamily="34" charset="-122"/>
                <a:cs typeface="Aptos" pitchFamily="34" charset="-120"/>
              </a:rPr>
              <a:t>Governance: each guardrail emits a decision - allow, redact, escalate, review-required - with a correlation ID.</a:t>
            </a:r>
            <a:endParaRPr lang="en-US" sz="1350" dirty="0"/>
          </a:p>
          <a:p>
            <a:pPr marL="152400" indent="-152400">
              <a:buSzPct val="100000"/>
              <a:buChar char="•"/>
            </a:pPr>
            <a:r>
              <a:rPr lang="en-US" sz="1350" dirty="0">
                <a:solidFill>
                  <a:srgbClr val="334155"/>
                </a:solidFill>
                <a:latin typeface="Aptos" pitchFamily="34" charset="0"/>
                <a:ea typeface="Aptos" pitchFamily="34" charset="-122"/>
                <a:cs typeface="Aptos" pitchFamily="34" charset="-120"/>
              </a:rPr>
              <a:t>Access: sensitive fields stay redacted unless an explicit logged scope is present.</a:t>
            </a:r>
            <a:endParaRPr lang="en-US" sz="1350" dirty="0"/>
          </a:p>
          <a:p>
            <a:pPr marL="152400" indent="-152400">
              <a:buSzPct val="100000"/>
              <a:buChar char="•"/>
            </a:pPr>
            <a:r>
              <a:rPr lang="en-US" sz="1350" dirty="0">
                <a:solidFill>
                  <a:srgbClr val="334155"/>
                </a:solidFill>
                <a:latin typeface="Aptos" pitchFamily="34" charset="0"/>
                <a:ea typeface="Aptos" pitchFamily="34" charset="-122"/>
                <a:cs typeface="Aptos" pitchFamily="34" charset="-120"/>
              </a:rPr>
              <a:t>Pattern: a blocking failure (safe-to-discharge, order change, generated score) stops the workflow.</a:t>
            </a:r>
            <a:endParaRPr lang="en-US" sz="1350" dirty="0"/>
          </a:p>
        </p:txBody>
      </p:sp>
      <p:sp>
        <p:nvSpPr>
          <p:cNvPr id="12" name="Shape 10"/>
          <p:cNvSpPr/>
          <p:nvPr/>
        </p:nvSpPr>
        <p:spPr>
          <a:xfrm>
            <a:off x="640080" y="4617720"/>
            <a:ext cx="10881360" cy="960120"/>
          </a:xfrm>
          <a:prstGeom prst="roundRect">
            <a:avLst>
              <a:gd name="adj" fmla="val 9524"/>
            </a:avLst>
          </a:prstGeom>
          <a:solidFill>
            <a:srgbClr val="FFFBEB"/>
          </a:solidFill>
          <a:ln w="12700">
            <a:solidFill>
              <a:srgbClr val="FDE68A"/>
            </a:solidFill>
            <a:prstDash val="solid"/>
          </a:ln>
        </p:spPr>
      </p:sp>
      <p:sp>
        <p:nvSpPr>
          <p:cNvPr id="13" name="Text 11"/>
          <p:cNvSpPr/>
          <p:nvPr/>
        </p:nvSpPr>
        <p:spPr>
          <a:xfrm>
            <a:off x="868680" y="4773168"/>
            <a:ext cx="1463040" cy="219456"/>
          </a:xfrm>
          <a:prstGeom prst="rect">
            <a:avLst/>
          </a:prstGeom>
          <a:noFill/>
          <a:ln/>
        </p:spPr>
        <p:txBody>
          <a:bodyPr wrap="square" lIns="0" tIns="0" rIns="0" bIns="0" rtlCol="0" anchor="ctr"/>
          <a:lstStyle/>
          <a:p>
            <a:pPr indent="0" marL="0">
              <a:buNone/>
            </a:pPr>
            <a:r>
              <a:rPr lang="en-US" sz="1000" b="1" dirty="0">
                <a:solidFill>
                  <a:srgbClr val="92400E"/>
                </a:solidFill>
                <a:latin typeface="Aptos" pitchFamily="34" charset="0"/>
                <a:ea typeface="Aptos" pitchFamily="34" charset="-122"/>
                <a:cs typeface="Aptos" pitchFamily="34" charset="-120"/>
              </a:rPr>
              <a:t>Facilitator</a:t>
            </a:r>
            <a:endParaRPr lang="en-US" sz="1000" dirty="0"/>
          </a:p>
        </p:txBody>
      </p:sp>
      <p:sp>
        <p:nvSpPr>
          <p:cNvPr id="14" name="Text 12"/>
          <p:cNvSpPr/>
          <p:nvPr/>
        </p:nvSpPr>
        <p:spPr>
          <a:xfrm>
            <a:off x="868680" y="5029200"/>
            <a:ext cx="10424160" cy="457200"/>
          </a:xfrm>
          <a:prstGeom prst="rect">
            <a:avLst/>
          </a:prstGeom>
          <a:noFill/>
          <a:ln/>
        </p:spPr>
        <p:txBody>
          <a:bodyPr wrap="square" lIns="0" tIns="0" rIns="0" bIns="0" rtlCol="0" anchor="ctr">
            <a:normAutofit/>
          </a:bodyPr>
          <a:lstStyle/>
          <a:p>
            <a:pPr indent="0" marL="0">
              <a:buNone/>
            </a:pPr>
            <a:r>
              <a:rPr lang="en-US" sz="1150" dirty="0">
                <a:solidFill>
                  <a:srgbClr val="334155"/>
                </a:solidFill>
                <a:latin typeface="Aptos" pitchFamily="34" charset="0"/>
                <a:ea typeface="Aptos" pitchFamily="34" charset="-122"/>
                <a:cs typeface="Aptos" pitchFamily="34" charset="-120"/>
              </a:rPr>
              <a:t>Live cue: add one prohibited-claim check; run the guardrail test; show a blocked 'safe to discharge'. Checkpoint: chapter-03-guardrails.</a:t>
            </a:r>
            <a:endParaRPr lang="en-US" sz="115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4 | ITEM 4 | DAY 1</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Foundry IQ, Building RAG</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640080" y="1417320"/>
            <a:ext cx="5486400" cy="274320"/>
          </a:xfrm>
          <a:prstGeom prst="rect">
            <a:avLst/>
          </a:prstGeom>
          <a:noFill/>
          <a:ln/>
        </p:spPr>
        <p:txBody>
          <a:bodyPr wrap="square" lIns="0" tIns="0" rIns="0" bIns="0" rtlCol="0" anchor="ctr"/>
          <a:lstStyle/>
          <a:p>
            <a:pPr indent="0" marL="0">
              <a:buNone/>
            </a:pPr>
            <a:r>
              <a:rPr lang="en-US" sz="1300" b="1" dirty="0">
                <a:solidFill>
                  <a:srgbClr val="0F766E"/>
                </a:solidFill>
                <a:latin typeface="Aptos" pitchFamily="34" charset="0"/>
                <a:ea typeface="Aptos" pitchFamily="34" charset="-122"/>
                <a:cs typeface="Aptos" pitchFamily="34" charset="-120"/>
              </a:rPr>
              <a:t>What we will cover</a:t>
            </a:r>
            <a:endParaRPr lang="en-US" sz="1300" dirty="0"/>
          </a:p>
        </p:txBody>
      </p:sp>
      <p:sp>
        <p:nvSpPr>
          <p:cNvPr id="12" name="Text 10"/>
          <p:cNvSpPr/>
          <p:nvPr/>
        </p:nvSpPr>
        <p:spPr>
          <a:xfrm>
            <a:off x="822960" y="1783080"/>
            <a:ext cx="6766560" cy="2377440"/>
          </a:xfrm>
          <a:prstGeom prst="rect">
            <a:avLst/>
          </a:prstGeom>
          <a:noFill/>
          <a:ln/>
        </p:spPr>
        <p:txBody>
          <a:bodyPr wrap="square" lIns="381" tIns="381" rIns="381" bIns="381" rtlCol="0" anchor="ctr">
            <a:normAutofit/>
          </a:bodyPr>
          <a:lstStyle/>
          <a:p>
            <a:pPr marL="152400" indent="-152400">
              <a:buSzPct val="100000"/>
              <a:buChar char="•"/>
            </a:pPr>
            <a:r>
              <a:rPr lang="en-US" sz="1300" dirty="0">
                <a:solidFill>
                  <a:srgbClr val="334155"/>
                </a:solidFill>
                <a:latin typeface="Aptos" pitchFamily="34" charset="0"/>
                <a:ea typeface="Aptos" pitchFamily="34" charset="-122"/>
                <a:cs typeface="Aptos" pitchFamily="34" charset="-120"/>
              </a:rPr>
              <a:t>Why the model's knowledge cutoff makes RAG necessary.</a:t>
            </a:r>
            <a:endParaRPr lang="en-US" sz="1300" dirty="0"/>
          </a:p>
          <a:p>
            <a:pPr marL="152400" indent="-152400">
              <a:buSzPct val="100000"/>
              <a:buChar char="•"/>
            </a:pPr>
            <a:r>
              <a:rPr lang="en-US" sz="1300" dirty="0">
                <a:solidFill>
                  <a:srgbClr val="334155"/>
                </a:solidFill>
                <a:latin typeface="Aptos" pitchFamily="34" charset="0"/>
                <a:ea typeface="Aptos" pitchFamily="34" charset="-122"/>
                <a:cs typeface="Aptos" pitchFamily="34" charset="-120"/>
              </a:rPr>
              <a:t>The developer pattern: build an evidence packet before the answer.</a:t>
            </a:r>
            <a:endParaRPr lang="en-US" sz="1300" dirty="0"/>
          </a:p>
          <a:p>
            <a:pPr marL="152400" indent="-152400">
              <a:buSzPct val="100000"/>
              <a:buChar char="•"/>
            </a:pPr>
            <a:r>
              <a:rPr lang="en-US" sz="1300" dirty="0">
                <a:solidFill>
                  <a:srgbClr val="334155"/>
                </a:solidFill>
                <a:latin typeface="Aptos" pitchFamily="34" charset="0"/>
                <a:ea typeface="Aptos" pitchFamily="34" charset="-122"/>
                <a:cs typeface="Aptos" pitchFamily="34" charset="-120"/>
              </a:rPr>
              <a:t>How to evaluate retrieval separately from answer quality.</a:t>
            </a:r>
            <a:endParaRPr lang="en-US" sz="1300" dirty="0"/>
          </a:p>
        </p:txBody>
      </p:sp>
      <p:sp>
        <p:nvSpPr>
          <p:cNvPr id="13" name="Shape 11"/>
          <p:cNvSpPr/>
          <p:nvPr/>
        </p:nvSpPr>
        <p:spPr>
          <a:xfrm>
            <a:off x="7818120" y="1554480"/>
            <a:ext cx="3703320" cy="3108960"/>
          </a:xfrm>
          <a:prstGeom prst="roundRect">
            <a:avLst>
              <a:gd name="adj" fmla="val 2941"/>
            </a:avLst>
          </a:prstGeom>
          <a:solidFill>
            <a:srgbClr val="E6FFFB"/>
          </a:solidFill>
          <a:ln w="12700">
            <a:solidFill>
              <a:srgbClr val="99F6E4"/>
            </a:solidFill>
            <a:prstDash val="solid"/>
          </a:ln>
        </p:spPr>
      </p:sp>
      <p:sp>
        <p:nvSpPr>
          <p:cNvPr id="14" name="Text 12"/>
          <p:cNvSpPr/>
          <p:nvPr/>
        </p:nvSpPr>
        <p:spPr>
          <a:xfrm>
            <a:off x="8046720" y="1783080"/>
            <a:ext cx="3291840" cy="274320"/>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What is in it for you</a:t>
            </a:r>
            <a:endParaRPr lang="en-US" sz="1200" dirty="0"/>
          </a:p>
        </p:txBody>
      </p:sp>
      <p:sp>
        <p:nvSpPr>
          <p:cNvPr id="15" name="Text 13"/>
          <p:cNvSpPr/>
          <p:nvPr/>
        </p:nvSpPr>
        <p:spPr>
          <a:xfrm>
            <a:off x="8046720" y="2194560"/>
            <a:ext cx="3246120" cy="2194560"/>
          </a:xfrm>
          <a:prstGeom prst="rect">
            <a:avLst/>
          </a:prstGeom>
          <a:noFill/>
          <a:ln/>
        </p:spPr>
        <p:txBody>
          <a:bodyPr wrap="square" lIns="0" tIns="0" rIns="0" bIns="0" rtlCol="0" anchor="t">
            <a:normAutofit/>
          </a:bodyPr>
          <a:lstStyle/>
          <a:p>
            <a:pPr indent="0" marL="0">
              <a:buNone/>
            </a:pPr>
            <a:r>
              <a:rPr lang="en-US" sz="1600" b="1" dirty="0">
                <a:solidFill>
                  <a:srgbClr val="0B1220"/>
                </a:solidFill>
                <a:latin typeface="Aptos Display" pitchFamily="34" charset="0"/>
                <a:ea typeface="Aptos Display" pitchFamily="34" charset="-122"/>
                <a:cs typeface="Aptos Display" pitchFamily="34" charset="-120"/>
              </a:rPr>
              <a:t>You get grounded, cited answers - and an agent that says 'I don't know' instead of guessing.</a:t>
            </a:r>
            <a:endParaRPr lang="en-US" sz="16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4 | TEACH</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The pattern: grounded retrieval with citations</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Shape 9"/>
          <p:cNvSpPr/>
          <p:nvPr/>
        </p:nvSpPr>
        <p:spPr>
          <a:xfrm>
            <a:off x="64008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2" name="Shape 10"/>
          <p:cNvSpPr/>
          <p:nvPr/>
        </p:nvSpPr>
        <p:spPr>
          <a:xfrm>
            <a:off x="640080" y="1554480"/>
            <a:ext cx="64008" cy="2103120"/>
          </a:xfrm>
          <a:prstGeom prst="rect">
            <a:avLst/>
          </a:prstGeom>
          <a:solidFill>
            <a:srgbClr val="7C3AED"/>
          </a:solidFill>
          <a:ln w="12700">
            <a:solidFill>
              <a:srgbClr val="7C3AED"/>
            </a:solidFill>
            <a:prstDash val="solid"/>
          </a:ln>
        </p:spPr>
      </p:sp>
      <p:sp>
        <p:nvSpPr>
          <p:cNvPr id="13" name="Text 11"/>
          <p:cNvSpPr/>
          <p:nvPr/>
        </p:nvSpPr>
        <p:spPr>
          <a:xfrm>
            <a:off x="84124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Foundry IQ</a:t>
            </a:r>
            <a:endParaRPr lang="en-US" sz="1200" dirty="0"/>
          </a:p>
        </p:txBody>
      </p:sp>
      <p:sp>
        <p:nvSpPr>
          <p:cNvPr id="14" name="Text 12"/>
          <p:cNvSpPr/>
          <p:nvPr/>
        </p:nvSpPr>
        <p:spPr>
          <a:xfrm>
            <a:off x="84124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A managed, permission-aware knowledge base with agentic retrieval and citations over approved sources.</a:t>
            </a:r>
            <a:endParaRPr lang="en-US" sz="920" dirty="0"/>
          </a:p>
        </p:txBody>
      </p:sp>
      <p:sp>
        <p:nvSpPr>
          <p:cNvPr id="15" name="Shape 13"/>
          <p:cNvSpPr/>
          <p:nvPr/>
        </p:nvSpPr>
        <p:spPr>
          <a:xfrm>
            <a:off x="434340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6" name="Shape 14"/>
          <p:cNvSpPr/>
          <p:nvPr/>
        </p:nvSpPr>
        <p:spPr>
          <a:xfrm>
            <a:off x="4343400" y="1554480"/>
            <a:ext cx="64008" cy="2103120"/>
          </a:xfrm>
          <a:prstGeom prst="rect">
            <a:avLst/>
          </a:prstGeom>
          <a:solidFill>
            <a:srgbClr val="0F766E"/>
          </a:solidFill>
          <a:ln w="12700">
            <a:solidFill>
              <a:srgbClr val="0F766E"/>
            </a:solidFill>
            <a:prstDash val="solid"/>
          </a:ln>
        </p:spPr>
      </p:sp>
      <p:sp>
        <p:nvSpPr>
          <p:cNvPr id="17" name="Text 15"/>
          <p:cNvSpPr/>
          <p:nvPr/>
        </p:nvSpPr>
        <p:spPr>
          <a:xfrm>
            <a:off x="454456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Evidence packet</a:t>
            </a:r>
            <a:endParaRPr lang="en-US" sz="1200" dirty="0"/>
          </a:p>
        </p:txBody>
      </p:sp>
      <p:sp>
        <p:nvSpPr>
          <p:cNvPr id="18" name="Text 16"/>
          <p:cNvSpPr/>
          <p:nvPr/>
        </p:nvSpPr>
        <p:spPr>
          <a:xfrm>
            <a:off x="454456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Retrieve, filter, cite, and shape evidence first; the generator answers only from that packet.</a:t>
            </a:r>
            <a:endParaRPr lang="en-US" sz="920" dirty="0"/>
          </a:p>
        </p:txBody>
      </p:sp>
      <p:sp>
        <p:nvSpPr>
          <p:cNvPr id="19" name="Shape 17"/>
          <p:cNvSpPr/>
          <p:nvPr/>
        </p:nvSpPr>
        <p:spPr>
          <a:xfrm>
            <a:off x="804672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20" name="Shape 18"/>
          <p:cNvSpPr/>
          <p:nvPr/>
        </p:nvSpPr>
        <p:spPr>
          <a:xfrm>
            <a:off x="8046720" y="1554480"/>
            <a:ext cx="64008" cy="2103120"/>
          </a:xfrm>
          <a:prstGeom prst="rect">
            <a:avLst/>
          </a:prstGeom>
          <a:solidFill>
            <a:srgbClr val="2563EB"/>
          </a:solidFill>
          <a:ln w="12700">
            <a:solidFill>
              <a:srgbClr val="2563EB"/>
            </a:solidFill>
            <a:prstDash val="solid"/>
          </a:ln>
        </p:spPr>
      </p:sp>
      <p:sp>
        <p:nvSpPr>
          <p:cNvPr id="21" name="Text 19"/>
          <p:cNvSpPr/>
          <p:nvPr/>
        </p:nvSpPr>
        <p:spPr>
          <a:xfrm>
            <a:off x="824788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Multi-surface</a:t>
            </a:r>
            <a:endParaRPr lang="en-US" sz="1200" dirty="0"/>
          </a:p>
        </p:txBody>
      </p:sp>
      <p:sp>
        <p:nvSpPr>
          <p:cNvPr id="22" name="Text 20"/>
          <p:cNvSpPr/>
          <p:nvPr/>
        </p:nvSpPr>
        <p:spPr>
          <a:xfrm>
            <a:off x="824788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The same knowledge can surface via Foundry agents, Copilot Studio, or M365 Copilot.</a:t>
            </a:r>
            <a:endParaRPr lang="en-US" sz="920" dirty="0"/>
          </a:p>
        </p:txBody>
      </p:sp>
      <p:sp>
        <p:nvSpPr>
          <p:cNvPr id="23" name="Text 21"/>
          <p:cNvSpPr/>
          <p:nvPr/>
        </p:nvSpPr>
        <p:spPr>
          <a:xfrm>
            <a:off x="640080" y="4023360"/>
            <a:ext cx="10881360" cy="365760"/>
          </a:xfrm>
          <a:prstGeom prst="rect">
            <a:avLst/>
          </a:prstGeom>
          <a:noFill/>
          <a:ln/>
        </p:spPr>
        <p:txBody>
          <a:bodyPr wrap="square" lIns="0" tIns="0" rIns="0" bIns="0" rtlCol="0" anchor="ctr"/>
          <a:lstStyle/>
          <a:p>
            <a:pPr indent="0" marL="0">
              <a:buNone/>
            </a:pPr>
            <a:r>
              <a:rPr lang="en-US" sz="1200" i="1" dirty="0">
                <a:solidFill>
                  <a:srgbClr val="64748B"/>
                </a:solidFill>
                <a:latin typeface="Aptos" pitchFamily="34" charset="0"/>
                <a:ea typeface="Aptos" pitchFamily="34" charset="-122"/>
                <a:cs typeface="Aptos" pitchFamily="34" charset="-120"/>
              </a:rPr>
              <a:t>Microsoft-recommended pattern - reusable beyond this use case.</a:t>
            </a:r>
            <a:endParaRPr lang="en-US" sz="12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4 | GOVERNANCE, ACCESS, PATTERNS</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Governance &amp; access angle</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822960" y="1554480"/>
            <a:ext cx="10607040" cy="2377440"/>
          </a:xfrm>
          <a:prstGeom prst="rect">
            <a:avLst/>
          </a:prstGeom>
          <a:noFill/>
          <a:ln/>
        </p:spPr>
        <p:txBody>
          <a:bodyPr wrap="square" lIns="381" tIns="381" rIns="381" bIns="381" rtlCol="0" anchor="ctr">
            <a:normAutofit/>
          </a:bodyPr>
          <a:lstStyle/>
          <a:p>
            <a:pPr marL="152400" indent="-152400">
              <a:buSzPct val="100000"/>
              <a:buChar char="•"/>
            </a:pPr>
            <a:r>
              <a:rPr lang="en-US" sz="1350" dirty="0">
                <a:solidFill>
                  <a:srgbClr val="334155"/>
                </a:solidFill>
                <a:latin typeface="Aptos" pitchFamily="34" charset="0"/>
                <a:ea typeface="Aptos" pitchFamily="34" charset="-122"/>
                <a:cs typeface="Aptos" pitchFamily="34" charset="-120"/>
              </a:rPr>
              <a:t>Governance: source allowlist, effective-date metadata, and citation coverage are release gates.</a:t>
            </a:r>
            <a:endParaRPr lang="en-US" sz="1350" dirty="0"/>
          </a:p>
          <a:p>
            <a:pPr marL="152400" indent="-152400">
              <a:buSzPct val="100000"/>
              <a:buChar char="•"/>
            </a:pPr>
            <a:r>
              <a:rPr lang="en-US" sz="1350" dirty="0">
                <a:solidFill>
                  <a:srgbClr val="334155"/>
                </a:solidFill>
                <a:latin typeface="Aptos" pitchFamily="34" charset="0"/>
                <a:ea typeface="Aptos" pitchFamily="34" charset="-122"/>
                <a:cs typeface="Aptos" pitchFamily="34" charset="-120"/>
              </a:rPr>
              <a:t>Access: queries honor the caller's permissions and sensitivity labels at query time.</a:t>
            </a:r>
            <a:endParaRPr lang="en-US" sz="1350" dirty="0"/>
          </a:p>
          <a:p>
            <a:pPr marL="152400" indent="-152400">
              <a:buSzPct val="100000"/>
              <a:buChar char="•"/>
            </a:pPr>
            <a:r>
              <a:rPr lang="en-US" sz="1350" dirty="0">
                <a:solidFill>
                  <a:srgbClr val="334155"/>
                </a:solidFill>
                <a:latin typeface="Aptos" pitchFamily="34" charset="0"/>
                <a:ea typeface="Aptos" pitchFamily="34" charset="-122"/>
                <a:cs typeface="Aptos" pitchFamily="34" charset="-120"/>
              </a:rPr>
              <a:t>Pattern: missing or conflicting evidence escalates to human review; success is not just 'it answered'.</a:t>
            </a:r>
            <a:endParaRPr lang="en-US" sz="1350" dirty="0"/>
          </a:p>
        </p:txBody>
      </p:sp>
      <p:sp>
        <p:nvSpPr>
          <p:cNvPr id="12" name="Shape 10"/>
          <p:cNvSpPr/>
          <p:nvPr/>
        </p:nvSpPr>
        <p:spPr>
          <a:xfrm>
            <a:off x="640080" y="4617720"/>
            <a:ext cx="10881360" cy="960120"/>
          </a:xfrm>
          <a:prstGeom prst="roundRect">
            <a:avLst>
              <a:gd name="adj" fmla="val 9524"/>
            </a:avLst>
          </a:prstGeom>
          <a:solidFill>
            <a:srgbClr val="FFFBEB"/>
          </a:solidFill>
          <a:ln w="12700">
            <a:solidFill>
              <a:srgbClr val="FDE68A"/>
            </a:solidFill>
            <a:prstDash val="solid"/>
          </a:ln>
        </p:spPr>
      </p:sp>
      <p:sp>
        <p:nvSpPr>
          <p:cNvPr id="13" name="Text 11"/>
          <p:cNvSpPr/>
          <p:nvPr/>
        </p:nvSpPr>
        <p:spPr>
          <a:xfrm>
            <a:off x="868680" y="4773168"/>
            <a:ext cx="1463040" cy="219456"/>
          </a:xfrm>
          <a:prstGeom prst="rect">
            <a:avLst/>
          </a:prstGeom>
          <a:noFill/>
          <a:ln/>
        </p:spPr>
        <p:txBody>
          <a:bodyPr wrap="square" lIns="0" tIns="0" rIns="0" bIns="0" rtlCol="0" anchor="ctr"/>
          <a:lstStyle/>
          <a:p>
            <a:pPr indent="0" marL="0">
              <a:buNone/>
            </a:pPr>
            <a:r>
              <a:rPr lang="en-US" sz="1000" b="1" dirty="0">
                <a:solidFill>
                  <a:srgbClr val="92400E"/>
                </a:solidFill>
                <a:latin typeface="Aptos" pitchFamily="34" charset="0"/>
                <a:ea typeface="Aptos" pitchFamily="34" charset="-122"/>
                <a:cs typeface="Aptos" pitchFamily="34" charset="-120"/>
              </a:rPr>
              <a:t>Facilitator</a:t>
            </a:r>
            <a:endParaRPr lang="en-US" sz="1000" dirty="0"/>
          </a:p>
        </p:txBody>
      </p:sp>
      <p:sp>
        <p:nvSpPr>
          <p:cNvPr id="14" name="Text 12"/>
          <p:cNvSpPr/>
          <p:nvPr/>
        </p:nvSpPr>
        <p:spPr>
          <a:xfrm>
            <a:off x="868680" y="5029200"/>
            <a:ext cx="10424160" cy="457200"/>
          </a:xfrm>
          <a:prstGeom prst="rect">
            <a:avLst/>
          </a:prstGeom>
          <a:noFill/>
          <a:ln/>
        </p:spPr>
        <p:txBody>
          <a:bodyPr wrap="square" lIns="0" tIns="0" rIns="0" bIns="0" rtlCol="0" anchor="ctr">
            <a:normAutofit/>
          </a:bodyPr>
          <a:lstStyle/>
          <a:p>
            <a:pPr indent="0" marL="0">
              <a:buNone/>
            </a:pPr>
            <a:r>
              <a:rPr lang="en-US" sz="1150" dirty="0">
                <a:solidFill>
                  <a:srgbClr val="334155"/>
                </a:solidFill>
                <a:latin typeface="Aptos" pitchFamily="34" charset="0"/>
                <a:ea typeface="Aptos" pitchFamily="34" charset="-122"/>
                <a:cs typeface="Aptos" pitchFamily="34" charset="-120"/>
              </a:rPr>
              <a:t>Live cue: add one synthetic protocol doc; re-run P0310; show missing-evidence escalation vs a cited answer. Checkpoint: chapter-04-rag.</a:t>
            </a:r>
            <a:endParaRPr lang="en-US" sz="115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RECAP | TELL ME WHAT YOU LEARNED</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Day 1 recap: we built a governed agent</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Shape 9"/>
          <p:cNvSpPr/>
          <p:nvPr/>
        </p:nvSpPr>
        <p:spPr>
          <a:xfrm>
            <a:off x="640080" y="1508760"/>
            <a:ext cx="10881360" cy="786384"/>
          </a:xfrm>
          <a:prstGeom prst="roundRect">
            <a:avLst>
              <a:gd name="adj" fmla="val 9302"/>
            </a:avLst>
          </a:prstGeom>
          <a:solidFill>
            <a:srgbClr val="FFFFFF"/>
          </a:solidFill>
          <a:ln w="12700">
            <a:solidFill>
              <a:srgbClr val="E2E8F0"/>
            </a:solidFill>
            <a:prstDash val="solid"/>
          </a:ln>
        </p:spPr>
      </p:sp>
      <p:sp>
        <p:nvSpPr>
          <p:cNvPr id="12" name="Text 10"/>
          <p:cNvSpPr/>
          <p:nvPr/>
        </p:nvSpPr>
        <p:spPr>
          <a:xfrm>
            <a:off x="868680" y="1764792"/>
            <a:ext cx="91440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Ch 1</a:t>
            </a:r>
            <a:endParaRPr lang="en-US" sz="1200" dirty="0"/>
          </a:p>
        </p:txBody>
      </p:sp>
      <p:sp>
        <p:nvSpPr>
          <p:cNvPr id="13" name="Text 11"/>
          <p:cNvSpPr/>
          <p:nvPr/>
        </p:nvSpPr>
        <p:spPr>
          <a:xfrm>
            <a:off x="1828800" y="1764792"/>
            <a:ext cx="3200400" cy="237744"/>
          </a:xfrm>
          <a:prstGeom prst="rect">
            <a:avLst/>
          </a:prstGeom>
          <a:noFill/>
          <a:ln/>
        </p:spPr>
        <p:txBody>
          <a:bodyPr wrap="square" lIns="0" tIns="0" rIns="0" bIns="0" rtlCol="0" anchor="ctr"/>
          <a:lstStyle/>
          <a:p>
            <a:pPr indent="0" marL="0">
              <a:buNone/>
            </a:pPr>
            <a:r>
              <a:rPr lang="en-US" sz="1250" b="1" dirty="0">
                <a:solidFill>
                  <a:srgbClr val="0B1220"/>
                </a:solidFill>
                <a:latin typeface="Aptos" pitchFamily="34" charset="0"/>
                <a:ea typeface="Aptos" pitchFamily="34" charset="-122"/>
                <a:cs typeface="Aptos" pitchFamily="34" charset="-120"/>
              </a:rPr>
              <a:t>Hosted Agents + BYO Registry</a:t>
            </a:r>
            <a:endParaRPr lang="en-US" sz="1250" dirty="0"/>
          </a:p>
        </p:txBody>
      </p:sp>
      <p:sp>
        <p:nvSpPr>
          <p:cNvPr id="14" name="Text 12"/>
          <p:cNvSpPr/>
          <p:nvPr/>
        </p:nvSpPr>
        <p:spPr>
          <a:xfrm>
            <a:off x="5120640" y="1764792"/>
            <a:ext cx="6217920" cy="237744"/>
          </a:xfrm>
          <a:prstGeom prst="rect">
            <a:avLst/>
          </a:prstGeom>
          <a:noFill/>
          <a:ln/>
        </p:spPr>
        <p:txBody>
          <a:bodyPr wrap="square" lIns="0" tIns="0" rIns="0" bIns="0" rtlCol="0" anchor="ctr">
            <a:normAutofit/>
          </a:bodyPr>
          <a:lstStyle/>
          <a:p>
            <a:pPr indent="0" marL="0">
              <a:buNone/>
            </a:pPr>
            <a:r>
              <a:rPr lang="en-US" sz="1150" dirty="0">
                <a:solidFill>
                  <a:srgbClr val="334155"/>
                </a:solidFill>
                <a:latin typeface="Aptos" pitchFamily="34" charset="0"/>
                <a:ea typeface="Aptos" pitchFamily="34" charset="-122"/>
                <a:cs typeface="Aptos" pitchFamily="34" charset="-120"/>
              </a:rPr>
              <a:t>Where it runs, with image provenance and a dedicated identity.</a:t>
            </a:r>
            <a:endParaRPr lang="en-US" sz="1150" dirty="0"/>
          </a:p>
        </p:txBody>
      </p:sp>
      <p:sp>
        <p:nvSpPr>
          <p:cNvPr id="15" name="Shape 13"/>
          <p:cNvSpPr/>
          <p:nvPr/>
        </p:nvSpPr>
        <p:spPr>
          <a:xfrm>
            <a:off x="640080" y="2423160"/>
            <a:ext cx="10881360" cy="786384"/>
          </a:xfrm>
          <a:prstGeom prst="roundRect">
            <a:avLst>
              <a:gd name="adj" fmla="val 9302"/>
            </a:avLst>
          </a:prstGeom>
          <a:solidFill>
            <a:srgbClr val="FFFFFF"/>
          </a:solidFill>
          <a:ln w="12700">
            <a:solidFill>
              <a:srgbClr val="E2E8F0"/>
            </a:solidFill>
            <a:prstDash val="solid"/>
          </a:ln>
        </p:spPr>
      </p:sp>
      <p:sp>
        <p:nvSpPr>
          <p:cNvPr id="16" name="Text 14"/>
          <p:cNvSpPr/>
          <p:nvPr/>
        </p:nvSpPr>
        <p:spPr>
          <a:xfrm>
            <a:off x="868680" y="2679192"/>
            <a:ext cx="91440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Ch 2</a:t>
            </a:r>
            <a:endParaRPr lang="en-US" sz="1200" dirty="0"/>
          </a:p>
        </p:txBody>
      </p:sp>
      <p:sp>
        <p:nvSpPr>
          <p:cNvPr id="17" name="Text 15"/>
          <p:cNvSpPr/>
          <p:nvPr/>
        </p:nvSpPr>
        <p:spPr>
          <a:xfrm>
            <a:off x="1828800" y="2679192"/>
            <a:ext cx="3200400" cy="237744"/>
          </a:xfrm>
          <a:prstGeom prst="rect">
            <a:avLst/>
          </a:prstGeom>
          <a:noFill/>
          <a:ln/>
        </p:spPr>
        <p:txBody>
          <a:bodyPr wrap="square" lIns="0" tIns="0" rIns="0" bIns="0" rtlCol="0" anchor="ctr"/>
          <a:lstStyle/>
          <a:p>
            <a:pPr indent="0" marL="0">
              <a:buNone/>
            </a:pPr>
            <a:r>
              <a:rPr lang="en-US" sz="1250" b="1" dirty="0">
                <a:solidFill>
                  <a:srgbClr val="0B1220"/>
                </a:solidFill>
                <a:latin typeface="Aptos" pitchFamily="34" charset="0"/>
                <a:ea typeface="Aptos" pitchFamily="34" charset="-122"/>
                <a:cs typeface="Aptos" pitchFamily="34" charset="-120"/>
              </a:rPr>
              <a:t>MCP Server (Work IQ)</a:t>
            </a:r>
            <a:endParaRPr lang="en-US" sz="1250" dirty="0"/>
          </a:p>
        </p:txBody>
      </p:sp>
      <p:sp>
        <p:nvSpPr>
          <p:cNvPr id="18" name="Text 16"/>
          <p:cNvSpPr/>
          <p:nvPr/>
        </p:nvSpPr>
        <p:spPr>
          <a:xfrm>
            <a:off x="5120640" y="2679192"/>
            <a:ext cx="6217920" cy="237744"/>
          </a:xfrm>
          <a:prstGeom prst="rect">
            <a:avLst/>
          </a:prstGeom>
          <a:noFill/>
          <a:ln/>
        </p:spPr>
        <p:txBody>
          <a:bodyPr wrap="square" lIns="0" tIns="0" rIns="0" bIns="0" rtlCol="0" anchor="ctr">
            <a:normAutofit/>
          </a:bodyPr>
          <a:lstStyle/>
          <a:p>
            <a:pPr indent="0" marL="0">
              <a:buNone/>
            </a:pPr>
            <a:r>
              <a:rPr lang="en-US" sz="1150" dirty="0">
                <a:solidFill>
                  <a:srgbClr val="334155"/>
                </a:solidFill>
                <a:latin typeface="Aptos" pitchFamily="34" charset="0"/>
                <a:ea typeface="Aptos" pitchFamily="34" charset="-122"/>
                <a:cs typeface="Aptos" pitchFamily="34" charset="-120"/>
              </a:rPr>
              <a:t>How it touches data - governed, case-scoped, audited.</a:t>
            </a:r>
            <a:endParaRPr lang="en-US" sz="1150" dirty="0"/>
          </a:p>
        </p:txBody>
      </p:sp>
      <p:sp>
        <p:nvSpPr>
          <p:cNvPr id="19" name="Shape 17"/>
          <p:cNvSpPr/>
          <p:nvPr/>
        </p:nvSpPr>
        <p:spPr>
          <a:xfrm>
            <a:off x="640080" y="3337560"/>
            <a:ext cx="10881360" cy="786384"/>
          </a:xfrm>
          <a:prstGeom prst="roundRect">
            <a:avLst>
              <a:gd name="adj" fmla="val 9302"/>
            </a:avLst>
          </a:prstGeom>
          <a:solidFill>
            <a:srgbClr val="FFFFFF"/>
          </a:solidFill>
          <a:ln w="12700">
            <a:solidFill>
              <a:srgbClr val="E2E8F0"/>
            </a:solidFill>
            <a:prstDash val="solid"/>
          </a:ln>
        </p:spPr>
      </p:sp>
      <p:sp>
        <p:nvSpPr>
          <p:cNvPr id="20" name="Text 18"/>
          <p:cNvSpPr/>
          <p:nvPr/>
        </p:nvSpPr>
        <p:spPr>
          <a:xfrm>
            <a:off x="868680" y="3593592"/>
            <a:ext cx="91440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Ch 3</a:t>
            </a:r>
            <a:endParaRPr lang="en-US" sz="1200" dirty="0"/>
          </a:p>
        </p:txBody>
      </p:sp>
      <p:sp>
        <p:nvSpPr>
          <p:cNvPr id="21" name="Text 19"/>
          <p:cNvSpPr/>
          <p:nvPr/>
        </p:nvSpPr>
        <p:spPr>
          <a:xfrm>
            <a:off x="1828800" y="3593592"/>
            <a:ext cx="3200400" cy="237744"/>
          </a:xfrm>
          <a:prstGeom prst="rect">
            <a:avLst/>
          </a:prstGeom>
          <a:noFill/>
          <a:ln/>
        </p:spPr>
        <p:txBody>
          <a:bodyPr wrap="square" lIns="0" tIns="0" rIns="0" bIns="0" rtlCol="0" anchor="ctr"/>
          <a:lstStyle/>
          <a:p>
            <a:pPr indent="0" marL="0">
              <a:buNone/>
            </a:pPr>
            <a:r>
              <a:rPr lang="en-US" sz="1250" b="1" dirty="0">
                <a:solidFill>
                  <a:srgbClr val="0B1220"/>
                </a:solidFill>
                <a:latin typeface="Aptos" pitchFamily="34" charset="0"/>
                <a:ea typeface="Aptos" pitchFamily="34" charset="-122"/>
                <a:cs typeface="Aptos" pitchFamily="34" charset="-120"/>
              </a:rPr>
              <a:t>Policy &amp; Guardrails</a:t>
            </a:r>
            <a:endParaRPr lang="en-US" sz="1250" dirty="0"/>
          </a:p>
        </p:txBody>
      </p:sp>
      <p:sp>
        <p:nvSpPr>
          <p:cNvPr id="22" name="Text 20"/>
          <p:cNvSpPr/>
          <p:nvPr/>
        </p:nvSpPr>
        <p:spPr>
          <a:xfrm>
            <a:off x="5120640" y="3593592"/>
            <a:ext cx="6217920" cy="237744"/>
          </a:xfrm>
          <a:prstGeom prst="rect">
            <a:avLst/>
          </a:prstGeom>
          <a:noFill/>
          <a:ln/>
        </p:spPr>
        <p:txBody>
          <a:bodyPr wrap="square" lIns="0" tIns="0" rIns="0" bIns="0" rtlCol="0" anchor="ctr">
            <a:normAutofit/>
          </a:bodyPr>
          <a:lstStyle/>
          <a:p>
            <a:pPr indent="0" marL="0">
              <a:buNone/>
            </a:pPr>
            <a:r>
              <a:rPr lang="en-US" sz="1150" dirty="0">
                <a:solidFill>
                  <a:srgbClr val="334155"/>
                </a:solidFill>
                <a:latin typeface="Aptos" pitchFamily="34" charset="0"/>
                <a:ea typeface="Aptos" pitchFamily="34" charset="-122"/>
                <a:cs typeface="Aptos" pitchFamily="34" charset="-120"/>
              </a:rPr>
              <a:t>What it can never say or do - enforced, not just prompted.</a:t>
            </a:r>
            <a:endParaRPr lang="en-US" sz="1150" dirty="0"/>
          </a:p>
        </p:txBody>
      </p:sp>
      <p:sp>
        <p:nvSpPr>
          <p:cNvPr id="23" name="Shape 21"/>
          <p:cNvSpPr/>
          <p:nvPr/>
        </p:nvSpPr>
        <p:spPr>
          <a:xfrm>
            <a:off x="640080" y="4251960"/>
            <a:ext cx="10881360" cy="786384"/>
          </a:xfrm>
          <a:prstGeom prst="roundRect">
            <a:avLst>
              <a:gd name="adj" fmla="val 9302"/>
            </a:avLst>
          </a:prstGeom>
          <a:solidFill>
            <a:srgbClr val="FFFFFF"/>
          </a:solidFill>
          <a:ln w="12700">
            <a:solidFill>
              <a:srgbClr val="E2E8F0"/>
            </a:solidFill>
            <a:prstDash val="solid"/>
          </a:ln>
        </p:spPr>
      </p:sp>
      <p:sp>
        <p:nvSpPr>
          <p:cNvPr id="24" name="Text 22"/>
          <p:cNvSpPr/>
          <p:nvPr/>
        </p:nvSpPr>
        <p:spPr>
          <a:xfrm>
            <a:off x="868680" y="4507992"/>
            <a:ext cx="914400" cy="237744"/>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Ch 4</a:t>
            </a:r>
            <a:endParaRPr lang="en-US" sz="1200" dirty="0"/>
          </a:p>
        </p:txBody>
      </p:sp>
      <p:sp>
        <p:nvSpPr>
          <p:cNvPr id="25" name="Text 23"/>
          <p:cNvSpPr/>
          <p:nvPr/>
        </p:nvSpPr>
        <p:spPr>
          <a:xfrm>
            <a:off x="1828800" y="4507992"/>
            <a:ext cx="3200400" cy="237744"/>
          </a:xfrm>
          <a:prstGeom prst="rect">
            <a:avLst/>
          </a:prstGeom>
          <a:noFill/>
          <a:ln/>
        </p:spPr>
        <p:txBody>
          <a:bodyPr wrap="square" lIns="0" tIns="0" rIns="0" bIns="0" rtlCol="0" anchor="ctr"/>
          <a:lstStyle/>
          <a:p>
            <a:pPr indent="0" marL="0">
              <a:buNone/>
            </a:pPr>
            <a:r>
              <a:rPr lang="en-US" sz="1250" b="1" dirty="0">
                <a:solidFill>
                  <a:srgbClr val="0B1220"/>
                </a:solidFill>
                <a:latin typeface="Aptos" pitchFamily="34" charset="0"/>
                <a:ea typeface="Aptos" pitchFamily="34" charset="-122"/>
                <a:cs typeface="Aptos" pitchFamily="34" charset="-120"/>
              </a:rPr>
              <a:t>Foundry IQ / RAG</a:t>
            </a:r>
            <a:endParaRPr lang="en-US" sz="1250" dirty="0"/>
          </a:p>
        </p:txBody>
      </p:sp>
      <p:sp>
        <p:nvSpPr>
          <p:cNvPr id="26" name="Text 24"/>
          <p:cNvSpPr/>
          <p:nvPr/>
        </p:nvSpPr>
        <p:spPr>
          <a:xfrm>
            <a:off x="5120640" y="4507992"/>
            <a:ext cx="6217920" cy="237744"/>
          </a:xfrm>
          <a:prstGeom prst="rect">
            <a:avLst/>
          </a:prstGeom>
          <a:noFill/>
          <a:ln/>
        </p:spPr>
        <p:txBody>
          <a:bodyPr wrap="square" lIns="0" tIns="0" rIns="0" bIns="0" rtlCol="0" anchor="ctr">
            <a:normAutofit/>
          </a:bodyPr>
          <a:lstStyle/>
          <a:p>
            <a:pPr indent="0" marL="0">
              <a:buNone/>
            </a:pPr>
            <a:r>
              <a:rPr lang="en-US" sz="1150" dirty="0">
                <a:solidFill>
                  <a:srgbClr val="334155"/>
                </a:solidFill>
                <a:latin typeface="Aptos" pitchFamily="34" charset="0"/>
                <a:ea typeface="Aptos" pitchFamily="34" charset="-122"/>
                <a:cs typeface="Aptos" pitchFamily="34" charset="-120"/>
              </a:rPr>
              <a:t>How it stays grounded - cited, or it escalates.</a:t>
            </a:r>
            <a:endParaRPr lang="en-US" sz="115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6 | ITEM 5 | DAY 2</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LAW / Application Insights</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640080" y="1417320"/>
            <a:ext cx="5486400" cy="274320"/>
          </a:xfrm>
          <a:prstGeom prst="rect">
            <a:avLst/>
          </a:prstGeom>
          <a:noFill/>
          <a:ln/>
        </p:spPr>
        <p:txBody>
          <a:bodyPr wrap="square" lIns="0" tIns="0" rIns="0" bIns="0" rtlCol="0" anchor="ctr"/>
          <a:lstStyle/>
          <a:p>
            <a:pPr indent="0" marL="0">
              <a:buNone/>
            </a:pPr>
            <a:r>
              <a:rPr lang="en-US" sz="1300" b="1" dirty="0">
                <a:solidFill>
                  <a:srgbClr val="0F766E"/>
                </a:solidFill>
                <a:latin typeface="Aptos" pitchFamily="34" charset="0"/>
                <a:ea typeface="Aptos" pitchFamily="34" charset="-122"/>
                <a:cs typeface="Aptos" pitchFamily="34" charset="-120"/>
              </a:rPr>
              <a:t>What we will cover</a:t>
            </a:r>
            <a:endParaRPr lang="en-US" sz="1300" dirty="0"/>
          </a:p>
        </p:txBody>
      </p:sp>
      <p:sp>
        <p:nvSpPr>
          <p:cNvPr id="12" name="Text 10"/>
          <p:cNvSpPr/>
          <p:nvPr/>
        </p:nvSpPr>
        <p:spPr>
          <a:xfrm>
            <a:off x="822960" y="1783080"/>
            <a:ext cx="6766560" cy="2377440"/>
          </a:xfrm>
          <a:prstGeom prst="rect">
            <a:avLst/>
          </a:prstGeom>
          <a:noFill/>
          <a:ln/>
        </p:spPr>
        <p:txBody>
          <a:bodyPr wrap="square" lIns="381" tIns="381" rIns="381" bIns="381" rtlCol="0" anchor="ctr">
            <a:normAutofit/>
          </a:bodyPr>
          <a:lstStyle/>
          <a:p>
            <a:pPr marL="152400" indent="-152400">
              <a:buSzPct val="100000"/>
              <a:buChar char="•"/>
            </a:pPr>
            <a:r>
              <a:rPr lang="en-US" sz="1300" dirty="0">
                <a:solidFill>
                  <a:srgbClr val="334155"/>
                </a:solidFill>
                <a:latin typeface="Aptos" pitchFamily="34" charset="0"/>
                <a:ea typeface="Aptos" pitchFamily="34" charset="-122"/>
                <a:cs typeface="Aptos" pitchFamily="34" charset="-120"/>
              </a:rPr>
              <a:t>Why agent observability is different from classic uptime monitoring.</a:t>
            </a:r>
            <a:endParaRPr lang="en-US" sz="1300" dirty="0"/>
          </a:p>
          <a:p>
            <a:pPr marL="152400" indent="-152400">
              <a:buSzPct val="100000"/>
              <a:buChar char="•"/>
            </a:pPr>
            <a:r>
              <a:rPr lang="en-US" sz="1300" dirty="0">
                <a:solidFill>
                  <a:srgbClr val="334155"/>
                </a:solidFill>
                <a:latin typeface="Aptos" pitchFamily="34" charset="0"/>
                <a:ea typeface="Aptos" pitchFamily="34" charset="-122"/>
                <a:cs typeface="Aptos" pitchFamily="34" charset="-120"/>
              </a:rPr>
              <a:t>The telemetry taxonomy: invocation, retrieval, tool, policy, HITL, evaluation.</a:t>
            </a:r>
            <a:endParaRPr lang="en-US" sz="1300" dirty="0"/>
          </a:p>
          <a:p>
            <a:pPr marL="152400" indent="-152400">
              <a:buSzPct val="100000"/>
              <a:buChar char="•"/>
            </a:pPr>
            <a:r>
              <a:rPr lang="en-US" sz="1300" dirty="0">
                <a:solidFill>
                  <a:srgbClr val="334155"/>
                </a:solidFill>
                <a:latin typeface="Aptos" pitchFamily="34" charset="0"/>
                <a:ea typeface="Aptos" pitchFamily="34" charset="-122"/>
                <a:cs typeface="Aptos" pitchFamily="34" charset="-120"/>
              </a:rPr>
              <a:t>How to turn traces into answers with KQL in Log Analytics.</a:t>
            </a:r>
            <a:endParaRPr lang="en-US" sz="1300" dirty="0"/>
          </a:p>
        </p:txBody>
      </p:sp>
      <p:sp>
        <p:nvSpPr>
          <p:cNvPr id="13" name="Shape 11"/>
          <p:cNvSpPr/>
          <p:nvPr/>
        </p:nvSpPr>
        <p:spPr>
          <a:xfrm>
            <a:off x="7818120" y="1554480"/>
            <a:ext cx="3703320" cy="3108960"/>
          </a:xfrm>
          <a:prstGeom prst="roundRect">
            <a:avLst>
              <a:gd name="adj" fmla="val 2941"/>
            </a:avLst>
          </a:prstGeom>
          <a:solidFill>
            <a:srgbClr val="E6FFFB"/>
          </a:solidFill>
          <a:ln w="12700">
            <a:solidFill>
              <a:srgbClr val="99F6E4"/>
            </a:solidFill>
            <a:prstDash val="solid"/>
          </a:ln>
        </p:spPr>
      </p:sp>
      <p:sp>
        <p:nvSpPr>
          <p:cNvPr id="14" name="Text 12"/>
          <p:cNvSpPr/>
          <p:nvPr/>
        </p:nvSpPr>
        <p:spPr>
          <a:xfrm>
            <a:off x="8046720" y="1783080"/>
            <a:ext cx="3291840" cy="274320"/>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What is in it for you</a:t>
            </a:r>
            <a:endParaRPr lang="en-US" sz="1200" dirty="0"/>
          </a:p>
        </p:txBody>
      </p:sp>
      <p:sp>
        <p:nvSpPr>
          <p:cNvPr id="15" name="Text 13"/>
          <p:cNvSpPr/>
          <p:nvPr/>
        </p:nvSpPr>
        <p:spPr>
          <a:xfrm>
            <a:off x="8046720" y="2194560"/>
            <a:ext cx="3246120" cy="2194560"/>
          </a:xfrm>
          <a:prstGeom prst="rect">
            <a:avLst/>
          </a:prstGeom>
          <a:noFill/>
          <a:ln/>
        </p:spPr>
        <p:txBody>
          <a:bodyPr wrap="square" lIns="0" tIns="0" rIns="0" bIns="0" rtlCol="0" anchor="t">
            <a:normAutofit/>
          </a:bodyPr>
          <a:lstStyle/>
          <a:p>
            <a:pPr indent="0" marL="0">
              <a:buNone/>
            </a:pPr>
            <a:r>
              <a:rPr lang="en-US" sz="1600" b="1" dirty="0">
                <a:solidFill>
                  <a:srgbClr val="0B1220"/>
                </a:solidFill>
                <a:latin typeface="Aptos Display" pitchFamily="34" charset="0"/>
                <a:ea typeface="Aptos Display" pitchFamily="34" charset="-122"/>
                <a:cs typeface="Aptos Display" pitchFamily="34" charset="-120"/>
              </a:rPr>
              <a:t>You get to see exactly what the agent did - and prove it stayed inside the controls.</a:t>
            </a:r>
            <a:endParaRPr lang="en-US" sz="16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6 | TEACH</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The pattern: observability by design</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Shape 9"/>
          <p:cNvSpPr/>
          <p:nvPr/>
        </p:nvSpPr>
        <p:spPr>
          <a:xfrm>
            <a:off x="64008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2" name="Shape 10"/>
          <p:cNvSpPr/>
          <p:nvPr/>
        </p:nvSpPr>
        <p:spPr>
          <a:xfrm>
            <a:off x="640080" y="1554480"/>
            <a:ext cx="64008" cy="2103120"/>
          </a:xfrm>
          <a:prstGeom prst="rect">
            <a:avLst/>
          </a:prstGeom>
          <a:solidFill>
            <a:srgbClr val="0F766E"/>
          </a:solidFill>
          <a:ln w="12700">
            <a:solidFill>
              <a:srgbClr val="0F766E"/>
            </a:solidFill>
            <a:prstDash val="solid"/>
          </a:ln>
        </p:spPr>
      </p:sp>
      <p:sp>
        <p:nvSpPr>
          <p:cNvPr id="13" name="Text 11"/>
          <p:cNvSpPr/>
          <p:nvPr/>
        </p:nvSpPr>
        <p:spPr>
          <a:xfrm>
            <a:off x="84124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Application Insights</a:t>
            </a:r>
            <a:endParaRPr lang="en-US" sz="1200" dirty="0"/>
          </a:p>
        </p:txBody>
      </p:sp>
      <p:sp>
        <p:nvSpPr>
          <p:cNvPr id="14" name="Text 12"/>
          <p:cNvSpPr/>
          <p:nvPr/>
        </p:nvSpPr>
        <p:spPr>
          <a:xfrm>
            <a:off x="84124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Server-side Foundry traces plus custom events; correlation IDs join every hop end to end.</a:t>
            </a:r>
            <a:endParaRPr lang="en-US" sz="920" dirty="0"/>
          </a:p>
        </p:txBody>
      </p:sp>
      <p:sp>
        <p:nvSpPr>
          <p:cNvPr id="15" name="Shape 13"/>
          <p:cNvSpPr/>
          <p:nvPr/>
        </p:nvSpPr>
        <p:spPr>
          <a:xfrm>
            <a:off x="434340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6" name="Shape 14"/>
          <p:cNvSpPr/>
          <p:nvPr/>
        </p:nvSpPr>
        <p:spPr>
          <a:xfrm>
            <a:off x="4343400" y="1554480"/>
            <a:ext cx="64008" cy="2103120"/>
          </a:xfrm>
          <a:prstGeom prst="rect">
            <a:avLst/>
          </a:prstGeom>
          <a:solidFill>
            <a:srgbClr val="2563EB"/>
          </a:solidFill>
          <a:ln w="12700">
            <a:solidFill>
              <a:srgbClr val="2563EB"/>
            </a:solidFill>
            <a:prstDash val="solid"/>
          </a:ln>
        </p:spPr>
      </p:sp>
      <p:sp>
        <p:nvSpPr>
          <p:cNvPr id="17" name="Text 15"/>
          <p:cNvSpPr/>
          <p:nvPr/>
        </p:nvSpPr>
        <p:spPr>
          <a:xfrm>
            <a:off x="454456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Log Analytics</a:t>
            </a:r>
            <a:endParaRPr lang="en-US" sz="1200" dirty="0"/>
          </a:p>
        </p:txBody>
      </p:sp>
      <p:sp>
        <p:nvSpPr>
          <p:cNvPr id="18" name="Text 16"/>
          <p:cNvSpPr/>
          <p:nvPr/>
        </p:nvSpPr>
        <p:spPr>
          <a:xfrm>
            <a:off x="454456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KQL over the events: failures, latency, denials, ungrounded output, review bottlenecks.</a:t>
            </a:r>
            <a:endParaRPr lang="en-US" sz="920" dirty="0"/>
          </a:p>
        </p:txBody>
      </p:sp>
      <p:sp>
        <p:nvSpPr>
          <p:cNvPr id="19" name="Shape 17"/>
          <p:cNvSpPr/>
          <p:nvPr/>
        </p:nvSpPr>
        <p:spPr>
          <a:xfrm>
            <a:off x="804672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20" name="Shape 18"/>
          <p:cNvSpPr/>
          <p:nvPr/>
        </p:nvSpPr>
        <p:spPr>
          <a:xfrm>
            <a:off x="8046720" y="1554480"/>
            <a:ext cx="64008" cy="2103120"/>
          </a:xfrm>
          <a:prstGeom prst="rect">
            <a:avLst/>
          </a:prstGeom>
          <a:solidFill>
            <a:srgbClr val="F59E0B"/>
          </a:solidFill>
          <a:ln w="12700">
            <a:solidFill>
              <a:srgbClr val="F59E0B"/>
            </a:solidFill>
            <a:prstDash val="solid"/>
          </a:ln>
        </p:spPr>
      </p:sp>
      <p:sp>
        <p:nvSpPr>
          <p:cNvPr id="21" name="Text 19"/>
          <p:cNvSpPr/>
          <p:nvPr/>
        </p:nvSpPr>
        <p:spPr>
          <a:xfrm>
            <a:off x="824788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Five lenses</a:t>
            </a:r>
            <a:endParaRPr lang="en-US" sz="1200" dirty="0"/>
          </a:p>
        </p:txBody>
      </p:sp>
      <p:sp>
        <p:nvSpPr>
          <p:cNvPr id="22" name="Text 20"/>
          <p:cNvSpPr/>
          <p:nvPr/>
        </p:nvSpPr>
        <p:spPr>
          <a:xfrm>
            <a:off x="824788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Effectiveness, health, adoption, cost/value, governance/trust.</a:t>
            </a:r>
            <a:endParaRPr lang="en-US" sz="920" dirty="0"/>
          </a:p>
        </p:txBody>
      </p:sp>
      <p:sp>
        <p:nvSpPr>
          <p:cNvPr id="23" name="Text 21"/>
          <p:cNvSpPr/>
          <p:nvPr/>
        </p:nvSpPr>
        <p:spPr>
          <a:xfrm>
            <a:off x="640080" y="4023360"/>
            <a:ext cx="10881360" cy="365760"/>
          </a:xfrm>
          <a:prstGeom prst="rect">
            <a:avLst/>
          </a:prstGeom>
          <a:noFill/>
          <a:ln/>
        </p:spPr>
        <p:txBody>
          <a:bodyPr wrap="square" lIns="0" tIns="0" rIns="0" bIns="0" rtlCol="0" anchor="ctr"/>
          <a:lstStyle/>
          <a:p>
            <a:pPr indent="0" marL="0">
              <a:buNone/>
            </a:pPr>
            <a:r>
              <a:rPr lang="en-US" sz="1200" i="1" dirty="0">
                <a:solidFill>
                  <a:srgbClr val="64748B"/>
                </a:solidFill>
                <a:latin typeface="Aptos" pitchFamily="34" charset="0"/>
                <a:ea typeface="Aptos" pitchFamily="34" charset="-122"/>
                <a:cs typeface="Aptos" pitchFamily="34" charset="-120"/>
              </a:rPr>
              <a:t>Microsoft-recommended pattern - reusable beyond this use case.</a:t>
            </a:r>
            <a:endParaRPr lang="en-US" sz="12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6 | GOVERNANCE, ACCESS, PATTERNS</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Governance &amp; access angle</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822960" y="1554480"/>
            <a:ext cx="10607040" cy="2377440"/>
          </a:xfrm>
          <a:prstGeom prst="rect">
            <a:avLst/>
          </a:prstGeom>
          <a:noFill/>
          <a:ln/>
        </p:spPr>
        <p:txBody>
          <a:bodyPr wrap="square" lIns="381" tIns="381" rIns="381" bIns="381" rtlCol="0" anchor="ctr">
            <a:normAutofit/>
          </a:bodyPr>
          <a:lstStyle/>
          <a:p>
            <a:pPr marL="152400" indent="-152400">
              <a:buSzPct val="100000"/>
              <a:buChar char="•"/>
            </a:pPr>
            <a:r>
              <a:rPr lang="en-US" sz="1350" dirty="0">
                <a:solidFill>
                  <a:srgbClr val="334155"/>
                </a:solidFill>
                <a:latin typeface="Aptos" pitchFamily="34" charset="0"/>
                <a:ea typeface="Aptos" pitchFamily="34" charset="-122"/>
                <a:cs typeface="Aptos" pitchFamily="34" charset="-120"/>
              </a:rPr>
              <a:t>Governance: policy denials, redactions, and HITL stops are first-class trust signals, not just errors.</a:t>
            </a:r>
            <a:endParaRPr lang="en-US" sz="1350" dirty="0"/>
          </a:p>
          <a:p>
            <a:pPr marL="152400" indent="-152400">
              <a:buSzPct val="100000"/>
              <a:buChar char="•"/>
            </a:pPr>
            <a:r>
              <a:rPr lang="en-US" sz="1350" dirty="0">
                <a:solidFill>
                  <a:srgbClr val="334155"/>
                </a:solidFill>
                <a:latin typeface="Aptos" pitchFamily="34" charset="0"/>
                <a:ea typeface="Aptos" pitchFamily="34" charset="-122"/>
                <a:cs typeface="Aptos" pitchFamily="34" charset="-120"/>
              </a:rPr>
              <a:t>Access: telemetry read access is itself role-controlled (Log Analytics Reader, protected tables).</a:t>
            </a:r>
            <a:endParaRPr lang="en-US" sz="1350" dirty="0"/>
          </a:p>
          <a:p>
            <a:pPr marL="152400" indent="-152400">
              <a:buSzPct val="100000"/>
              <a:buChar char="•"/>
            </a:pPr>
            <a:r>
              <a:rPr lang="en-US" sz="1350" dirty="0">
                <a:solidFill>
                  <a:srgbClr val="334155"/>
                </a:solidFill>
                <a:latin typeface="Aptos" pitchFamily="34" charset="0"/>
                <a:ea typeface="Aptos" pitchFamily="34" charset="-122"/>
                <a:cs typeface="Aptos" pitchFamily="34" charset="-120"/>
              </a:rPr>
              <a:t>Pattern: an agent can be technically healthy while producing unsafe or ungrounded output - watch behavior, not just uptime.</a:t>
            </a:r>
            <a:endParaRPr lang="en-US" sz="1350" dirty="0"/>
          </a:p>
        </p:txBody>
      </p:sp>
      <p:sp>
        <p:nvSpPr>
          <p:cNvPr id="12" name="Shape 10"/>
          <p:cNvSpPr/>
          <p:nvPr/>
        </p:nvSpPr>
        <p:spPr>
          <a:xfrm>
            <a:off x="640080" y="4617720"/>
            <a:ext cx="10881360" cy="960120"/>
          </a:xfrm>
          <a:prstGeom prst="roundRect">
            <a:avLst>
              <a:gd name="adj" fmla="val 9524"/>
            </a:avLst>
          </a:prstGeom>
          <a:solidFill>
            <a:srgbClr val="FFFBEB"/>
          </a:solidFill>
          <a:ln w="12700">
            <a:solidFill>
              <a:srgbClr val="FDE68A"/>
            </a:solidFill>
            <a:prstDash val="solid"/>
          </a:ln>
        </p:spPr>
      </p:sp>
      <p:sp>
        <p:nvSpPr>
          <p:cNvPr id="13" name="Text 11"/>
          <p:cNvSpPr/>
          <p:nvPr/>
        </p:nvSpPr>
        <p:spPr>
          <a:xfrm>
            <a:off x="868680" y="4773168"/>
            <a:ext cx="1463040" cy="219456"/>
          </a:xfrm>
          <a:prstGeom prst="rect">
            <a:avLst/>
          </a:prstGeom>
          <a:noFill/>
          <a:ln/>
        </p:spPr>
        <p:txBody>
          <a:bodyPr wrap="square" lIns="0" tIns="0" rIns="0" bIns="0" rtlCol="0" anchor="ctr"/>
          <a:lstStyle/>
          <a:p>
            <a:pPr indent="0" marL="0">
              <a:buNone/>
            </a:pPr>
            <a:r>
              <a:rPr lang="en-US" sz="1000" b="1" dirty="0">
                <a:solidFill>
                  <a:srgbClr val="92400E"/>
                </a:solidFill>
                <a:latin typeface="Aptos" pitchFamily="34" charset="0"/>
                <a:ea typeface="Aptos" pitchFamily="34" charset="-122"/>
                <a:cs typeface="Aptos" pitchFamily="34" charset="-120"/>
              </a:rPr>
              <a:t>Facilitator</a:t>
            </a:r>
            <a:endParaRPr lang="en-US" sz="1000" dirty="0"/>
          </a:p>
        </p:txBody>
      </p:sp>
      <p:sp>
        <p:nvSpPr>
          <p:cNvPr id="14" name="Text 12"/>
          <p:cNvSpPr/>
          <p:nvPr/>
        </p:nvSpPr>
        <p:spPr>
          <a:xfrm>
            <a:off x="868680" y="5029200"/>
            <a:ext cx="10424160" cy="457200"/>
          </a:xfrm>
          <a:prstGeom prst="rect">
            <a:avLst/>
          </a:prstGeom>
          <a:noFill/>
          <a:ln/>
        </p:spPr>
        <p:txBody>
          <a:bodyPr wrap="square" lIns="0" tIns="0" rIns="0" bIns="0" rtlCol="0" anchor="ctr">
            <a:normAutofit/>
          </a:bodyPr>
          <a:lstStyle/>
          <a:p>
            <a:pPr indent="0" marL="0">
              <a:buNone/>
            </a:pPr>
            <a:r>
              <a:rPr lang="en-US" sz="1150" dirty="0">
                <a:solidFill>
                  <a:srgbClr val="334155"/>
                </a:solidFill>
                <a:latin typeface="Aptos" pitchFamily="34" charset="0"/>
                <a:ea typeface="Aptos" pitchFamily="34" charset="-122"/>
                <a:cs typeface="Aptos" pitchFamily="34" charset="-120"/>
              </a:rPr>
              <a:t>Live cue: emit one custom event; hit GET /api/v1/traces/:id; walk the ordered list; run a KQL sample. Checkpoint: chapter-06-observability.</a:t>
            </a:r>
            <a:endParaRPr lang="en-US" sz="115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7 | ITEM 6 | DAY 2</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HITL - Data Task Scheduler</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640080" y="1417320"/>
            <a:ext cx="5486400" cy="274320"/>
          </a:xfrm>
          <a:prstGeom prst="rect">
            <a:avLst/>
          </a:prstGeom>
          <a:noFill/>
          <a:ln/>
        </p:spPr>
        <p:txBody>
          <a:bodyPr wrap="square" lIns="0" tIns="0" rIns="0" bIns="0" rtlCol="0" anchor="ctr"/>
          <a:lstStyle/>
          <a:p>
            <a:pPr indent="0" marL="0">
              <a:buNone/>
            </a:pPr>
            <a:r>
              <a:rPr lang="en-US" sz="1300" b="1" dirty="0">
                <a:solidFill>
                  <a:srgbClr val="0F766E"/>
                </a:solidFill>
                <a:latin typeface="Aptos" pitchFamily="34" charset="0"/>
                <a:ea typeface="Aptos" pitchFamily="34" charset="-122"/>
                <a:cs typeface="Aptos" pitchFamily="34" charset="-120"/>
              </a:rPr>
              <a:t>What we will cover</a:t>
            </a:r>
            <a:endParaRPr lang="en-US" sz="1300" dirty="0"/>
          </a:p>
        </p:txBody>
      </p:sp>
      <p:sp>
        <p:nvSpPr>
          <p:cNvPr id="12" name="Text 10"/>
          <p:cNvSpPr/>
          <p:nvPr/>
        </p:nvSpPr>
        <p:spPr>
          <a:xfrm>
            <a:off x="822960" y="1783080"/>
            <a:ext cx="6766560" cy="2377440"/>
          </a:xfrm>
          <a:prstGeom prst="rect">
            <a:avLst/>
          </a:prstGeom>
          <a:noFill/>
          <a:ln/>
        </p:spPr>
        <p:txBody>
          <a:bodyPr wrap="square" lIns="381" tIns="381" rIns="381" bIns="381" rtlCol="0" anchor="ctr">
            <a:normAutofit/>
          </a:bodyPr>
          <a:lstStyle/>
          <a:p>
            <a:pPr marL="152400" indent="-152400">
              <a:buSzPct val="100000"/>
              <a:buChar char="•"/>
            </a:pPr>
            <a:r>
              <a:rPr lang="en-US" sz="1300" dirty="0">
                <a:solidFill>
                  <a:srgbClr val="334155"/>
                </a:solidFill>
                <a:latin typeface="Aptos" pitchFamily="34" charset="0"/>
                <a:ea typeface="Aptos" pitchFamily="34" charset="-122"/>
                <a:cs typeface="Aptos" pitchFamily="34" charset="-120"/>
              </a:rPr>
              <a:t>Why human review is a control point in the architecture, not a UX add-on.</a:t>
            </a:r>
            <a:endParaRPr lang="en-US" sz="1300" dirty="0"/>
          </a:p>
          <a:p>
            <a:pPr marL="152400" indent="-152400">
              <a:buSzPct val="100000"/>
              <a:buChar char="•"/>
            </a:pPr>
            <a:r>
              <a:rPr lang="en-US" sz="1300" dirty="0">
                <a:solidFill>
                  <a:srgbClr val="334155"/>
                </a:solidFill>
                <a:latin typeface="Aptos" pitchFamily="34" charset="0"/>
                <a:ea typeface="Aptos" pitchFamily="34" charset="-122"/>
                <a:cs typeface="Aptos" pitchFamily="34" charset="-120"/>
              </a:rPr>
              <a:t>The review state machine: draft, pending, in-review, approved, rejected, rework, timeout.</a:t>
            </a:r>
            <a:endParaRPr lang="en-US" sz="1300" dirty="0"/>
          </a:p>
          <a:p>
            <a:pPr marL="152400" indent="-152400">
              <a:buSzPct val="100000"/>
              <a:buChar char="•"/>
            </a:pPr>
            <a:r>
              <a:rPr lang="en-US" sz="1300" dirty="0">
                <a:solidFill>
                  <a:srgbClr val="334155"/>
                </a:solidFill>
                <a:latin typeface="Aptos" pitchFamily="34" charset="0"/>
                <a:ea typeface="Aptos" pitchFamily="34" charset="-122"/>
                <a:cs typeface="Aptos" pitchFamily="34" charset="-120"/>
              </a:rPr>
              <a:t>How every transition becomes an auditable event.</a:t>
            </a:r>
            <a:endParaRPr lang="en-US" sz="1300" dirty="0"/>
          </a:p>
        </p:txBody>
      </p:sp>
      <p:sp>
        <p:nvSpPr>
          <p:cNvPr id="13" name="Shape 11"/>
          <p:cNvSpPr/>
          <p:nvPr/>
        </p:nvSpPr>
        <p:spPr>
          <a:xfrm>
            <a:off x="7818120" y="1554480"/>
            <a:ext cx="3703320" cy="3108960"/>
          </a:xfrm>
          <a:prstGeom prst="roundRect">
            <a:avLst>
              <a:gd name="adj" fmla="val 2941"/>
            </a:avLst>
          </a:prstGeom>
          <a:solidFill>
            <a:srgbClr val="E6FFFB"/>
          </a:solidFill>
          <a:ln w="12700">
            <a:solidFill>
              <a:srgbClr val="99F6E4"/>
            </a:solidFill>
            <a:prstDash val="solid"/>
          </a:ln>
        </p:spPr>
      </p:sp>
      <p:sp>
        <p:nvSpPr>
          <p:cNvPr id="14" name="Text 12"/>
          <p:cNvSpPr/>
          <p:nvPr/>
        </p:nvSpPr>
        <p:spPr>
          <a:xfrm>
            <a:off x="8046720" y="1783080"/>
            <a:ext cx="3291840" cy="274320"/>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What is in it for you</a:t>
            </a:r>
            <a:endParaRPr lang="en-US" sz="1200" dirty="0"/>
          </a:p>
        </p:txBody>
      </p:sp>
      <p:sp>
        <p:nvSpPr>
          <p:cNvPr id="15" name="Text 13"/>
          <p:cNvSpPr/>
          <p:nvPr/>
        </p:nvSpPr>
        <p:spPr>
          <a:xfrm>
            <a:off x="8046720" y="2194560"/>
            <a:ext cx="3246120" cy="2194560"/>
          </a:xfrm>
          <a:prstGeom prst="rect">
            <a:avLst/>
          </a:prstGeom>
          <a:noFill/>
          <a:ln/>
        </p:spPr>
        <p:txBody>
          <a:bodyPr wrap="square" lIns="0" tIns="0" rIns="0" bIns="0" rtlCol="0" anchor="t">
            <a:normAutofit/>
          </a:bodyPr>
          <a:lstStyle/>
          <a:p>
            <a:pPr indent="0" marL="0">
              <a:buNone/>
            </a:pPr>
            <a:r>
              <a:rPr lang="en-US" sz="1600" b="1" dirty="0">
                <a:solidFill>
                  <a:srgbClr val="0B1220"/>
                </a:solidFill>
                <a:latin typeface="Aptos Display" pitchFamily="34" charset="0"/>
                <a:ea typeface="Aptos Display" pitchFamily="34" charset="-122"/>
                <a:cs typeface="Aptos Display" pitchFamily="34" charset="-120"/>
              </a:rPr>
              <a:t>You get to keep humans accountable for consequential decisions - by design.</a:t>
            </a:r>
            <a:endParaRPr lang="en-US" sz="16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7 | TEACH</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The pattern: human accountability as workflow state</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Shape 9"/>
          <p:cNvSpPr/>
          <p:nvPr/>
        </p:nvSpPr>
        <p:spPr>
          <a:xfrm>
            <a:off x="64008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2" name="Shape 10"/>
          <p:cNvSpPr/>
          <p:nvPr/>
        </p:nvSpPr>
        <p:spPr>
          <a:xfrm>
            <a:off x="640080" y="1554480"/>
            <a:ext cx="64008" cy="2103120"/>
          </a:xfrm>
          <a:prstGeom prst="rect">
            <a:avLst/>
          </a:prstGeom>
          <a:solidFill>
            <a:srgbClr val="0F766E"/>
          </a:solidFill>
          <a:ln w="12700">
            <a:solidFill>
              <a:srgbClr val="0F766E"/>
            </a:solidFill>
            <a:prstDash val="solid"/>
          </a:ln>
        </p:spPr>
      </p:sp>
      <p:sp>
        <p:nvSpPr>
          <p:cNvPr id="13" name="Text 11"/>
          <p:cNvSpPr/>
          <p:nvPr/>
        </p:nvSpPr>
        <p:spPr>
          <a:xfrm>
            <a:off x="84124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Data Task Scheduler</a:t>
            </a:r>
            <a:endParaRPr lang="en-US" sz="1200" dirty="0"/>
          </a:p>
        </p:txBody>
      </p:sp>
      <p:sp>
        <p:nvSpPr>
          <p:cNvPr id="14" name="Text 12"/>
          <p:cNvSpPr/>
          <p:nvPr/>
        </p:nvSpPr>
        <p:spPr>
          <a:xfrm>
            <a:off x="84124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A queue of review tasks with assignment, due time, and state. The agent drafts; the human decides.</a:t>
            </a:r>
            <a:endParaRPr lang="en-US" sz="920" dirty="0"/>
          </a:p>
        </p:txBody>
      </p:sp>
      <p:sp>
        <p:nvSpPr>
          <p:cNvPr id="15" name="Shape 13"/>
          <p:cNvSpPr/>
          <p:nvPr/>
        </p:nvSpPr>
        <p:spPr>
          <a:xfrm>
            <a:off x="434340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6" name="Shape 14"/>
          <p:cNvSpPr/>
          <p:nvPr/>
        </p:nvSpPr>
        <p:spPr>
          <a:xfrm>
            <a:off x="4343400" y="1554480"/>
            <a:ext cx="64008" cy="2103120"/>
          </a:xfrm>
          <a:prstGeom prst="rect">
            <a:avLst/>
          </a:prstGeom>
          <a:solidFill>
            <a:srgbClr val="2563EB"/>
          </a:solidFill>
          <a:ln w="12700">
            <a:solidFill>
              <a:srgbClr val="2563EB"/>
            </a:solidFill>
            <a:prstDash val="solid"/>
          </a:ln>
        </p:spPr>
      </p:sp>
      <p:sp>
        <p:nvSpPr>
          <p:cNvPr id="17" name="Text 15"/>
          <p:cNvSpPr/>
          <p:nvPr/>
        </p:nvSpPr>
        <p:spPr>
          <a:xfrm>
            <a:off x="454456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State machine</a:t>
            </a:r>
            <a:endParaRPr lang="en-US" sz="1200" dirty="0"/>
          </a:p>
        </p:txBody>
      </p:sp>
      <p:sp>
        <p:nvSpPr>
          <p:cNvPr id="18" name="Text 16"/>
          <p:cNvSpPr/>
          <p:nvPr/>
        </p:nvSpPr>
        <p:spPr>
          <a:xfrm>
            <a:off x="454456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Only a human moves a task to approved or rejected; the agent can only draft or rework.</a:t>
            </a:r>
            <a:endParaRPr lang="en-US" sz="920" dirty="0"/>
          </a:p>
        </p:txBody>
      </p:sp>
      <p:sp>
        <p:nvSpPr>
          <p:cNvPr id="19" name="Shape 17"/>
          <p:cNvSpPr/>
          <p:nvPr/>
        </p:nvSpPr>
        <p:spPr>
          <a:xfrm>
            <a:off x="804672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20" name="Shape 18"/>
          <p:cNvSpPr/>
          <p:nvPr/>
        </p:nvSpPr>
        <p:spPr>
          <a:xfrm>
            <a:off x="8046720" y="1554480"/>
            <a:ext cx="64008" cy="2103120"/>
          </a:xfrm>
          <a:prstGeom prst="rect">
            <a:avLst/>
          </a:prstGeom>
          <a:solidFill>
            <a:srgbClr val="7C3AED"/>
          </a:solidFill>
          <a:ln w="12700">
            <a:solidFill>
              <a:srgbClr val="7C3AED"/>
            </a:solidFill>
            <a:prstDash val="solid"/>
          </a:ln>
        </p:spPr>
      </p:sp>
      <p:sp>
        <p:nvSpPr>
          <p:cNvPr id="21" name="Text 19"/>
          <p:cNvSpPr/>
          <p:nvPr/>
        </p:nvSpPr>
        <p:spPr>
          <a:xfrm>
            <a:off x="824788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Audit trail</a:t>
            </a:r>
            <a:endParaRPr lang="en-US" sz="1200" dirty="0"/>
          </a:p>
        </p:txBody>
      </p:sp>
      <p:sp>
        <p:nvSpPr>
          <p:cNvPr id="22" name="Text 20"/>
          <p:cNvSpPr/>
          <p:nvPr/>
        </p:nvSpPr>
        <p:spPr>
          <a:xfrm>
            <a:off x="824788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Every transition writes who, what, when, and why - the compliance record.</a:t>
            </a:r>
            <a:endParaRPr lang="en-US" sz="920" dirty="0"/>
          </a:p>
        </p:txBody>
      </p:sp>
      <p:sp>
        <p:nvSpPr>
          <p:cNvPr id="23" name="Text 21"/>
          <p:cNvSpPr/>
          <p:nvPr/>
        </p:nvSpPr>
        <p:spPr>
          <a:xfrm>
            <a:off x="640080" y="4023360"/>
            <a:ext cx="10881360" cy="365760"/>
          </a:xfrm>
          <a:prstGeom prst="rect">
            <a:avLst/>
          </a:prstGeom>
          <a:noFill/>
          <a:ln/>
        </p:spPr>
        <p:txBody>
          <a:bodyPr wrap="square" lIns="0" tIns="0" rIns="0" bIns="0" rtlCol="0" anchor="ctr"/>
          <a:lstStyle/>
          <a:p>
            <a:pPr indent="0" marL="0">
              <a:buNone/>
            </a:pPr>
            <a:r>
              <a:rPr lang="en-US" sz="1200" i="1" dirty="0">
                <a:solidFill>
                  <a:srgbClr val="64748B"/>
                </a:solidFill>
                <a:latin typeface="Aptos" pitchFamily="34" charset="0"/>
                <a:ea typeface="Aptos" pitchFamily="34" charset="-122"/>
                <a:cs typeface="Aptos" pitchFamily="34" charset="-120"/>
              </a:rPr>
              <a:t>Microsoft-recommended pattern - reusable beyond this use case.</a:t>
            </a:r>
            <a:endParaRPr lang="en-US" sz="12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7 | GOVERNANCE, ACCESS, PATTERNS</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Governance &amp; access angle</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822960" y="1554480"/>
            <a:ext cx="10607040" cy="2377440"/>
          </a:xfrm>
          <a:prstGeom prst="rect">
            <a:avLst/>
          </a:prstGeom>
          <a:noFill/>
          <a:ln/>
        </p:spPr>
        <p:txBody>
          <a:bodyPr wrap="square" lIns="381" tIns="381" rIns="381" bIns="381" rtlCol="0" anchor="ctr">
            <a:normAutofit/>
          </a:bodyPr>
          <a:lstStyle/>
          <a:p>
            <a:pPr marL="152400" indent="-152400">
              <a:buSzPct val="100000"/>
              <a:buChar char="•"/>
            </a:pPr>
            <a:r>
              <a:rPr lang="en-US" sz="1350" dirty="0">
                <a:solidFill>
                  <a:srgbClr val="334155"/>
                </a:solidFill>
                <a:latin typeface="Aptos" pitchFamily="34" charset="0"/>
                <a:ea typeface="Aptos" pitchFamily="34" charset="-122"/>
                <a:cs typeface="Aptos" pitchFamily="34" charset="-120"/>
              </a:rPr>
              <a:t>Governance: no consequential action executes without a recorded human approval.</a:t>
            </a:r>
            <a:endParaRPr lang="en-US" sz="1350" dirty="0"/>
          </a:p>
          <a:p>
            <a:pPr marL="152400" indent="-152400">
              <a:buSzPct val="100000"/>
              <a:buChar char="•"/>
            </a:pPr>
            <a:r>
              <a:rPr lang="en-US" sz="1350" dirty="0">
                <a:solidFill>
                  <a:srgbClr val="334155"/>
                </a:solidFill>
                <a:latin typeface="Aptos" pitchFamily="34" charset="0"/>
                <a:ea typeface="Aptos" pitchFamily="34" charset="-122"/>
                <a:cs typeface="Aptos" pitchFamily="34" charset="-120"/>
              </a:rPr>
              <a:t>Access: reviewer roles and escalation paths are explicit; timeouts escalate rather than auto-complete.</a:t>
            </a:r>
            <a:endParaRPr lang="en-US" sz="1350" dirty="0"/>
          </a:p>
          <a:p>
            <a:pPr marL="152400" indent="-152400">
              <a:buSzPct val="100000"/>
              <a:buChar char="•"/>
            </a:pPr>
            <a:r>
              <a:rPr lang="en-US" sz="1350" dirty="0">
                <a:solidFill>
                  <a:srgbClr val="334155"/>
                </a:solidFill>
                <a:latin typeface="Aptos" pitchFamily="34" charset="0"/>
                <a:ea typeface="Aptos" pitchFamily="34" charset="-122"/>
                <a:cs typeface="Aptos" pitchFamily="34" charset="-120"/>
              </a:rPr>
              <a:t>Pattern: Observe, Recommend, Approve, Act - the agent never collapses these steps.</a:t>
            </a:r>
            <a:endParaRPr lang="en-US" sz="1350" dirty="0"/>
          </a:p>
        </p:txBody>
      </p:sp>
      <p:sp>
        <p:nvSpPr>
          <p:cNvPr id="12" name="Shape 10"/>
          <p:cNvSpPr/>
          <p:nvPr/>
        </p:nvSpPr>
        <p:spPr>
          <a:xfrm>
            <a:off x="640080" y="4617720"/>
            <a:ext cx="10881360" cy="960120"/>
          </a:xfrm>
          <a:prstGeom prst="roundRect">
            <a:avLst>
              <a:gd name="adj" fmla="val 9524"/>
            </a:avLst>
          </a:prstGeom>
          <a:solidFill>
            <a:srgbClr val="FFFBEB"/>
          </a:solidFill>
          <a:ln w="12700">
            <a:solidFill>
              <a:srgbClr val="FDE68A"/>
            </a:solidFill>
            <a:prstDash val="solid"/>
          </a:ln>
        </p:spPr>
      </p:sp>
      <p:sp>
        <p:nvSpPr>
          <p:cNvPr id="13" name="Text 11"/>
          <p:cNvSpPr/>
          <p:nvPr/>
        </p:nvSpPr>
        <p:spPr>
          <a:xfrm>
            <a:off x="868680" y="4773168"/>
            <a:ext cx="1463040" cy="219456"/>
          </a:xfrm>
          <a:prstGeom prst="rect">
            <a:avLst/>
          </a:prstGeom>
          <a:noFill/>
          <a:ln/>
        </p:spPr>
        <p:txBody>
          <a:bodyPr wrap="square" lIns="0" tIns="0" rIns="0" bIns="0" rtlCol="0" anchor="ctr"/>
          <a:lstStyle/>
          <a:p>
            <a:pPr indent="0" marL="0">
              <a:buNone/>
            </a:pPr>
            <a:r>
              <a:rPr lang="en-US" sz="1000" b="1" dirty="0">
                <a:solidFill>
                  <a:srgbClr val="92400E"/>
                </a:solidFill>
                <a:latin typeface="Aptos" pitchFamily="34" charset="0"/>
                <a:ea typeface="Aptos" pitchFamily="34" charset="-122"/>
                <a:cs typeface="Aptos" pitchFamily="34" charset="-120"/>
              </a:rPr>
              <a:t>Facilitator</a:t>
            </a:r>
            <a:endParaRPr lang="en-US" sz="1000" dirty="0"/>
          </a:p>
        </p:txBody>
      </p:sp>
      <p:sp>
        <p:nvSpPr>
          <p:cNvPr id="14" name="Text 12"/>
          <p:cNvSpPr/>
          <p:nvPr/>
        </p:nvSpPr>
        <p:spPr>
          <a:xfrm>
            <a:off x="868680" y="5029200"/>
            <a:ext cx="10424160" cy="457200"/>
          </a:xfrm>
          <a:prstGeom prst="rect">
            <a:avLst/>
          </a:prstGeom>
          <a:noFill/>
          <a:ln/>
        </p:spPr>
        <p:txBody>
          <a:bodyPr wrap="square" lIns="0" tIns="0" rIns="0" bIns="0" rtlCol="0" anchor="ctr">
            <a:normAutofit/>
          </a:bodyPr>
          <a:lstStyle/>
          <a:p>
            <a:pPr indent="0" marL="0">
              <a:buNone/>
            </a:pPr>
            <a:r>
              <a:rPr lang="en-US" sz="1150" dirty="0">
                <a:solidFill>
                  <a:srgbClr val="334155"/>
                </a:solidFill>
                <a:latin typeface="Aptos" pitchFamily="34" charset="0"/>
                <a:ea typeface="Aptos" pitchFamily="34" charset="-122"/>
                <a:cs typeface="Aptos" pitchFamily="34" charset="-120"/>
              </a:rPr>
              <a:t>Live cue: approve then rework in the UI; show the state machine reject an invalid transition + audit record. Checkpoint: chapter-07-hitl.</a:t>
            </a:r>
            <a:endParaRPr lang="en-US" sz="115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8 | ITEM 7 | DAY 2</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Toolboxes</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640080" y="1417320"/>
            <a:ext cx="5486400" cy="274320"/>
          </a:xfrm>
          <a:prstGeom prst="rect">
            <a:avLst/>
          </a:prstGeom>
          <a:noFill/>
          <a:ln/>
        </p:spPr>
        <p:txBody>
          <a:bodyPr wrap="square" lIns="0" tIns="0" rIns="0" bIns="0" rtlCol="0" anchor="ctr"/>
          <a:lstStyle/>
          <a:p>
            <a:pPr indent="0" marL="0">
              <a:buNone/>
            </a:pPr>
            <a:r>
              <a:rPr lang="en-US" sz="1300" b="1" dirty="0">
                <a:solidFill>
                  <a:srgbClr val="0F766E"/>
                </a:solidFill>
                <a:latin typeface="Aptos" pitchFamily="34" charset="0"/>
                <a:ea typeface="Aptos" pitchFamily="34" charset="-122"/>
                <a:cs typeface="Aptos" pitchFamily="34" charset="-120"/>
              </a:rPr>
              <a:t>What we will cover</a:t>
            </a:r>
            <a:endParaRPr lang="en-US" sz="1300" dirty="0"/>
          </a:p>
        </p:txBody>
      </p:sp>
      <p:sp>
        <p:nvSpPr>
          <p:cNvPr id="12" name="Text 10"/>
          <p:cNvSpPr/>
          <p:nvPr/>
        </p:nvSpPr>
        <p:spPr>
          <a:xfrm>
            <a:off x="822960" y="1783080"/>
            <a:ext cx="6766560" cy="2377440"/>
          </a:xfrm>
          <a:prstGeom prst="rect">
            <a:avLst/>
          </a:prstGeom>
          <a:noFill/>
          <a:ln/>
        </p:spPr>
        <p:txBody>
          <a:bodyPr wrap="square" lIns="381" tIns="381" rIns="381" bIns="381" rtlCol="0" anchor="ctr">
            <a:normAutofit/>
          </a:bodyPr>
          <a:lstStyle/>
          <a:p>
            <a:pPr marL="152400" indent="-152400">
              <a:buSzPct val="100000"/>
              <a:buChar char="•"/>
            </a:pPr>
            <a:r>
              <a:rPr lang="en-US" sz="1300" dirty="0">
                <a:solidFill>
                  <a:srgbClr val="334155"/>
                </a:solidFill>
                <a:latin typeface="Aptos" pitchFamily="34" charset="0"/>
                <a:ea typeface="Aptos" pitchFamily="34" charset="-122"/>
                <a:cs typeface="Aptos" pitchFamily="34" charset="-120"/>
              </a:rPr>
              <a:t>How to package tools into reusable, governed toolboxes.</a:t>
            </a:r>
            <a:endParaRPr lang="en-US" sz="1300" dirty="0"/>
          </a:p>
          <a:p>
            <a:pPr marL="152400" indent="-152400">
              <a:buSzPct val="100000"/>
              <a:buChar char="•"/>
            </a:pPr>
            <a:r>
              <a:rPr lang="en-US" sz="1300" dirty="0">
                <a:solidFill>
                  <a:srgbClr val="334155"/>
                </a:solidFill>
                <a:latin typeface="Aptos" pitchFamily="34" charset="0"/>
                <a:ea typeface="Aptos" pitchFamily="34" charset="-122"/>
                <a:cs typeface="Aptos" pitchFamily="34" charset="-120"/>
              </a:rPr>
              <a:t>Why centralized toolboxes beat per-agent tool wiring.</a:t>
            </a:r>
            <a:endParaRPr lang="en-US" sz="1300" dirty="0"/>
          </a:p>
          <a:p>
            <a:pPr marL="152400" indent="-152400">
              <a:buSzPct val="100000"/>
              <a:buChar char="•"/>
            </a:pPr>
            <a:r>
              <a:rPr lang="en-US" sz="1300" dirty="0">
                <a:solidFill>
                  <a:srgbClr val="334155"/>
                </a:solidFill>
                <a:latin typeface="Aptos" pitchFamily="34" charset="0"/>
                <a:ea typeface="Aptos" pitchFamily="34" charset="-122"/>
                <a:cs typeface="Aptos" pitchFamily="34" charset="-120"/>
              </a:rPr>
              <a:t>How versioning lets you improve tools without redeploying agents.</a:t>
            </a:r>
            <a:endParaRPr lang="en-US" sz="1300" dirty="0"/>
          </a:p>
        </p:txBody>
      </p:sp>
      <p:sp>
        <p:nvSpPr>
          <p:cNvPr id="13" name="Shape 11"/>
          <p:cNvSpPr/>
          <p:nvPr/>
        </p:nvSpPr>
        <p:spPr>
          <a:xfrm>
            <a:off x="7818120" y="1554480"/>
            <a:ext cx="3703320" cy="3108960"/>
          </a:xfrm>
          <a:prstGeom prst="roundRect">
            <a:avLst>
              <a:gd name="adj" fmla="val 2941"/>
            </a:avLst>
          </a:prstGeom>
          <a:solidFill>
            <a:srgbClr val="E6FFFB"/>
          </a:solidFill>
          <a:ln w="12700">
            <a:solidFill>
              <a:srgbClr val="99F6E4"/>
            </a:solidFill>
            <a:prstDash val="solid"/>
          </a:ln>
        </p:spPr>
      </p:sp>
      <p:sp>
        <p:nvSpPr>
          <p:cNvPr id="14" name="Text 12"/>
          <p:cNvSpPr/>
          <p:nvPr/>
        </p:nvSpPr>
        <p:spPr>
          <a:xfrm>
            <a:off x="8046720" y="1783080"/>
            <a:ext cx="3291840" cy="274320"/>
          </a:xfrm>
          <a:prstGeom prst="rect">
            <a:avLst/>
          </a:prstGeom>
          <a:noFill/>
          <a:ln/>
        </p:spPr>
        <p:txBody>
          <a:bodyPr wrap="square" lIns="0" tIns="0" rIns="0" bIns="0" rtlCol="0" anchor="ctr"/>
          <a:lstStyle/>
          <a:p>
            <a:pPr indent="0" marL="0">
              <a:buNone/>
            </a:pPr>
            <a:r>
              <a:rPr lang="en-US" sz="1200" b="1" dirty="0">
                <a:solidFill>
                  <a:srgbClr val="0F766E"/>
                </a:solidFill>
                <a:latin typeface="Aptos" pitchFamily="34" charset="0"/>
                <a:ea typeface="Aptos" pitchFamily="34" charset="-122"/>
                <a:cs typeface="Aptos" pitchFamily="34" charset="-120"/>
              </a:rPr>
              <a:t>What is in it for you</a:t>
            </a:r>
            <a:endParaRPr lang="en-US" sz="1200" dirty="0"/>
          </a:p>
        </p:txBody>
      </p:sp>
      <p:sp>
        <p:nvSpPr>
          <p:cNvPr id="15" name="Text 13"/>
          <p:cNvSpPr/>
          <p:nvPr/>
        </p:nvSpPr>
        <p:spPr>
          <a:xfrm>
            <a:off x="8046720" y="2194560"/>
            <a:ext cx="3246120" cy="2194560"/>
          </a:xfrm>
          <a:prstGeom prst="rect">
            <a:avLst/>
          </a:prstGeom>
          <a:noFill/>
          <a:ln/>
        </p:spPr>
        <p:txBody>
          <a:bodyPr wrap="square" lIns="0" tIns="0" rIns="0" bIns="0" rtlCol="0" anchor="t">
            <a:normAutofit/>
          </a:bodyPr>
          <a:lstStyle/>
          <a:p>
            <a:pPr indent="0" marL="0">
              <a:buNone/>
            </a:pPr>
            <a:r>
              <a:rPr lang="en-US" sz="1600" b="1" dirty="0">
                <a:solidFill>
                  <a:srgbClr val="0B1220"/>
                </a:solidFill>
                <a:latin typeface="Aptos Display" pitchFamily="34" charset="0"/>
                <a:ea typeface="Aptos Display" pitchFamily="34" charset="-122"/>
                <a:cs typeface="Aptos Display" pitchFamily="34" charset="-120"/>
              </a:rPr>
              <a:t>You get to scale agent development without every team re-implementing tools and credentials.</a:t>
            </a:r>
            <a:endParaRPr lang="en-US" sz="16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8 | TEACH</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The pattern: curate once, share governed</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Shape 9"/>
          <p:cNvSpPr/>
          <p:nvPr/>
        </p:nvSpPr>
        <p:spPr>
          <a:xfrm>
            <a:off x="64008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2" name="Shape 10"/>
          <p:cNvSpPr/>
          <p:nvPr/>
        </p:nvSpPr>
        <p:spPr>
          <a:xfrm>
            <a:off x="640080" y="1554480"/>
            <a:ext cx="64008" cy="2103120"/>
          </a:xfrm>
          <a:prstGeom prst="rect">
            <a:avLst/>
          </a:prstGeom>
          <a:solidFill>
            <a:srgbClr val="0F766E"/>
          </a:solidFill>
          <a:ln w="12700">
            <a:solidFill>
              <a:srgbClr val="0F766E"/>
            </a:solidFill>
            <a:prstDash val="solid"/>
          </a:ln>
        </p:spPr>
      </p:sp>
      <p:sp>
        <p:nvSpPr>
          <p:cNvPr id="13" name="Text 11"/>
          <p:cNvSpPr/>
          <p:nvPr/>
        </p:nvSpPr>
        <p:spPr>
          <a:xfrm>
            <a:off x="84124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Toolbox</a:t>
            </a:r>
            <a:endParaRPr lang="en-US" sz="1200" dirty="0"/>
          </a:p>
        </p:txBody>
      </p:sp>
      <p:sp>
        <p:nvSpPr>
          <p:cNvPr id="14" name="Text 12"/>
          <p:cNvSpPr/>
          <p:nvPr/>
        </p:nvSpPr>
        <p:spPr>
          <a:xfrm>
            <a:off x="84124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Clinical context, protocol, utilization, care-coordination, operations - each scoped and owned.</a:t>
            </a:r>
            <a:endParaRPr lang="en-US" sz="920" dirty="0"/>
          </a:p>
        </p:txBody>
      </p:sp>
      <p:sp>
        <p:nvSpPr>
          <p:cNvPr id="15" name="Shape 13"/>
          <p:cNvSpPr/>
          <p:nvPr/>
        </p:nvSpPr>
        <p:spPr>
          <a:xfrm>
            <a:off x="434340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6" name="Shape 14"/>
          <p:cNvSpPr/>
          <p:nvPr/>
        </p:nvSpPr>
        <p:spPr>
          <a:xfrm>
            <a:off x="4343400" y="1554480"/>
            <a:ext cx="64008" cy="2103120"/>
          </a:xfrm>
          <a:prstGeom prst="rect">
            <a:avLst/>
          </a:prstGeom>
          <a:solidFill>
            <a:srgbClr val="2563EB"/>
          </a:solidFill>
          <a:ln w="12700">
            <a:solidFill>
              <a:srgbClr val="2563EB"/>
            </a:solidFill>
            <a:prstDash val="solid"/>
          </a:ln>
        </p:spPr>
      </p:sp>
      <p:sp>
        <p:nvSpPr>
          <p:cNvPr id="17" name="Text 15"/>
          <p:cNvSpPr/>
          <p:nvPr/>
        </p:nvSpPr>
        <p:spPr>
          <a:xfrm>
            <a:off x="454456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One endpoint</a:t>
            </a:r>
            <a:endParaRPr lang="en-US" sz="1200" dirty="0"/>
          </a:p>
        </p:txBody>
      </p:sp>
      <p:sp>
        <p:nvSpPr>
          <p:cNvPr id="18" name="Text 16"/>
          <p:cNvSpPr/>
          <p:nvPr/>
        </p:nvSpPr>
        <p:spPr>
          <a:xfrm>
            <a:off x="454456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Agents connect to one MCP-compatible endpoint; tools change without touching agent code.</a:t>
            </a:r>
            <a:endParaRPr lang="en-US" sz="920" dirty="0"/>
          </a:p>
        </p:txBody>
      </p:sp>
      <p:sp>
        <p:nvSpPr>
          <p:cNvPr id="19" name="Shape 17"/>
          <p:cNvSpPr/>
          <p:nvPr/>
        </p:nvSpPr>
        <p:spPr>
          <a:xfrm>
            <a:off x="8046720" y="1554480"/>
            <a:ext cx="352044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20" name="Shape 18"/>
          <p:cNvSpPr/>
          <p:nvPr/>
        </p:nvSpPr>
        <p:spPr>
          <a:xfrm>
            <a:off x="8046720" y="1554480"/>
            <a:ext cx="64008" cy="2103120"/>
          </a:xfrm>
          <a:prstGeom prst="rect">
            <a:avLst/>
          </a:prstGeom>
          <a:solidFill>
            <a:srgbClr val="F59E0B"/>
          </a:solidFill>
          <a:ln w="12700">
            <a:solidFill>
              <a:srgbClr val="F59E0B"/>
            </a:solidFill>
            <a:prstDash val="solid"/>
          </a:ln>
        </p:spPr>
      </p:sp>
      <p:sp>
        <p:nvSpPr>
          <p:cNvPr id="21" name="Text 19"/>
          <p:cNvSpPr/>
          <p:nvPr/>
        </p:nvSpPr>
        <p:spPr>
          <a:xfrm>
            <a:off x="8247888" y="170078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Versioning</a:t>
            </a:r>
            <a:endParaRPr lang="en-US" sz="1200" dirty="0"/>
          </a:p>
        </p:txBody>
      </p:sp>
      <p:sp>
        <p:nvSpPr>
          <p:cNvPr id="22" name="Text 20"/>
          <p:cNvSpPr/>
          <p:nvPr/>
        </p:nvSpPr>
        <p:spPr>
          <a:xfrm>
            <a:off x="8247888" y="2011680"/>
            <a:ext cx="3200400" cy="155448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Promote a new toolbox version to default; consuming agents pick it up automatically.</a:t>
            </a:r>
            <a:endParaRPr lang="en-US" sz="920" dirty="0"/>
          </a:p>
        </p:txBody>
      </p:sp>
      <p:sp>
        <p:nvSpPr>
          <p:cNvPr id="23" name="Text 21"/>
          <p:cNvSpPr/>
          <p:nvPr/>
        </p:nvSpPr>
        <p:spPr>
          <a:xfrm>
            <a:off x="640080" y="4023360"/>
            <a:ext cx="10881360" cy="365760"/>
          </a:xfrm>
          <a:prstGeom prst="rect">
            <a:avLst/>
          </a:prstGeom>
          <a:noFill/>
          <a:ln/>
        </p:spPr>
        <p:txBody>
          <a:bodyPr wrap="square" lIns="0" tIns="0" rIns="0" bIns="0" rtlCol="0" anchor="ctr"/>
          <a:lstStyle/>
          <a:p>
            <a:pPr indent="0" marL="0">
              <a:buNone/>
            </a:pPr>
            <a:r>
              <a:rPr lang="en-US" sz="1200" i="1" dirty="0">
                <a:solidFill>
                  <a:srgbClr val="64748B"/>
                </a:solidFill>
                <a:latin typeface="Aptos" pitchFamily="34" charset="0"/>
                <a:ea typeface="Aptos" pitchFamily="34" charset="-122"/>
                <a:cs typeface="Aptos" pitchFamily="34" charset="-120"/>
              </a:rPr>
              <a:t>Microsoft-recommended pattern - reusable beyond this use case.</a:t>
            </a:r>
            <a:endParaRPr lang="en-US" sz="12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CHAPTER 8 | GOVERNANCE, ACCESS, PATTERNS</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Governance &amp; access angle</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Text 9"/>
          <p:cNvSpPr/>
          <p:nvPr/>
        </p:nvSpPr>
        <p:spPr>
          <a:xfrm>
            <a:off x="822960" y="1554480"/>
            <a:ext cx="10607040" cy="2377440"/>
          </a:xfrm>
          <a:prstGeom prst="rect">
            <a:avLst/>
          </a:prstGeom>
          <a:noFill/>
          <a:ln/>
        </p:spPr>
        <p:txBody>
          <a:bodyPr wrap="square" lIns="381" tIns="381" rIns="381" bIns="381" rtlCol="0" anchor="ctr">
            <a:normAutofit/>
          </a:bodyPr>
          <a:lstStyle/>
          <a:p>
            <a:pPr marL="152400" indent="-152400">
              <a:buSzPct val="100000"/>
              <a:buChar char="•"/>
            </a:pPr>
            <a:r>
              <a:rPr lang="en-US" sz="1350" dirty="0">
                <a:solidFill>
                  <a:srgbClr val="334155"/>
                </a:solidFill>
                <a:latin typeface="Aptos" pitchFamily="34" charset="0"/>
                <a:ea typeface="Aptos" pitchFamily="34" charset="-122"/>
                <a:cs typeface="Aptos" pitchFamily="34" charset="-120"/>
              </a:rPr>
              <a:t>Governance: centralized authentication, guardrails, observability, and version management per toolbox.</a:t>
            </a:r>
            <a:endParaRPr lang="en-US" sz="1350" dirty="0"/>
          </a:p>
          <a:p>
            <a:pPr marL="152400" indent="-152400">
              <a:buSzPct val="100000"/>
              <a:buChar char="•"/>
            </a:pPr>
            <a:r>
              <a:rPr lang="en-US" sz="1350" dirty="0">
                <a:solidFill>
                  <a:srgbClr val="334155"/>
                </a:solidFill>
                <a:latin typeface="Aptos" pitchFamily="34" charset="0"/>
                <a:ea typeface="Aptos" pitchFamily="34" charset="-122"/>
                <a:cs typeface="Aptos" pitchFamily="34" charset="-120"/>
              </a:rPr>
              <a:t>Access: each tool carries its own scope and audit requirement; least privilege stays intact.</a:t>
            </a:r>
            <a:endParaRPr lang="en-US" sz="1350" dirty="0"/>
          </a:p>
          <a:p>
            <a:pPr marL="152400" indent="-152400">
              <a:buSzPct val="100000"/>
              <a:buChar char="•"/>
            </a:pPr>
            <a:r>
              <a:rPr lang="en-US" sz="1350" dirty="0">
                <a:solidFill>
                  <a:srgbClr val="334155"/>
                </a:solidFill>
                <a:latin typeface="Aptos" pitchFamily="34" charset="0"/>
                <a:ea typeface="Aptos" pitchFamily="34" charset="-122"/>
                <a:cs typeface="Aptos" pitchFamily="34" charset="-120"/>
              </a:rPr>
              <a:t>Pattern: reuse with governance - the same tool, governed once, consumed by many agents.</a:t>
            </a:r>
            <a:endParaRPr lang="en-US" sz="1350" dirty="0"/>
          </a:p>
        </p:txBody>
      </p:sp>
      <p:sp>
        <p:nvSpPr>
          <p:cNvPr id="12" name="Shape 10"/>
          <p:cNvSpPr/>
          <p:nvPr/>
        </p:nvSpPr>
        <p:spPr>
          <a:xfrm>
            <a:off x="640080" y="4617720"/>
            <a:ext cx="10881360" cy="960120"/>
          </a:xfrm>
          <a:prstGeom prst="roundRect">
            <a:avLst>
              <a:gd name="adj" fmla="val 9524"/>
            </a:avLst>
          </a:prstGeom>
          <a:solidFill>
            <a:srgbClr val="FFFBEB"/>
          </a:solidFill>
          <a:ln w="12700">
            <a:solidFill>
              <a:srgbClr val="FDE68A"/>
            </a:solidFill>
            <a:prstDash val="solid"/>
          </a:ln>
        </p:spPr>
      </p:sp>
      <p:sp>
        <p:nvSpPr>
          <p:cNvPr id="13" name="Text 11"/>
          <p:cNvSpPr/>
          <p:nvPr/>
        </p:nvSpPr>
        <p:spPr>
          <a:xfrm>
            <a:off x="868680" y="4773168"/>
            <a:ext cx="1463040" cy="219456"/>
          </a:xfrm>
          <a:prstGeom prst="rect">
            <a:avLst/>
          </a:prstGeom>
          <a:noFill/>
          <a:ln/>
        </p:spPr>
        <p:txBody>
          <a:bodyPr wrap="square" lIns="0" tIns="0" rIns="0" bIns="0" rtlCol="0" anchor="ctr"/>
          <a:lstStyle/>
          <a:p>
            <a:pPr indent="0" marL="0">
              <a:buNone/>
            </a:pPr>
            <a:r>
              <a:rPr lang="en-US" sz="1000" b="1" dirty="0">
                <a:solidFill>
                  <a:srgbClr val="92400E"/>
                </a:solidFill>
                <a:latin typeface="Aptos" pitchFamily="34" charset="0"/>
                <a:ea typeface="Aptos" pitchFamily="34" charset="-122"/>
                <a:cs typeface="Aptos" pitchFamily="34" charset="-120"/>
              </a:rPr>
              <a:t>Facilitator</a:t>
            </a:r>
            <a:endParaRPr lang="en-US" sz="1000" dirty="0"/>
          </a:p>
        </p:txBody>
      </p:sp>
      <p:sp>
        <p:nvSpPr>
          <p:cNvPr id="14" name="Text 12"/>
          <p:cNvSpPr/>
          <p:nvPr/>
        </p:nvSpPr>
        <p:spPr>
          <a:xfrm>
            <a:off x="868680" y="5029200"/>
            <a:ext cx="10424160" cy="457200"/>
          </a:xfrm>
          <a:prstGeom prst="rect">
            <a:avLst/>
          </a:prstGeom>
          <a:noFill/>
          <a:ln/>
        </p:spPr>
        <p:txBody>
          <a:bodyPr wrap="square" lIns="0" tIns="0" rIns="0" bIns="0" rtlCol="0" anchor="ctr">
            <a:normAutofit/>
          </a:bodyPr>
          <a:lstStyle/>
          <a:p>
            <a:pPr indent="0" marL="0">
              <a:buNone/>
            </a:pPr>
            <a:r>
              <a:rPr lang="en-US" sz="1150" dirty="0">
                <a:solidFill>
                  <a:srgbClr val="334155"/>
                </a:solidFill>
                <a:latin typeface="Aptos" pitchFamily="34" charset="0"/>
                <a:ea typeface="Aptos" pitchFamily="34" charset="-122"/>
                <a:cs typeface="Aptos" pitchFamily="34" charset="-120"/>
              </a:rPr>
              <a:t>Live cue: show the toolbox manifests + scopes; explain reuse across agents. Checkpoint: chapter-09-toolboxes.</a:t>
            </a:r>
            <a:endParaRPr lang="en-US" sz="115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8686800" cy="201168"/>
          </a:xfrm>
          <a:prstGeom prst="rect">
            <a:avLst/>
          </a:prstGeom>
          <a:noFill/>
          <a:ln/>
        </p:spPr>
        <p:txBody>
          <a:bodyPr wrap="square" lIns="0" tIns="0" rIns="0" bIns="0" rtlCol="0" anchor="ctr"/>
          <a:lstStyle/>
          <a:p>
            <a:pPr indent="0" marL="0">
              <a:buNone/>
            </a:pPr>
            <a:r>
              <a:rPr lang="en-US" sz="800" b="1" dirty="0">
                <a:solidFill>
                  <a:srgbClr val="0F766E"/>
                </a:solidFill>
                <a:latin typeface="Aptos" pitchFamily="34" charset="0"/>
                <a:ea typeface="Aptos" pitchFamily="34" charset="-122"/>
                <a:cs typeface="Aptos" pitchFamily="34" charset="-120"/>
              </a:rPr>
              <a:t>RECAP | TELL ME WHAT YOU LEARNED</a:t>
            </a:r>
            <a:endParaRPr lang="en-US" sz="800" dirty="0"/>
          </a:p>
        </p:txBody>
      </p:sp>
      <p:sp>
        <p:nvSpPr>
          <p:cNvPr id="3" name="Text 1"/>
          <p:cNvSpPr/>
          <p:nvPr/>
        </p:nvSpPr>
        <p:spPr>
          <a:xfrm>
            <a:off x="548640" y="658368"/>
            <a:ext cx="10972800" cy="502920"/>
          </a:xfrm>
          <a:prstGeom prst="rect">
            <a:avLst/>
          </a:prstGeom>
          <a:noFill/>
          <a:ln/>
        </p:spPr>
        <p:txBody>
          <a:bodyPr wrap="square" lIns="0" tIns="0" rIns="0" bIns="0" rtlCol="0" anchor="ctr">
            <a:normAutofit/>
          </a:bodyPr>
          <a:lstStyle/>
          <a:p>
            <a:pPr indent="0" marL="0">
              <a:buNone/>
            </a:pPr>
            <a:r>
              <a:rPr lang="en-US" sz="2400" b="1" dirty="0">
                <a:solidFill>
                  <a:srgbClr val="0B1220"/>
                </a:solidFill>
                <a:latin typeface="Aptos Display" pitchFamily="34" charset="0"/>
                <a:ea typeface="Aptos Display" pitchFamily="34" charset="-122"/>
                <a:cs typeface="Aptos Display" pitchFamily="34" charset="-120"/>
              </a:rPr>
              <a:t>Workshop recap: from prototype to governed pilot</a:t>
            </a:r>
            <a:endParaRPr lang="en-US" sz="2400" dirty="0"/>
          </a:p>
        </p:txBody>
      </p:sp>
      <p:sp>
        <p:nvSpPr>
          <p:cNvPr id="4" name="Shape 2"/>
          <p:cNvSpPr/>
          <p:nvPr/>
        </p:nvSpPr>
        <p:spPr>
          <a:xfrm>
            <a:off x="548640" y="1243584"/>
            <a:ext cx="11064240" cy="0"/>
          </a:xfrm>
          <a:prstGeom prst="line">
            <a:avLst/>
          </a:prstGeom>
          <a:noFill/>
          <a:ln w="12700">
            <a:solidFill>
              <a:srgbClr val="CBD5E1"/>
            </a:solidFill>
            <a:prstDash val="solid"/>
          </a:ln>
        </p:spPr>
      </p:sp>
      <p:sp>
        <p:nvSpPr>
          <p:cNvPr id="5" name="Shape 3"/>
          <p:cNvSpPr/>
          <p:nvPr/>
        </p:nvSpPr>
        <p:spPr>
          <a:xfrm>
            <a:off x="8732520" y="402336"/>
            <a:ext cx="914400" cy="292608"/>
          </a:xfrm>
          <a:prstGeom prst="roundRect">
            <a:avLst>
              <a:gd name="adj" fmla="val 25000"/>
            </a:avLst>
          </a:prstGeom>
          <a:solidFill>
            <a:srgbClr val="0F766E"/>
          </a:solidFill>
          <a:ln w="12700">
            <a:solidFill>
              <a:srgbClr val="0F766E">
                <a:alpha val="0"/>
              </a:srgbClr>
            </a:solidFill>
            <a:prstDash val="solid"/>
          </a:ln>
        </p:spPr>
      </p:sp>
      <p:sp>
        <p:nvSpPr>
          <p:cNvPr id="6" name="Text 4"/>
          <p:cNvSpPr/>
          <p:nvPr/>
        </p:nvSpPr>
        <p:spPr>
          <a:xfrm>
            <a:off x="88239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Governance</a:t>
            </a:r>
            <a:endParaRPr lang="en-US" sz="720" dirty="0"/>
          </a:p>
        </p:txBody>
      </p:sp>
      <p:sp>
        <p:nvSpPr>
          <p:cNvPr id="7" name="Shape 5"/>
          <p:cNvSpPr/>
          <p:nvPr/>
        </p:nvSpPr>
        <p:spPr>
          <a:xfrm>
            <a:off x="9710928" y="402336"/>
            <a:ext cx="786384" cy="292608"/>
          </a:xfrm>
          <a:prstGeom prst="roundRect">
            <a:avLst>
              <a:gd name="adj" fmla="val 25000"/>
            </a:avLst>
          </a:prstGeom>
          <a:solidFill>
            <a:srgbClr val="7C3AED"/>
          </a:solidFill>
          <a:ln w="12700">
            <a:solidFill>
              <a:srgbClr val="7C3AED">
                <a:alpha val="0"/>
              </a:srgbClr>
            </a:solidFill>
            <a:prstDash val="solid"/>
          </a:ln>
        </p:spPr>
      </p:sp>
      <p:sp>
        <p:nvSpPr>
          <p:cNvPr id="8" name="Text 6"/>
          <p:cNvSpPr/>
          <p:nvPr/>
        </p:nvSpPr>
        <p:spPr>
          <a:xfrm>
            <a:off x="9802368" y="466344"/>
            <a:ext cx="603504"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Access</a:t>
            </a:r>
            <a:endParaRPr lang="en-US" sz="720" dirty="0"/>
          </a:p>
        </p:txBody>
      </p:sp>
      <p:sp>
        <p:nvSpPr>
          <p:cNvPr id="9" name="Shape 7"/>
          <p:cNvSpPr/>
          <p:nvPr/>
        </p:nvSpPr>
        <p:spPr>
          <a:xfrm>
            <a:off x="10561320" y="402336"/>
            <a:ext cx="914400" cy="292608"/>
          </a:xfrm>
          <a:prstGeom prst="roundRect">
            <a:avLst>
              <a:gd name="adj" fmla="val 25000"/>
            </a:avLst>
          </a:prstGeom>
          <a:solidFill>
            <a:srgbClr val="F59E0B"/>
          </a:solidFill>
          <a:ln w="12700">
            <a:solidFill>
              <a:srgbClr val="F59E0B">
                <a:alpha val="0"/>
              </a:srgbClr>
            </a:solidFill>
            <a:prstDash val="solid"/>
          </a:ln>
        </p:spPr>
      </p:sp>
      <p:sp>
        <p:nvSpPr>
          <p:cNvPr id="10" name="Text 8"/>
          <p:cNvSpPr/>
          <p:nvPr/>
        </p:nvSpPr>
        <p:spPr>
          <a:xfrm>
            <a:off x="10652760" y="466344"/>
            <a:ext cx="731520" cy="128016"/>
          </a:xfrm>
          <a:prstGeom prst="rect">
            <a:avLst/>
          </a:prstGeom>
          <a:noFill/>
          <a:ln/>
        </p:spPr>
        <p:txBody>
          <a:bodyPr wrap="square" lIns="0" tIns="0" rIns="0" bIns="0" rtlCol="0" anchor="ctr"/>
          <a:lstStyle/>
          <a:p>
            <a:pPr algn="ctr" indent="0" marL="0">
              <a:buNone/>
            </a:pPr>
            <a:r>
              <a:rPr lang="en-US" sz="720" b="1" dirty="0">
                <a:solidFill>
                  <a:srgbClr val="FFFFFF"/>
                </a:solidFill>
                <a:latin typeface="Aptos" pitchFamily="34" charset="0"/>
                <a:ea typeface="Aptos" pitchFamily="34" charset="-122"/>
                <a:cs typeface="Aptos" pitchFamily="34" charset="-120"/>
              </a:rPr>
              <a:t>Patterns</a:t>
            </a:r>
            <a:endParaRPr lang="en-US" sz="720" dirty="0"/>
          </a:p>
        </p:txBody>
      </p:sp>
      <p:sp>
        <p:nvSpPr>
          <p:cNvPr id="11" name="Shape 9"/>
          <p:cNvSpPr/>
          <p:nvPr/>
        </p:nvSpPr>
        <p:spPr>
          <a:xfrm>
            <a:off x="640080" y="1463040"/>
            <a:ext cx="352044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2" name="Shape 10"/>
          <p:cNvSpPr/>
          <p:nvPr/>
        </p:nvSpPr>
        <p:spPr>
          <a:xfrm>
            <a:off x="640080" y="1463040"/>
            <a:ext cx="64008" cy="2011680"/>
          </a:xfrm>
          <a:prstGeom prst="rect">
            <a:avLst/>
          </a:prstGeom>
          <a:solidFill>
            <a:srgbClr val="0F766E"/>
          </a:solidFill>
          <a:ln w="12700">
            <a:solidFill>
              <a:srgbClr val="0F766E"/>
            </a:solidFill>
            <a:prstDash val="solid"/>
          </a:ln>
        </p:spPr>
      </p:sp>
      <p:sp>
        <p:nvSpPr>
          <p:cNvPr id="13" name="Text 11"/>
          <p:cNvSpPr/>
          <p:nvPr/>
        </p:nvSpPr>
        <p:spPr>
          <a:xfrm>
            <a:off x="841248" y="160934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Governance</a:t>
            </a:r>
            <a:endParaRPr lang="en-US" sz="1200" dirty="0"/>
          </a:p>
        </p:txBody>
      </p:sp>
      <p:sp>
        <p:nvSpPr>
          <p:cNvPr id="14" name="Text 12"/>
          <p:cNvSpPr/>
          <p:nvPr/>
        </p:nvSpPr>
        <p:spPr>
          <a:xfrm>
            <a:off x="841248" y="1920240"/>
            <a:ext cx="3200400" cy="146304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Owners, policy, audit, evaluation, and human approval are wired into the architecture - you can point to each one.</a:t>
            </a:r>
            <a:endParaRPr lang="en-US" sz="920" dirty="0"/>
          </a:p>
        </p:txBody>
      </p:sp>
      <p:sp>
        <p:nvSpPr>
          <p:cNvPr id="15" name="Shape 13"/>
          <p:cNvSpPr/>
          <p:nvPr/>
        </p:nvSpPr>
        <p:spPr>
          <a:xfrm>
            <a:off x="4343400" y="1463040"/>
            <a:ext cx="352044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16" name="Shape 14"/>
          <p:cNvSpPr/>
          <p:nvPr/>
        </p:nvSpPr>
        <p:spPr>
          <a:xfrm>
            <a:off x="4343400" y="1463040"/>
            <a:ext cx="64008" cy="2011680"/>
          </a:xfrm>
          <a:prstGeom prst="rect">
            <a:avLst/>
          </a:prstGeom>
          <a:solidFill>
            <a:srgbClr val="7C3AED"/>
          </a:solidFill>
          <a:ln w="12700">
            <a:solidFill>
              <a:srgbClr val="7C3AED"/>
            </a:solidFill>
            <a:prstDash val="solid"/>
          </a:ln>
        </p:spPr>
      </p:sp>
      <p:sp>
        <p:nvSpPr>
          <p:cNvPr id="17" name="Text 15"/>
          <p:cNvSpPr/>
          <p:nvPr/>
        </p:nvSpPr>
        <p:spPr>
          <a:xfrm>
            <a:off x="4544568" y="160934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Access</a:t>
            </a:r>
            <a:endParaRPr lang="en-US" sz="1200" dirty="0"/>
          </a:p>
        </p:txBody>
      </p:sp>
      <p:sp>
        <p:nvSpPr>
          <p:cNvPr id="18" name="Text 16"/>
          <p:cNvSpPr/>
          <p:nvPr/>
        </p:nvSpPr>
        <p:spPr>
          <a:xfrm>
            <a:off x="4544568" y="1920240"/>
            <a:ext cx="3200400" cy="146304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Least privilege at every hop, PHI minimized by default, case-scoped tool authorization, deny by default.</a:t>
            </a:r>
            <a:endParaRPr lang="en-US" sz="920" dirty="0"/>
          </a:p>
        </p:txBody>
      </p:sp>
      <p:sp>
        <p:nvSpPr>
          <p:cNvPr id="19" name="Shape 17"/>
          <p:cNvSpPr/>
          <p:nvPr/>
        </p:nvSpPr>
        <p:spPr>
          <a:xfrm>
            <a:off x="8046720" y="1463040"/>
            <a:ext cx="352044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25400" dist="50800" dir="2700000">
              <a:srgbClr val="94A3B8">
                <a:alpha val="12000"/>
              </a:srgbClr>
            </a:outerShdw>
          </a:effectLst>
        </p:spPr>
      </p:sp>
      <p:sp>
        <p:nvSpPr>
          <p:cNvPr id="20" name="Shape 18"/>
          <p:cNvSpPr/>
          <p:nvPr/>
        </p:nvSpPr>
        <p:spPr>
          <a:xfrm>
            <a:off x="8046720" y="1463040"/>
            <a:ext cx="64008" cy="2011680"/>
          </a:xfrm>
          <a:prstGeom prst="rect">
            <a:avLst/>
          </a:prstGeom>
          <a:solidFill>
            <a:srgbClr val="F59E0B"/>
          </a:solidFill>
          <a:ln w="12700">
            <a:solidFill>
              <a:srgbClr val="F59E0B"/>
            </a:solidFill>
            <a:prstDash val="solid"/>
          </a:ln>
        </p:spPr>
      </p:sp>
      <p:sp>
        <p:nvSpPr>
          <p:cNvPr id="21" name="Text 19"/>
          <p:cNvSpPr/>
          <p:nvPr/>
        </p:nvSpPr>
        <p:spPr>
          <a:xfrm>
            <a:off x="8247888" y="1609344"/>
            <a:ext cx="3200400" cy="219456"/>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ptos" pitchFamily="34" charset="0"/>
                <a:ea typeface="Aptos" pitchFamily="34" charset="-122"/>
                <a:cs typeface="Aptos" pitchFamily="34" charset="-120"/>
              </a:rPr>
              <a:t>Patterns</a:t>
            </a:r>
            <a:endParaRPr lang="en-US" sz="1200" dirty="0"/>
          </a:p>
        </p:txBody>
      </p:sp>
      <p:sp>
        <p:nvSpPr>
          <p:cNvPr id="22" name="Text 20"/>
          <p:cNvSpPr/>
          <p:nvPr/>
        </p:nvSpPr>
        <p:spPr>
          <a:xfrm>
            <a:off x="8247888" y="1920240"/>
            <a:ext cx="3200400" cy="1463040"/>
          </a:xfrm>
          <a:prstGeom prst="rect">
            <a:avLst/>
          </a:prstGeom>
          <a:noFill/>
          <a:ln/>
        </p:spPr>
        <p:txBody>
          <a:bodyPr wrap="square" lIns="254" tIns="254" rIns="254" bIns="254" rtlCol="0" anchor="t">
            <a:normAutofit/>
          </a:bodyPr>
          <a:lstStyle/>
          <a:p>
            <a:pPr indent="0" marL="0">
              <a:buNone/>
            </a:pPr>
            <a:r>
              <a:rPr lang="en-US" sz="920" dirty="0">
                <a:solidFill>
                  <a:srgbClr val="334155"/>
                </a:solidFill>
                <a:latin typeface="Aptos" pitchFamily="34" charset="0"/>
                <a:ea typeface="Aptos" pitchFamily="34" charset="-122"/>
                <a:cs typeface="Aptos" pitchFamily="34" charset="-120"/>
              </a:rPr>
              <a:t>Hosted agents, MCP/Work IQ, guardrails, Foundry IQ RAG, observability, HITL, toolboxes - reusable building blocks.</a:t>
            </a:r>
            <a:endParaRPr lang="en-US" sz="920" dirty="0"/>
          </a:p>
        </p:txBody>
      </p:sp>
      <p:sp>
        <p:nvSpPr>
          <p:cNvPr id="23" name="Text 21"/>
          <p:cNvSpPr/>
          <p:nvPr/>
        </p:nvSpPr>
        <p:spPr>
          <a:xfrm>
            <a:off x="640080" y="3794760"/>
            <a:ext cx="10881360" cy="457200"/>
          </a:xfrm>
          <a:prstGeom prst="rect">
            <a:avLst/>
          </a:prstGeom>
          <a:noFill/>
          <a:ln/>
        </p:spPr>
        <p:txBody>
          <a:bodyPr wrap="square" lIns="0" tIns="0" rIns="0" bIns="0" rtlCol="0" anchor="ctr">
            <a:normAutofit/>
          </a:bodyPr>
          <a:lstStyle/>
          <a:p>
            <a:pPr algn="ctr" indent="0" marL="0">
              <a:buNone/>
            </a:pPr>
            <a:r>
              <a:rPr lang="en-US" sz="1600" b="1" dirty="0">
                <a:solidFill>
                  <a:srgbClr val="0B1220"/>
                </a:solidFill>
                <a:latin typeface="Aptos Display" pitchFamily="34" charset="0"/>
                <a:ea typeface="Aptos Display" pitchFamily="34" charset="-122"/>
                <a:cs typeface="Aptos Display" pitchFamily="34" charset="-120"/>
              </a:rPr>
              <a:t>You can now answer all six questions for any agent - and take this one toward a pilot.</a:t>
            </a:r>
            <a:endParaRPr lang="en-US" sz="1600" dirty="0"/>
          </a:p>
        </p:txBody>
      </p:sp>
      <p:sp>
        <p:nvSpPr>
          <p:cNvPr id="24" name="Text 22"/>
          <p:cNvSpPr/>
          <p:nvPr/>
        </p:nvSpPr>
        <p:spPr>
          <a:xfrm>
            <a:off x="822960" y="4389120"/>
            <a:ext cx="10607040" cy="1280160"/>
          </a:xfrm>
          <a:prstGeom prst="rect">
            <a:avLst/>
          </a:prstGeom>
          <a:noFill/>
          <a:ln/>
        </p:spPr>
        <p:txBody>
          <a:bodyPr wrap="square" lIns="381" tIns="381" rIns="381" bIns="381" rtlCol="0" anchor="ctr">
            <a:normAutofit/>
          </a:bodyPr>
          <a:lstStyle/>
          <a:p>
            <a:pPr marL="152400" indent="-152400">
              <a:buSzPct val="100000"/>
              <a:buChar char="•"/>
            </a:pPr>
            <a:r>
              <a:rPr lang="en-US" sz="1200" dirty="0">
                <a:solidFill>
                  <a:srgbClr val="334155"/>
                </a:solidFill>
                <a:latin typeface="Aptos" pitchFamily="34" charset="0"/>
                <a:ea typeface="Aptos" pitchFamily="34" charset="-122"/>
                <a:cs typeface="Aptos" pitchFamily="34" charset="-120"/>
              </a:rPr>
              <a:t>Next: fill the governance plan and human-approval matrix; capture owners.</a:t>
            </a:r>
            <a:endParaRPr lang="en-US" sz="1200" dirty="0"/>
          </a:p>
          <a:p>
            <a:pPr marL="152400" indent="-152400">
              <a:buSzPct val="100000"/>
              <a:buChar char="•"/>
            </a:pPr>
            <a:r>
              <a:rPr lang="en-US" sz="1200" dirty="0">
                <a:solidFill>
                  <a:srgbClr val="334155"/>
                </a:solidFill>
                <a:latin typeface="Aptos" pitchFamily="34" charset="0"/>
                <a:ea typeface="Aptos" pitchFamily="34" charset="-122"/>
                <a:cs typeface="Aptos" pitchFamily="34" charset="-120"/>
              </a:rPr>
              <a:t>Run the evaluation gates (golden pass, adversarial fail-closed) before pilot.</a:t>
            </a:r>
            <a:endParaRPr lang="en-US" sz="1200" dirty="0"/>
          </a:p>
          <a:p>
            <a:pPr marL="152400" indent="-152400">
              <a:buSzPct val="100000"/>
              <a:buChar char="•"/>
            </a:pPr>
            <a:r>
              <a:rPr lang="en-US" sz="1200" dirty="0">
                <a:solidFill>
                  <a:srgbClr val="334155"/>
                </a:solidFill>
                <a:latin typeface="Aptos" pitchFamily="34" charset="0"/>
                <a:ea typeface="Aptos" pitchFamily="34" charset="-122"/>
                <a:cs typeface="Aptos" pitchFamily="34" charset="-120"/>
              </a:rPr>
              <a:t>Roadmap: workshop -&gt; reference architecture -&gt; pilot -&gt; production readiness -&gt; scaled governance.</a:t>
            </a:r>
            <a:endParaRPr lang="en-US" sz="12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solidFill>
            <a:prstDash val="solid"/>
          </a:ln>
        </p:spPr>
      </p:sp>
      <p:sp>
        <p:nvSpPr>
          <p:cNvPr id="3" name="Text 1"/>
          <p:cNvSpPr/>
          <p:nvPr/>
        </p:nvSpPr>
        <p:spPr>
          <a:xfrm>
            <a:off x="731520" y="219456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Foundry Phase 2</a:t>
            </a:r>
            <a:endParaRPr lang="en-US" sz="4000" dirty="0"/>
          </a:p>
        </p:txBody>
      </p:sp>
      <p:sp>
        <p:nvSpPr>
          <p:cNvPr id="4" name="Text 2"/>
          <p:cNvSpPr/>
          <p:nvPr/>
        </p:nvSpPr>
        <p:spPr>
          <a:xfrm>
            <a:off x="749808" y="3200400"/>
            <a:ext cx="10058400" cy="548640"/>
          </a:xfrm>
          <a:prstGeom prst="rect">
            <a:avLst/>
          </a:prstGeom>
          <a:noFill/>
          <a:ln/>
        </p:spPr>
        <p:txBody>
          <a:bodyPr wrap="square" lIns="0" tIns="0" rIns="0" bIns="0" rtlCol="0" anchor="ctr"/>
          <a:lstStyle/>
          <a:p>
            <a:pPr indent="0" marL="0">
              <a:buNone/>
            </a:pPr>
            <a:r>
              <a:rPr lang="en-US" sz="2000" dirty="0">
                <a:solidFill>
                  <a:srgbClr val="CCFBF1"/>
                </a:solidFill>
                <a:latin typeface="Aptos" pitchFamily="34" charset="0"/>
                <a:ea typeface="Aptos" pitchFamily="34" charset="-122"/>
                <a:cs typeface="Aptos" pitchFamily="34" charset="-120"/>
              </a:rPr>
              <a:t>Governance. Access. Patterns. Now take it to pilot.</a:t>
            </a:r>
            <a:endParaRPr lang="en-US" sz="2000" dirty="0"/>
          </a:p>
        </p:txBody>
      </p:sp>
      <p:sp>
        <p:nvSpPr>
          <p:cNvPr id="5" name="Text 3"/>
          <p:cNvSpPr/>
          <p:nvPr/>
        </p:nvSpPr>
        <p:spPr>
          <a:xfrm>
            <a:off x="749808" y="4023360"/>
            <a:ext cx="5486400" cy="457200"/>
          </a:xfrm>
          <a:prstGeom prst="rect">
            <a:avLst/>
          </a:prstGeom>
          <a:noFill/>
          <a:ln/>
        </p:spPr>
        <p:txBody>
          <a:bodyPr wrap="square" lIns="0" tIns="0" rIns="0" bIns="0" rtlCol="0" anchor="ctr"/>
          <a:lstStyle/>
          <a:p>
            <a:pPr indent="0" marL="0">
              <a:buNone/>
            </a:pPr>
            <a:r>
              <a:rPr lang="en-US" sz="1600" dirty="0">
                <a:solidFill>
                  <a:srgbClr val="94A3B8"/>
                </a:solidFill>
                <a:latin typeface="Aptos" pitchFamily="34" charset="0"/>
                <a:ea typeface="Aptos" pitchFamily="34" charset="-122"/>
                <a:cs typeface="Aptos"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Foundry Phase 2: Governed Agents in Practice</dc:title>
  <dc:subject>Foundry Phase 2 Facilitator Deck</dc:subject>
  <dc:creator>Microsoft Scout</dc:creator>
  <cp:lastModifiedBy>Microsoft Scout</cp:lastModifiedBy>
  <cp:revision>1</cp:revision>
  <dcterms:created xsi:type="dcterms:W3CDTF">2026-09-28T20:44:21Z</dcterms:created>
  <dcterms:modified xsi:type="dcterms:W3CDTF">2026-09-28T20:44:21Z</dcterms:modified>
</cp:coreProperties>
</file>