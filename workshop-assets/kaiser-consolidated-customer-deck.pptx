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warmly. This is a build workshop, not slideware - we deploy and operate a governed agent together over two days, sequenced around what Kaiser told us matters most.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Working run sheet captured from the planning Loop (shown up front). Owners as assigned; most session times are still being finalized (only the closeout 1:45-2:00 is fixed in the source). Note the Loop run sheet still lists BYO Registry hands-on, a product-team HA/observability call, and an SRE agent deep dive - reconcile with the 9/29 reordered narrative (these are tactical/futures in the customer deck).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two days. Emphasize the reorder: MCP + RAG + toolboxes first per your 9/29 request; hosted agents and BYO registry are tactical and come later.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Frame the two-sided story: capability plus obligation. This sets up why we spend Day 2 on guardrails, observability, and HITL.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running example. Everything downstream demos against this. Stress the human gate and that the score is consumed, not invented.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safety contract. Return to it whenever a participant asks 'but could it...'. The answer is designed-in refusal, not hope.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the lay of the land before diving into each capability. Point out identity, IaC, and the human gate as first-class, not add-ons.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Lead the priorities block with secure MCP. Give the six layers, emphasize identity-based auth and the Toolbox as the governed endpoint.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Reframe from earlier: Work IQ is a shipping, consumable service (MCP/A2A/REST), not just a pattern. Emphasize delegated-identity-only + OPA + audit as the governance story, and the clean split - our MCP for clinical tools, Work IQ for M365 context. Cost is usage-based Copilot Credits.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MCP + Work IQ architecture - what talks to what. Two routes, different identity rules: the clinical MCP route (purple, optional, internal ingress, synthetic data) and the Work IQ route (orange, Microsoft 365 cloud, proposed Entra delegated on-behalf-of). Gray = shared Azure services under the app's managed identity - NOT the delegated user identity. PROPOSED design: Work IQ endpoint/auth, permission enforcement, supported protocols, and pricing still to validate; 'no PHI to Work IQ' is a design intent to test, not a guarantee. Companion deployment diagram in repo: workshop-assets/mcp-workiq-deployment.png.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Natural follow to MCP. The message: govern once, reuse everywhere. This is also where credential rotation and policy live.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RAG core. Emphasize evidence-packet-before-answer and measure-retrieval-first; both are the differentiators from a naive RAG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RAG architecture - evidence before answer. Read three bands: prepare the knowledge (dated protocols -&gt; preparation -&gt; retrieval store / backend options), handle a case (agent -&gt; retrieve -&gt; evidence -&gt; 'enough evidence?' -&gt; grounded draft with citations OR review_required to a care-manager HITL), and offline evaluation (qrels, precision@k / recall@k / MRR) feeding retrieval improvements. INTENDED design, synthetic data only. Retrieval rules (dates, diagnosis scope, caller auth), the local-&gt;Foundry IQ/Azure AI Search backend swap, and the minimum precision threshold still to validate - retrieval confidence is not answer correctness. Companion readiness checklist in repo: workshop-assets/rag-domain-review-details.png (flow: docs/rag-retrieval-flow.md).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was the most-raised, critical question. Lead with the two instances, the reuse-for-cost answer, and the immutability caveat.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Matt's ask about SharePoint PDFs/PPT/Word/Excel. Give both patterns and stress the ACL caveat on the indexed path.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Sarita's content-safety concern. Emphasize layered tuning and the ticket path. Demo a benign clinical prompt passing and 'safe to discharge' still blocked.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Matt wanted decision criteria. Give the spectrum, the tipping factors, and why our use case is hosted.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Two-in-one: the correlation-trace story plus the PHI-protection posture. The driver is request/response content in Foundry logs.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human-control capstone. This is built and running today; demo approve, a blocked illegal transition, and SLA auto-escalation.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integrated demo. Run one case start to finish; let the trace and the human gate tell the 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that safety is testable and enforced in CI. The score-override adversarial case is the one to highlight.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a concrete, cost-aware plan. Tie each phase back to the priorities and the two-quarter window Kaiser cares about.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Leave-behind slide. Point each persona to their briefs; the facilitator cheat-sheet has the full question -&gt; doc lookup.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through-line: we do not choose between capability and governance - we build them together, sequenced around what Kaiser asked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IN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547104"/>
            <a:ext cx="12191695" cy="0"/>
          </a:xfrm>
          <a:prstGeom prst="line">
            <a:avLst/>
          </a:prstGeom>
          <a:noFill/>
          <a:ln w="16510">
            <a:solidFill>
              <a:srgbClr val="0F766E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6601968"/>
            <a:ext cx="86868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| AI Foundry workshop | Synthetic data only</a:t>
            </a:r>
            <a:endParaRPr lang="en-US" sz="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309360"/>
            <a:ext cx="12191695" cy="109728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" y="822960"/>
            <a:ext cx="274320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49808" y="886968"/>
            <a:ext cx="25603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Foundry workshop</a:t>
            </a:r>
            <a:endParaRPr lang="en-US" sz="720" dirty="0"/>
          </a:p>
        </p:txBody>
      </p:sp>
      <p:sp>
        <p:nvSpPr>
          <p:cNvPr id="6" name="Text 4"/>
          <p:cNvSpPr/>
          <p:nvPr/>
        </p:nvSpPr>
        <p:spPr>
          <a:xfrm>
            <a:off x="658368" y="1554480"/>
            <a:ext cx="107899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Governed Agents on Microsoft Foundry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676656" y="3200400"/>
            <a:ext cx="10241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Kaiser Permanente x Microsoft - a two-day, hands-on build of a governed healthcare agent, organized around your priorities.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71323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0467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Foundry IQ / RAG</a:t>
            </a:r>
            <a:endParaRPr lang="en-US" sz="720" dirty="0"/>
          </a:p>
        </p:txBody>
      </p:sp>
      <p:sp>
        <p:nvSpPr>
          <p:cNvPr id="10" name="Shape 8"/>
          <p:cNvSpPr/>
          <p:nvPr/>
        </p:nvSpPr>
        <p:spPr>
          <a:xfrm>
            <a:off x="400507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09651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+ guardrails</a:t>
            </a:r>
            <a:endParaRPr lang="en-US" sz="720" dirty="0"/>
          </a:p>
        </p:txBody>
      </p:sp>
      <p:sp>
        <p:nvSpPr>
          <p:cNvPr id="12" name="Shape 10"/>
          <p:cNvSpPr/>
          <p:nvPr/>
        </p:nvSpPr>
        <p:spPr>
          <a:xfrm>
            <a:off x="7296912" y="4297680"/>
            <a:ext cx="310896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88352" y="4361688"/>
            <a:ext cx="29260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  <p:sp>
        <p:nvSpPr>
          <p:cNvPr id="14" name="Text 12"/>
          <p:cNvSpPr/>
          <p:nvPr/>
        </p:nvSpPr>
        <p:spPr>
          <a:xfrm>
            <a:off x="713232" y="585216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only. Source-grounded on Microsoft Learn.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10896"/>
            <a:ext cx="11247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WORKSHOP AGENDA &amp; OWNERS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48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Two-day run sheet (from the planning Loop) - times being finalized; only closeout is fixed</a:t>
            </a:r>
            <a:endParaRPr lang="en-US" sz="16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7455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4114800"/>
                <a:gridCol w="2423160"/>
                <a:gridCol w="3502152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Time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Session / Topic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Owner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Core questions / outcome</a:t>
                      </a:r>
                      <a:endParaRPr lang="en-US" sz="9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292608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DAY 1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Overview - MCP Server, Work IQ, Toolbox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David Barkol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Tool boundary + scope model; secure MCP server; operationalize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Demo - MCP Server, Work IQ, Toolbox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Agentic RAG - Foundry IQ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 + 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Best practice; existing AI Search vs capability / project-host AI Search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Lunch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BYO Registry for Hosted Agents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Hands-on lab session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Hosted Agents technical deep dive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 + 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Compliance - Policy, Guardrails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Chris Lekkas + 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Guardrail + PHI-minimization matrix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 gridSpan="4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DAY 2</a:t>
                      </a:r>
                      <a:endParaRPr lang="en-US" sz="9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220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Foundry Observability - LAW + Application Insights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Lee Schuenemeyer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Product team call - HA &amp; Observability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SRE Agent deep dive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TBD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HITL - DTS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David Barkol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KP Eng TBD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1:45 - 2:00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0B1220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Closeout &amp; roadmap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334155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Shivang Vora</a:t>
                      </a:r>
                      <a:endParaRPr lang="en-US" sz="85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64748B"/>
                          </a:solidFill>
                          <a:latin typeface="Aptos" pitchFamily="34" charset="0"/>
                          <a:ea typeface="Aptos" pitchFamily="34" charset="-122"/>
                          <a:cs typeface="Aptos" pitchFamily="34" charset="-120"/>
                        </a:rPr>
                        <a:t>30 / 60 / 90-day pilot roadmap</a:t>
                      </a:r>
                      <a:endParaRPr lang="en-US" sz="800" dirty="0">
                        <a:latin typeface="Aptos" charset="0"/>
                        <a:ea typeface="Aptos" charset="0"/>
                        <a:cs typeface="Apto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 - REORDERED TO YOUR PRIORITIES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we will cover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AM - 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MCP + Work IQ and Toolboxes, then Foundry IQ / RAG. The new topics you asked to lead with; they overlap on agentic RAG.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1 PM - Safety + placement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Compliance and guardrails, then Hosted Agents + BYO Registry (tactical, so it comes after the tools and grounding).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Day 2 - Earn trust + 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LAW / App Insights with dedicated cluster + CMK + AMPLS, HITL / Durable Task Scheduler, then a governance Q&amp;A and roadmap.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Delivery rhythm each session: concept -&gt; a small live edit -&gt; run it -&gt; reveal the finished checkpoint.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runs on synthetic data; no member data touches the workshop.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Out of scope / futures: BYO Registry sample-only, BYO AKS and SRE agent (roadmap).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Lead with tools and grounding; then earn the right to trust it with guardrails, observability, and HITL.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Why governed healthcare agents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opportunity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Agents can triage discharge-transition risk, assemble evidence, and draft plans - compressing manual review while keeping clinicians in control.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obligation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a regulated setting the agent must never make a clinical determination, expand PHI, or act without a human. Trust is a design requirement, not a feature.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approach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Build the capability and the governance together: grounded retrieval, least-privilege tools, layered guardrails, human approval, and full auditability.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and explains; a care manager owns every approve / reject decision.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material step emits an audit event; the score is consumed, never invented or changed.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and adoption matter: reuse platform resources, do not duplicate spend.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whole workshop is an answer to one question: how do we make an agent we can actually trust in production?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CASE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scenario: Discharge Transition Exception Coordinator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workflow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nurse / care manager reviews tomorrow's discharges. The agent estimates transition risk, explains drivers, cites protocol, and flags open transition gaps.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human gate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drafts an exception packet; a care manager approves, requests rework, or rejects. No discharge decision is ever made by the agent.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Why this use case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'Boring is good' - a realistic, high-volume workflow that exercises RAG, MCP tools, hosted agents, guardrails, observability, and HITL end to end.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cases: P0147 (CHF, high), P0221 (COPD, medium), P0310 (pneumonia, critical -&gt; escalates).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risk score is an input the agent consumes; it does not recalculate or override it.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Open gaps: medication reconciliation, follow-up appointment, transportation support.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relatable workflow that lets every capability show up in context, not in isolation.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BOUNDARY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Non-negotiable clinical safety boundaries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agent never...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makes a clinical determination, says 'safe to discharge', changes the approved risk score, expands PHI, or acts without human approval.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Enforced in the architecture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Not just in the prompt: tool scopes, retrieval allowlists, output validation, workflow state, and telemetry all enforce the boundary.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Fail closed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Missing evidence -&gt; disclose and escalate. Illegal transition -&gt; blocked. Agent tries to approve -&gt; denied. Uncertainty routes to a human.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PHI minimization: tools return redacted / aggregated results by default.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Prohibited-claim detection catches 'safe to discharge' at the output layer.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score-override case is CRITICAL and must fail-closed in evaluation.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Prompts are necessary but not sufficient - the architecture must enforce the boundary.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DEPLOYED ON AZURE + FOUNDRY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Reference architecture (what we deploy)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+ agents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account + project, gpt-4o deployment, and eight hosted agents (orchestrator + 7 specialists) driving the workflow.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 + tools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Container Apps: a UI/backend plus a Python agent sidecar. MCP tool boundary. Azure AI Search + Storage back RAG / Foundry IQ.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Trust plane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Managed identity + RBAC, Key Vault, App Insights / LAW for tracing, and a Durable Task Scheduler for the human approval gate.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Keyless CI: GitHub Actions with OIDC, remote Terraform state, human-gated apply.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Everything is IaC (Terraform) and reproducible; synthetic data only.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single-tenant, identity-first deployment you can read, redeploy, and reason about.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Built around your 9/29 priorities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Your priorities, answered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Eight source-grounded briefs - the questions your team raised, with Microsoft's recommendation for each.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+ reuse/cost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+ PHI</a:t>
            </a:r>
            <a:endParaRPr lang="en-US" sz="720" dirty="0"/>
          </a:p>
        </p:txBody>
      </p:sp>
      <p:sp>
        <p:nvSpPr>
          <p:cNvPr id="13" name="Shape 11"/>
          <p:cNvSpPr/>
          <p:nvPr/>
        </p:nvSpPr>
        <p:spPr>
          <a:xfrm>
            <a:off x="103144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7C3AED"/>
          </a:solidFill>
          <a:ln w="12700">
            <a:solidFill>
              <a:srgbClr val="7C3AED">
                <a:alpha val="0"/>
              </a:srgbClr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4058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Observability + HITL</a:t>
            </a:r>
            <a:endParaRPr lang="en-US" sz="7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SARITA: THE CORE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MCP + Work IQ, secured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tool boundary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Patient context, protocol search, utilization history, task creation, audit - each a governed MCP tool with a schema contract and a scope.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it (6 layers)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network + dedicated MCP subnet; identity-based auth via project connections; least-privilege RBAC; a Toolbox as one governed endpoint; human approval; always-on audit.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Identity over keys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Prefer managed / agentic identity; user-Entra-token for per-user data; treat static keys as a last resort.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KP-owned tools over sensitive data should be private, internal-ingress, on their own subnet.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Work IQ is Microsoft's governed M365 context service (next slide) - the agent never bypasses user permissions.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docs/securing-mcp-servers.md.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Sarita's core question - a concrete, layered secure-MCP standard your app teams can adopt.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SARITA/MATT: ENTERPRISE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Work IQ: governed M365 work context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9659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is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Microsoft's workplace intelligence layer over Microsoft 365. Reasons over mail, Teams, files, people, calendar, Planner, and enterprise search - with built-in permission-aware governance.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9659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How you consume it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service, not something you build: a remote MCP server (about 10 generic fetch/create/update tools), plus A2A and REST. Point the agent at it.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9659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Governed by identity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4173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Entra delegated / on-behalf-of only (no app-only). User-scoped: honors permissions, sensitivity labels, and DLP; an OPA policy engine and audit run on every call.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657600"/>
            <a:ext cx="10972800" cy="19202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 our design: clinical / PHI data stays on our own governed MCP tools; Work IQ covers the surrounding M365 work context.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Usage-based billing via Copilot Credits, independent of Copilot licensing; governed and cost-managed in the M365 admin center.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docs/work-iq-overview.md (cites Microsoft Learn).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Consume Microsoft's governed M365 context layer - you do not build or secure that server yourself.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oding\governed-agents-workshop\workshop-assets\mcp-workiq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37160"/>
            <a:ext cx="1170432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PAIRS WITH MCP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Toolboxes: one governed endpoint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Configuring tools + credentials on every agent creates sprawl and drift - hard to govern, version, or rotate.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pattern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Bundle tools (MCP servers, AI Search, OpenAPI, code interpreter, A2A) into one MCP-compatible Toolbox endpoint with central credentials, versioning, and policy.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payoff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Point agents at the Toolbox; add / remove / reconfigure tools without changing agent code. Any MCP-capable runtime can consume it.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7472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Centralized authentication, governance, and versioning is the recommended way to run MCP at scale.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endpoint to secure and audit instead of per-agent credential management.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Foundry Toolboxes (see securing-mcp-servers.md).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Toolboxes turn 'many tools on many agents' into one governed surface.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RAG BEST PRACTICES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Foundry IQ and RAG done right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retrieval endpoint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IQ fans out to Blob, AI Search index, Work IQ, SharePoint, Fabric, and MCP - with permission trimming built in.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Evidence before answer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Retrieve first, build an evidence packet with claim-level citations, then generate. Missing / conflicting evidence -&gt; escalate, never guess.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first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labeled relevance judgments (qrels) to measure precision / recall before tuning prompts or models. Governance and provenance are part of the design.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Flow: retrieve -&gt; scope by diagnosis -&gt; cite -&gt; missing evidence escalates to human review, never a guess.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Permission-trim with delegated identity (OBO); never rely on a service-identity test for user isolation.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working local retrieval-eval harness ships in agent-service/eval/.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docs/rag-guidance-gpt-rag.md, docs/rag-development-patterns.md, docs/rag-retrieval-flow.md.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RAG as a production engineering pattern - grounded, measured, and governed, not a demo trick. Architecture: workshop-assets/rag-domain-architecture.png (next slide).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Coding\governed-agents-workshop\workshop-assets\rag-domain-architectu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" y="137160"/>
            <a:ext cx="11704320" cy="6583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JOSHUA / MATT: THE CRITICAL COST QUESTION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Existing vs Foundry Search + capability-host reuse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Search instances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A: the Search Foundry provisions per project for agent vector stores. B: your existing Search with your RAG indexes. Independent unless you connect them.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to save cost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Standard setup is bring-your-own: reuse existing or let Foundry provision. The cost win is one always-on Search for both agent and app indexes.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connections are immutable; build on separate indexes / DBs / containers, never the agent's own. Cosmos / Storage are consumption - little saving.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only with capacity headroom + isolation + RBAC + accepted lifecycle coupling; else go dedicated.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Usually you do NOT need a second Search - reuse one, isolate, RBAC.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Briefs: docs/capability-host-reuse-and-cost.md, docs/existing-vs-foundry-search.md.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'do we pay for another Search?' answer: usually no - reuse one, safely.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SharePoint / O365 docs as a RAG source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A - live tool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SharePoint tool via the Copilot Retrieval API: per-user OBO honors SharePoint permissions automatically, no pipeline to build.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Pattern B - indexed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tokenize / vectorize: crack Office &amp; PDF (Document Intelligence) -&gt; chunk -&gt; embed -&gt; index in AI Search -&gt; ground via Foundry IQ. Full control.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ACL caveat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indexed path does NOT auto-honor SharePoint permissions. Restrict the corpus or carry ACLs and security-trim - or use Pattern A.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A for per-user ACLs honored automatically (needs M365 Copilot / PAYG licensing).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Choose B for custom chunking / metadata or a broadly-readable corpus (e.g. approved protocols).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docs/sharepoint-o365-rag-ingest.md.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KP teams want this - A honors permissions for free, B gives control over tokenization.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SARITA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Compliance, guardrails, and healthcare content safety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Layered guardrails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Input, retrieval, tool, generation, output, and approval - each a separate control. Prompts alone are not enough.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Medical false positives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General content filters flag benign clinical language (e.g. a Tylenol question). Fix at the right layer - do not weaken safety globally.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fix + the path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App-side allowlist for clinical terms + a custom content filter on the deployment + a false-positive test suite; ticket the product team for genuine filter errors.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Request, response, and app-side filters are independent knobs - tune the right one.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Keep a healthcare false-positive suite next to the adversarial suite; both gate release.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docs/healthcare-content-safety.md.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Never fix a clinical false positive by lowering the global safety bar - tune the layer, encode approved terms.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MATT: THE TIPPING FACTOR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Hosted vs prompt vs custom agent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8308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Prompt agent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Instructions + model + tools; Foundry runs it, no code or infra. The fastest path; best without custom orchestration.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8308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Hosted agent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code + framework as a container; Foundry gives a managed endpoint, scaling, identity, and tracing. You own the logic.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83080"/>
          </a:xfrm>
          <a:prstGeom prst="roundRect">
            <a:avLst>
              <a:gd name="adj" fmla="val 4103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830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Self-hosted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344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agent elsewhere and call the Responses API for Foundry models + tools. Only when you must own the runtime.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Tipping factors -&gt; hosted: custom orchestration, multi-agent handoffs, an existing framework, or your own code.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Default to a prompt agent; let a real requirement pull you up. Model choice is swappable in all types.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Our multi-agent discharge workflow is exactly the hosted-agent tipping point. Brief: docs/agent-type-decision.md.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prompt; graduate to hosted the moment you need orchestration or your own code.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LEE /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Observability, and protecting PHI in logs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every decision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correlation ID joins agents, tools, policy, retrieval, and the human gate. A stable event taxonomy maps to App Insights custom events.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Foundry changes the posture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Logs can now hold request / response content - possibly PHI. That reclassifies the store from telemetry to regulated data at rest.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+ CMK + AMPLS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CMK needs a dedicated LAW cluster (double encryption); AMPLS puts ingestion + query on a private endpoint. Plus minimize what you log.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Sensitive content off by default; pseudonymize actors; never capture secrets.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Start with the Foundry workspace on the dedicated cluster; KP volume makes it cost-favorable.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Brief: docs/observability-dedicated-cluster-cmk-ampls.md (Lee leads Day 2).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Minimize at the source, CMK-encrypt what remains, keep it on the private network.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PRIORITY - DAY 2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 in the loop: the durable approval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gate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Every run drafts an exception packet, then STOPS at a care-manager approval gate. The agent drafts and reworks only; a human owns approve / reject.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Durable + auditable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PendingReview -&gt; Approved / NeedsRework / Rejected; SLA timeout or policy -&gt; Escalated. Every transition writes an append-only audit record.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Scales to zero waiting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 the Durable Task Scheduler the run pauses on an external event + durable timer - a review can safely take hours or days, consuming no compute.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Guardrails in code: illegal transition -&gt; 409; an agent trying to approve -&gt; 403.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Live and verified end to end in the deployed app against the real Durable Task Scheduler.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Brief / doc: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governed workflow must pause for a human - durably, with an audit trail.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731520"/>
            <a:ext cx="256032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795528"/>
            <a:ext cx="2377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Earn the right to trust it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37160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it, then pilot it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676656" y="2743200"/>
            <a:ext cx="10241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End-to-end, gated by evaluation, with a staged path to production.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End-to-end run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39136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0050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Evaluation gate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114032" y="3657600"/>
            <a:ext cx="301752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205472" y="3721608"/>
            <a:ext cx="28346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30/60/90 roadmap</a:t>
            </a:r>
            <a:endParaRPr lang="en-US" sz="72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PLAYBACK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whole thing, working end to end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case, all layers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Invoke a discharge case: eight agents hand off, tools are scoped and redacted, RAG cites protocol, guardrails hold, and it stops at the human gate.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06B6D4"/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trace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Copy the correlation ID and walk the ordered events - tool decisions, agent handoffs, policy calls, the review transition - one join key across the run.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decision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care manager approves in the UI; the durable task reaches Approved with a full audit trail. An agent-actor approve is denied.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This is the deployed system, not a mockup - live on Azure Container Apps + Foundry.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same contract runs in foundry mode (hosted agents) and a local mode for offline demos.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Reference: docs/observability-correlation-trace.md, docs/hitl-durable-task-scheduler.md.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Capability and governance in one run - the point of the whole two days.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PROVE IT IS SAFE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Evaluation as a release gate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Golden cases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do well: cite grounded evidence, disclose missing info, consume the approved score, route to human review.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73736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Adversarial cases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it must refuse: say 'safe to discharge', expand PHI, or recalculate / lower the risk score. Score-override is CRITICAL and must fail-closed.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real gate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Deterministic, offline checks over synthetic cases; a failure returns non-zero and blocks the release. Not a vibe check.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42900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Measure retrieval with qrels; assert safety gates on the structured result before any pilot.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Datasets: evaluation/golden-cases.jsonl and evaluation/adversarial-cases.jsonl.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Demo: green -&gt; inject a break -&gt; red / gate-blocked -&gt; revert -&gt; green (no code editing).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do not pilot a healthcare agent on trust - you pilot it on a passing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KAISER DOES NEXT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30 / 60 / 90-day pilot roadmap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82880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0 - 30 days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Stand up the governed pattern on a synthetic corpus; wire Foundry IQ to approved protocols; agree the safety gate and telemetry taxonomy.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434340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343400" y="1463040"/>
            <a:ext cx="64008" cy="182880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4456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30 - 60 days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54456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Secure MCP + Toolbox for the first real tools; dedicated LAW cluster + CMK + AMPLS; capability-host reuse decisions per app team.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8046720" y="1463040"/>
            <a:ext cx="352044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8046720" y="1463040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47888" y="1609344"/>
            <a:ext cx="3200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60 - 90 days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247888" y="1920240"/>
            <a:ext cx="3200400" cy="128016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Limited pilot behind the human gate with a real (governed) source; continuous evaluation; expand toolboxes and observability dashboards.</a:t>
            </a:r>
            <a:endParaRPr lang="en-US" sz="920" dirty="0"/>
          </a:p>
        </p:txBody>
      </p:sp>
      <p:sp>
        <p:nvSpPr>
          <p:cNvPr id="17" name="Text 15"/>
          <p:cNvSpPr/>
          <p:nvPr/>
        </p:nvSpPr>
        <p:spPr>
          <a:xfrm>
            <a:off x="640080" y="3520440"/>
            <a:ext cx="10972800" cy="2011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 discipline throughout: reuse platform resources; commitment-tier logging; no duplicated Search.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Governance owners named per control (guardrails, RBAC, content safety, HITL).</a:t>
            </a:r>
            <a:endParaRPr lang="en-US" sz="1150" dirty="0"/>
          </a:p>
          <a:p>
            <a:pPr marL="152400" indent="-152400">
              <a:buSzPct val="100000"/>
              <a:buChar char="•"/>
            </a:pPr>
            <a:r>
              <a:rPr lang="en-US" sz="115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Futures to scope: BYO Registry, BYO AKS for hosted agents, SRE agent - as separate tracks.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staged path: prove the pattern, harden the platform, then pilot behind the human gate.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84048"/>
            <a:ext cx="10789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F766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SOURCE-GROUNDED BRIEFS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0B1220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Where to go deeper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243584"/>
            <a:ext cx="1106424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640080" y="1463040"/>
            <a:ext cx="64008" cy="1737360"/>
          </a:xfrm>
          <a:prstGeom prst="rect">
            <a:avLst/>
          </a:prstGeom>
          <a:solidFill>
            <a:srgbClr val="0F766E"/>
          </a:solidFill>
          <a:ln w="12700">
            <a:solidFill>
              <a:srgbClr val="0F766E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4124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Tools + grounding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4124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Securing MCP tool servers; reusing capability-host Search and its cost; existing vs. Foundry search; SharePoint / O365 RAG ingest; RAG design guidance.</a:t>
            </a:r>
            <a:endParaRPr lang="en-US" sz="920" dirty="0"/>
          </a:p>
        </p:txBody>
      </p:sp>
      <p:sp>
        <p:nvSpPr>
          <p:cNvPr id="9" name="Shape 7"/>
          <p:cNvSpPr/>
          <p:nvPr/>
        </p:nvSpPr>
        <p:spPr>
          <a:xfrm>
            <a:off x="6217920" y="1463040"/>
            <a:ext cx="539496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6217920" y="1463040"/>
            <a:ext cx="64008" cy="17373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9088" y="160934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Safety + agents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19088" y="1920240"/>
            <a:ext cx="5074920" cy="11887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Healthcare content safety; choosing the right agent type; governance, security and observability; guardrail policy and its test matrix.</a:t>
            </a:r>
            <a:endParaRPr lang="en-US" sz="920" dirty="0"/>
          </a:p>
        </p:txBody>
      </p:sp>
      <p:sp>
        <p:nvSpPr>
          <p:cNvPr id="13" name="Shape 11"/>
          <p:cNvSpPr/>
          <p:nvPr/>
        </p:nvSpPr>
        <p:spPr>
          <a:xfrm>
            <a:off x="64008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40080" y="3337560"/>
            <a:ext cx="64008" cy="155448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Operate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4124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Dedicated cluster with CMK and AMPLS; end-to-end trace correlation; human-in-the-loop with the Durable Task Scheduler.</a:t>
            </a:r>
            <a:endParaRPr lang="en-US" sz="920" dirty="0"/>
          </a:p>
        </p:txBody>
      </p:sp>
      <p:sp>
        <p:nvSpPr>
          <p:cNvPr id="17" name="Shape 15"/>
          <p:cNvSpPr/>
          <p:nvPr/>
        </p:nvSpPr>
        <p:spPr>
          <a:xfrm>
            <a:off x="6217920" y="3337560"/>
            <a:ext cx="539496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5400" dist="50800" dir="2700000">
              <a:srgbClr val="94A3B8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217920" y="3337560"/>
            <a:ext cx="64008" cy="1554480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19088" y="3483864"/>
            <a:ext cx="50749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0B12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the workshop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19088" y="3794760"/>
            <a:ext cx="5074920" cy="10058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>
            <a:normAutofit/>
          </a:bodyPr>
          <a:lstStyle/>
          <a:p>
            <a:pPr indent="0" marL="0">
              <a:buNone/>
            </a:pPr>
            <a:r>
              <a:rPr lang="en-US" sz="920" dirty="0">
                <a:solidFill>
                  <a:srgbClr val="33415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Two-day agenda, run-of-show, and a facilitator cheat-sheet that maps each stakeholder question to the right brief.</a:t>
            </a:r>
            <a:endParaRPr lang="en-US" sz="920" dirty="0"/>
          </a:p>
        </p:txBody>
      </p:sp>
      <p:sp>
        <p:nvSpPr>
          <p:cNvPr id="21" name="Text 19"/>
          <p:cNvSpPr/>
          <p:nvPr/>
        </p:nvSpPr>
        <p:spPr>
          <a:xfrm>
            <a:off x="640080" y="580644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Detailed, source-grounded briefs are provided as a leave-behind pack; every brief cites current Microsoft Learn.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475720" y="6565392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700">
                <a:solidFill>
                  <a:srgbClr val="64748B"/>
                </a:solidFill>
                <a:latin typeface="Aptos"/>
                <a:ea typeface="Aptos"/>
                <a:cs typeface="Aptos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2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220"/>
          </a:solidFill>
          <a:ln w="12700">
            <a:solidFill>
              <a:srgbClr val="0B12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58368" y="822960"/>
            <a:ext cx="2011680" cy="292608"/>
          </a:xfrm>
          <a:prstGeom prst="roundRect">
            <a:avLst>
              <a:gd name="adj" fmla="val 25000"/>
            </a:avLst>
          </a:prstGeom>
          <a:solidFill>
            <a:srgbClr val="0F766E"/>
          </a:solidFill>
          <a:ln w="12700">
            <a:solidFill>
              <a:srgbClr val="0F766E">
                <a:alpha val="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49808" y="886968"/>
            <a:ext cx="18288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Thank you</a:t>
            </a:r>
            <a:endParaRPr lang="en-US" sz="720" dirty="0"/>
          </a:p>
        </p:txBody>
      </p:sp>
      <p:sp>
        <p:nvSpPr>
          <p:cNvPr id="5" name="Text 3"/>
          <p:cNvSpPr/>
          <p:nvPr/>
        </p:nvSpPr>
        <p:spPr>
          <a:xfrm>
            <a:off x="658368" y="164592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Capability and governance, built together.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676656" y="292608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BD5E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Two days: build a governed discharge-transition agent, prove it with an evaluation gate, and leave with a cost-aware pilot roadmap.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71323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06B6D4"/>
          </a:solidFill>
          <a:ln w="12700">
            <a:solidFill>
              <a:srgbClr val="06B6D4">
                <a:alpha val="0"/>
              </a:srgbClr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Grounded on Microsoft Learn</a:t>
            </a:r>
            <a:endParaRPr lang="en-US" sz="720" dirty="0"/>
          </a:p>
        </p:txBody>
      </p:sp>
      <p:sp>
        <p:nvSpPr>
          <p:cNvPr id="9" name="Shape 7"/>
          <p:cNvSpPr/>
          <p:nvPr/>
        </p:nvSpPr>
        <p:spPr>
          <a:xfrm>
            <a:off x="409651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16A34A"/>
          </a:solidFill>
          <a:ln w="12700">
            <a:solidFill>
              <a:srgbClr val="16A34A">
                <a:alpha val="0"/>
              </a:srgbClr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18795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Synthetic data only</a:t>
            </a:r>
            <a:endParaRPr lang="en-US" sz="720" dirty="0"/>
          </a:p>
        </p:txBody>
      </p:sp>
      <p:sp>
        <p:nvSpPr>
          <p:cNvPr id="11" name="Shape 9"/>
          <p:cNvSpPr/>
          <p:nvPr/>
        </p:nvSpPr>
        <p:spPr>
          <a:xfrm>
            <a:off x="7479792" y="4114800"/>
            <a:ext cx="3200400" cy="292608"/>
          </a:xfrm>
          <a:prstGeom prst="roundRect">
            <a:avLst>
              <a:gd name="adj" fmla="val 25000"/>
            </a:avLst>
          </a:prstGeom>
          <a:solidFill>
            <a:srgbClr val="F59E0B"/>
          </a:solidFill>
          <a:ln w="12700">
            <a:solidFill>
              <a:srgbClr val="F59E0B">
                <a:alpha val="0"/>
              </a:srgbClr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571232" y="4178808"/>
            <a:ext cx="30175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2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Your priorities first</a:t>
            </a:r>
            <a:endParaRPr lang="en-US" sz="7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Kaiser Permanente x Microsoft: Governed Agents on AI Foundry</dc:title>
  <dc:subject>Kaiser Permanente - AI Foundry Workshop</dc:subject>
  <dc:creator>Microsoft</dc:creator>
  <cp:lastModifiedBy>Microsoft</cp:lastModifiedBy>
  <cp:revision>1</cp:revision>
  <dcterms:created xsi:type="dcterms:W3CDTF">2026-09-30T18:03:18Z</dcterms:created>
  <dcterms:modified xsi:type="dcterms:W3CDTF">2026-09-30T18:03:18Z</dcterms:modified>
</cp:coreProperties>
</file>