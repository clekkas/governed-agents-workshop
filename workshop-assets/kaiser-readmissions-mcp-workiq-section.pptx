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47104"/>
            <a:ext cx="12191695" cy="0"/>
          </a:xfrm>
          <a:prstGeom prst="line">
            <a:avLst/>
          </a:prstGeom>
          <a:noFill/>
          <a:ln w="1778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601968"/>
            <a:ext cx="7223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Kaiser Permanente onsite workshop | MCP Server + Work IQ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">
            <a:off x="6858000" y="-914400"/>
            <a:ext cx="5760720" cy="5760720"/>
          </a:xfrm>
          <a:prstGeom prst="arc">
            <a:avLst/>
          </a:prstGeom>
          <a:noFill/>
          <a:ln w="25400">
            <a:solidFill>
              <a:srgbClr val="0F766E">
                <a:alpha val="5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1700000">
            <a:off x="7635240" y="594360"/>
            <a:ext cx="4572000" cy="4572000"/>
          </a:xfrm>
          <a:prstGeom prst="arc">
            <a:avLst/>
          </a:prstGeom>
          <a:noFill/>
          <a:ln w="20320">
            <a:solidFill>
              <a:srgbClr val="06B6D4">
                <a:alpha val="36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731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FB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Agenda item 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1417320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MCP Server and Work IQ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2761488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ECF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agents get controlled access to enterprise context without turning the LLM into an unbounded data plane.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13232" y="3977640"/>
            <a:ext cx="1298448" cy="292608"/>
          </a:xfrm>
          <a:prstGeom prst="roundRect">
            <a:avLst>
              <a:gd name="adj" fmla="val 25000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046220"/>
            <a:ext cx="10789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Protocol boundary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2286000" y="3977640"/>
            <a:ext cx="1298448" cy="292608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95728" y="4046220"/>
            <a:ext cx="10789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context</a:t>
            </a:r>
            <a:endParaRPr lang="en-US" sz="720" dirty="0"/>
          </a:p>
        </p:txBody>
      </p:sp>
      <p:sp>
        <p:nvSpPr>
          <p:cNvPr id="12" name="Shape 10"/>
          <p:cNvSpPr/>
          <p:nvPr/>
        </p:nvSpPr>
        <p:spPr>
          <a:xfrm>
            <a:off x="3858768" y="3977640"/>
            <a:ext cx="1298448" cy="292608"/>
          </a:xfrm>
          <a:prstGeom prst="roundRect">
            <a:avLst>
              <a:gd name="adj" fmla="val 25000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68496" y="4046220"/>
            <a:ext cx="10789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</a:t>
            </a:r>
            <a:endParaRPr lang="en-US" sz="720" dirty="0"/>
          </a:p>
        </p:txBody>
      </p:sp>
      <p:sp>
        <p:nvSpPr>
          <p:cNvPr id="14" name="Shape 12"/>
          <p:cNvSpPr/>
          <p:nvPr/>
        </p:nvSpPr>
        <p:spPr>
          <a:xfrm>
            <a:off x="5431536" y="3977640"/>
            <a:ext cx="1298448" cy="292608"/>
          </a:xfrm>
          <a:prstGeom prst="roundRect">
            <a:avLst>
              <a:gd name="adj" fmla="val 25000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41264" y="4046220"/>
            <a:ext cx="10789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</a:t>
            </a:r>
            <a:endParaRPr lang="en-US" sz="720" dirty="0"/>
          </a:p>
        </p:txBody>
      </p:sp>
      <p:sp>
        <p:nvSpPr>
          <p:cNvPr id="16" name="Shape 14"/>
          <p:cNvSpPr/>
          <p:nvPr/>
        </p:nvSpPr>
        <p:spPr>
          <a:xfrm>
            <a:off x="7004304" y="3977640"/>
            <a:ext cx="1298448" cy="292608"/>
          </a:xfrm>
          <a:prstGeom prst="roundRect">
            <a:avLst>
              <a:gd name="adj" fmla="val 25000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14032" y="4046220"/>
            <a:ext cx="10789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Least privilege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713232" y="61722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CCFB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principle: the model asks; governed tools decide what data can be returned.</a:t>
            </a:r>
            <a:endParaRPr lang="en-US" sz="9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CONTEXT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Work IQ in this workshop?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25296"/>
            <a:ext cx="110185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508760"/>
            <a:ext cx="36576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508760"/>
            <a:ext cx="64008" cy="1965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73352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 IQ as a governed context layer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86968" y="2011680"/>
            <a:ext cx="3337560" cy="1362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permission-aware way for agents to reason across enterprise work data such as people, files, messages, meetings, tasks, and organizational context without hard-coding every source into the agent.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4526280" y="1508760"/>
            <a:ext cx="34747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26280" y="1508760"/>
            <a:ext cx="64008" cy="19659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27448" y="1673352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a raw data dump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727448" y="2011680"/>
            <a:ext cx="3154680" cy="1362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agent should receive task-specific, filtered, explainable results. Work IQ-style access should preserve user permissions, source boundaries, labels, and auditability.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8183880" y="1508760"/>
            <a:ext cx="32461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83880" y="1508760"/>
            <a:ext cx="64008" cy="1965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85048" y="167335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Kaiser should care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385048" y="2011680"/>
            <a:ext cx="2926080" cy="1362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Care-management workflows need context, but healthcare governance requires purpose, minimum necessary access, and a clear record of what was retrieved and why.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777240" y="38862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Workshop framing</a:t>
            </a:r>
            <a:endParaRPr lang="en-US" sz="1520" dirty="0"/>
          </a:p>
        </p:txBody>
      </p:sp>
      <p:sp>
        <p:nvSpPr>
          <p:cNvPr id="18" name="Text 16"/>
          <p:cNvSpPr/>
          <p:nvPr/>
        </p:nvSpPr>
        <p:spPr>
          <a:xfrm>
            <a:off x="914400" y="4325112"/>
            <a:ext cx="749808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11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Work IQ as enterprise context, not as a substitute for clinical source systems</a:t>
            </a:r>
            <a:endParaRPr lang="en-US" sz="1110" dirty="0"/>
          </a:p>
          <a:p>
            <a:pPr marL="127000" indent="-127000">
              <a:buSzPct val="100000"/>
              <a:buChar char="•"/>
            </a:pPr>
            <a:r>
              <a:rPr lang="en-US" sz="111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Ground answers in allowed sources and user-authorized context</a:t>
            </a:r>
            <a:endParaRPr lang="en-US" sz="1110" dirty="0"/>
          </a:p>
          <a:p>
            <a:pPr marL="127000" indent="-127000">
              <a:buSzPct val="100000"/>
              <a:buChar char="•"/>
            </a:pPr>
            <a:r>
              <a:rPr lang="en-US" sz="111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Work IQ behind explicit tool contracts and access policies</a:t>
            </a:r>
            <a:endParaRPr lang="en-US" sz="1110" dirty="0"/>
          </a:p>
          <a:p>
            <a:pPr marL="127000" indent="-127000">
              <a:buSzPct val="100000"/>
              <a:buChar char="•"/>
            </a:pPr>
            <a:r>
              <a:rPr lang="en-US" sz="111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 citations, source names, timestamps, and confidence/missing-data signals</a:t>
            </a:r>
            <a:endParaRPr lang="en-US" sz="1110" dirty="0"/>
          </a:p>
        </p:txBody>
      </p:sp>
      <p:sp>
        <p:nvSpPr>
          <p:cNvPr id="19" name="Shape 17"/>
          <p:cNvSpPr/>
          <p:nvPr/>
        </p:nvSpPr>
        <p:spPr>
          <a:xfrm>
            <a:off x="8732520" y="397764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06840" y="422452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Plain English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006840" y="45079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 IQ helps answer "what context am I allowed to know for this work?"</a:t>
            </a:r>
            <a:endParaRPr lang="en-US" sz="1140" dirty="0"/>
          </a:p>
        </p:txBody>
      </p:sp>
      <p:sp>
        <p:nvSpPr>
          <p:cNvPr id="22" name="Text 20"/>
          <p:cNvSpPr/>
          <p:nvPr/>
        </p:nvSpPr>
        <p:spPr>
          <a:xfrm>
            <a:off x="621792" y="6236208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Workshop framing based on Microsoft 365/Work IQ capability patterns and Foundry tool governance concepts.</a:t>
            </a:r>
            <a:endParaRPr lang="en-US" sz="6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MCP is the boundary; Work IQ is one source of governed context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25296"/>
            <a:ext cx="110185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74520"/>
            <a:ext cx="2057400" cy="822960"/>
          </a:xfrm>
          <a:prstGeom prst="roundRect">
            <a:avLst>
              <a:gd name="adj" fmla="val 888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2057400"/>
            <a:ext cx="18105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Hosted agent</a:t>
            </a:r>
            <a:endParaRPr lang="en-US" sz="1110" dirty="0"/>
          </a:p>
        </p:txBody>
      </p:sp>
      <p:sp>
        <p:nvSpPr>
          <p:cNvPr id="7" name="Text 5"/>
          <p:cNvSpPr/>
          <p:nvPr/>
        </p:nvSpPr>
        <p:spPr>
          <a:xfrm>
            <a:off x="685800" y="2907792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Plans, reasons, drafts, cites, routes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2889504" y="2157984"/>
            <a:ext cx="320040" cy="210312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54680" y="1874520"/>
            <a:ext cx="2057400" cy="822960"/>
          </a:xfrm>
          <a:prstGeom prst="roundRect">
            <a:avLst>
              <a:gd name="adj" fmla="val 8889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73552" y="2057400"/>
            <a:ext cx="18105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MCP server / Toolbox</a:t>
            </a:r>
            <a:endParaRPr lang="en-US" sz="1110" dirty="0"/>
          </a:p>
        </p:txBody>
      </p:sp>
      <p:sp>
        <p:nvSpPr>
          <p:cNvPr id="11" name="Text 9"/>
          <p:cNvSpPr/>
          <p:nvPr/>
        </p:nvSpPr>
        <p:spPr>
          <a:xfrm>
            <a:off x="3108960" y="2907792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Typed tools, centralized auth, policy, versioning, observability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5312664" y="2157984"/>
            <a:ext cx="320040" cy="210312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89320" y="1874520"/>
            <a:ext cx="2057400" cy="822960"/>
          </a:xfrm>
          <a:prstGeom prst="roundRect">
            <a:avLst>
              <a:gd name="adj" fmla="val 888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08192" y="2057400"/>
            <a:ext cx="18105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 IQ tools</a:t>
            </a:r>
            <a:endParaRPr lang="en-US" sz="1110" dirty="0"/>
          </a:p>
        </p:txBody>
      </p:sp>
      <p:sp>
        <p:nvSpPr>
          <p:cNvPr id="15" name="Text 13"/>
          <p:cNvSpPr/>
          <p:nvPr/>
        </p:nvSpPr>
        <p:spPr>
          <a:xfrm>
            <a:off x="5943600" y="2907792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Permission-aware enterprise work context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8147304" y="2157984"/>
            <a:ext cx="320040" cy="210312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58200" y="1874520"/>
            <a:ext cx="2057400" cy="822960"/>
          </a:xfrm>
          <a:prstGeom prst="roundRect">
            <a:avLst>
              <a:gd name="adj" fmla="val 888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77072" y="2057400"/>
            <a:ext cx="18105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Clinical tools</a:t>
            </a:r>
            <a:endParaRPr lang="en-US" sz="1110" dirty="0"/>
          </a:p>
        </p:txBody>
      </p:sp>
      <p:sp>
        <p:nvSpPr>
          <p:cNvPr id="19" name="Text 17"/>
          <p:cNvSpPr/>
          <p:nvPr/>
        </p:nvSpPr>
        <p:spPr>
          <a:xfrm>
            <a:off x="8412480" y="2907792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Case-specific synthetic EHR, protocols, HITL tasks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731520" y="39776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3977640"/>
            <a:ext cx="64008" cy="12344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" y="414223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Toolbox pattern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32688" y="4480560"/>
            <a:ext cx="4754880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curated set of tools exposed through a single MCP-compatible endpoint with centralized credential management, governance, observability, access control, and versioning.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6126480" y="39776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3977640"/>
            <a:ext cx="64008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27648" y="414223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Kaiser pattern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327648" y="4480560"/>
            <a:ext cx="4754880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agent never connects directly to broad data stores. It asks case-scoped tools for specific evidence; tools enforce auth, data minimization, and audit.</a:t>
            </a:r>
            <a:endParaRPr lang="en-US" sz="920" dirty="0"/>
          </a:p>
        </p:txBody>
      </p:sp>
      <p:sp>
        <p:nvSpPr>
          <p:cNvPr id="28" name="Text 26"/>
          <p:cNvSpPr/>
          <p:nvPr/>
        </p:nvSpPr>
        <p:spPr>
          <a:xfrm>
            <a:off x="621792" y="6236208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Microsoft Learn, Foundry MCP Server get started; Microsoft Foundry Toolbox overview.</a:t>
            </a:r>
            <a:endParaRPr lang="en-US" sz="6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AUTHORIZATION MODEL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Access control is layered, not prompt-based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25296"/>
            <a:ext cx="110185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508760"/>
            <a:ext cx="402336" cy="40233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91056"/>
            <a:ext cx="4023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234440" y="152704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/ actor</a:t>
            </a:r>
            <a:endParaRPr lang="en-US" sz="1260" dirty="0"/>
          </a:p>
        </p:txBody>
      </p:sp>
      <p:sp>
        <p:nvSpPr>
          <p:cNvPr id="8" name="Text 6"/>
          <p:cNvSpPr/>
          <p:nvPr/>
        </p:nvSpPr>
        <p:spPr>
          <a:xfrm>
            <a:off x="1234440" y="190195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initiated the work? What role and consent apply?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4389120" y="1508760"/>
            <a:ext cx="402336" cy="40233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0" y="1591056"/>
            <a:ext cx="4023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937760" y="152704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identity</a:t>
            </a:r>
            <a:endParaRPr lang="en-US" sz="1260" dirty="0"/>
          </a:p>
        </p:txBody>
      </p:sp>
      <p:sp>
        <p:nvSpPr>
          <p:cNvPr id="12" name="Text 10"/>
          <p:cNvSpPr/>
          <p:nvPr/>
        </p:nvSpPr>
        <p:spPr>
          <a:xfrm>
            <a:off x="4937760" y="190195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agent is acting? What can this agent access?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8092440" y="1508760"/>
            <a:ext cx="402336" cy="40233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92440" y="1591056"/>
            <a:ext cx="4023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641080" y="152704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Endpoint auth</a:t>
            </a:r>
            <a:endParaRPr lang="en-US" sz="1260" dirty="0"/>
          </a:p>
        </p:txBody>
      </p:sp>
      <p:sp>
        <p:nvSpPr>
          <p:cNvPr id="16" name="Text 14"/>
          <p:cNvSpPr/>
          <p:nvPr/>
        </p:nvSpPr>
        <p:spPr>
          <a:xfrm>
            <a:off x="8641080" y="190195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the MCP/Work IQ endpoint authenticated and trusted?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685800" y="3063240"/>
            <a:ext cx="402336" cy="40233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145536"/>
            <a:ext cx="4023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234440" y="308152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scope</a:t>
            </a:r>
            <a:endParaRPr lang="en-US" sz="1260" dirty="0"/>
          </a:p>
        </p:txBody>
      </p:sp>
      <p:sp>
        <p:nvSpPr>
          <p:cNvPr id="20" name="Text 18"/>
          <p:cNvSpPr/>
          <p:nvPr/>
        </p:nvSpPr>
        <p:spPr>
          <a:xfrm>
            <a:off x="1234440" y="345643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this request bound to the current patient/case/work item?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4389120" y="3063240"/>
            <a:ext cx="402336" cy="40233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0" y="3145536"/>
            <a:ext cx="4023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937760" y="308152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 policy</a:t>
            </a:r>
            <a:endParaRPr lang="en-US" sz="1260" dirty="0"/>
          </a:p>
        </p:txBody>
      </p:sp>
      <p:sp>
        <p:nvSpPr>
          <p:cNvPr id="24" name="Text 22"/>
          <p:cNvSpPr/>
          <p:nvPr/>
        </p:nvSpPr>
        <p:spPr>
          <a:xfrm>
            <a:off x="4937760" y="345643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this action allowed for this purpose and data class?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8092440" y="3063240"/>
            <a:ext cx="402336" cy="40233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92440" y="3145536"/>
            <a:ext cx="4023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641080" y="308152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+ telemetry</a:t>
            </a:r>
            <a:endParaRPr lang="en-US" sz="1260" dirty="0"/>
          </a:p>
        </p:txBody>
      </p:sp>
      <p:sp>
        <p:nvSpPr>
          <p:cNvPr id="28" name="Text 26"/>
          <p:cNvSpPr/>
          <p:nvPr/>
        </p:nvSpPr>
        <p:spPr>
          <a:xfrm>
            <a:off x="8641080" y="345643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we prove what was accessed, why, and by whom?</a:t>
            </a:r>
            <a:endParaRPr lang="en-US" sz="940" dirty="0"/>
          </a:p>
        </p:txBody>
      </p:sp>
      <p:sp>
        <p:nvSpPr>
          <p:cNvPr id="29" name="Shape 27"/>
          <p:cNvSpPr/>
          <p:nvPr/>
        </p:nvSpPr>
        <p:spPr>
          <a:xfrm>
            <a:off x="777240" y="5120640"/>
            <a:ext cx="10515600" cy="502920"/>
          </a:xfrm>
          <a:prstGeom prst="roundRect">
            <a:avLst>
              <a:gd name="adj" fmla="val 14545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5840" y="5303520"/>
            <a:ext cx="10058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Anti-pattern: "the LLM knows the policy." Correct pattern: endpoint and tool code enforce policy before data reaches the model.</a:t>
            </a:r>
            <a:endParaRPr lang="en-US" sz="1080" dirty="0"/>
          </a:p>
        </p:txBody>
      </p:sp>
      <p:sp>
        <p:nvSpPr>
          <p:cNvPr id="31" name="Text 29"/>
          <p:cNvSpPr/>
          <p:nvPr/>
        </p:nvSpPr>
        <p:spPr>
          <a:xfrm>
            <a:off x="621792" y="6236208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Microsoft Learn, Foundry authentication/authorization; Agent identity concepts; Toolbox governance.</a:t>
            </a:r>
            <a:endParaRPr lang="en-US" sz="6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 DECISION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Case-by-case endpoint access: authorize the request, not the agent in general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25296"/>
            <a:ext cx="110185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99616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tool call should carry an access envelope</a:t>
            </a:r>
            <a:endParaRPr lang="en-US" sz="1520" dirty="0"/>
          </a:p>
        </p:txBody>
      </p:sp>
      <p:sp>
        <p:nvSpPr>
          <p:cNvPr id="6" name="Shape 4"/>
          <p:cNvSpPr/>
          <p:nvPr/>
        </p:nvSpPr>
        <p:spPr>
          <a:xfrm>
            <a:off x="822960" y="1901952"/>
            <a:ext cx="45720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2020824"/>
            <a:ext cx="960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Subject</a:t>
            </a:r>
            <a:endParaRPr lang="en-US" sz="860" dirty="0"/>
          </a:p>
        </p:txBody>
      </p:sp>
      <p:sp>
        <p:nvSpPr>
          <p:cNvPr id="8" name="Text 6"/>
          <p:cNvSpPr/>
          <p:nvPr/>
        </p:nvSpPr>
        <p:spPr>
          <a:xfrm>
            <a:off x="1965960" y="2011680"/>
            <a:ext cx="3200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+ role + agent identity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5989320" y="1901952"/>
            <a:ext cx="45720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53912" y="2020824"/>
            <a:ext cx="960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</a:t>
            </a:r>
            <a:endParaRPr lang="en-US" sz="860" dirty="0"/>
          </a:p>
        </p:txBody>
      </p:sp>
      <p:sp>
        <p:nvSpPr>
          <p:cNvPr id="11" name="Text 9"/>
          <p:cNvSpPr/>
          <p:nvPr/>
        </p:nvSpPr>
        <p:spPr>
          <a:xfrm>
            <a:off x="7132320" y="2011680"/>
            <a:ext cx="3200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care-review, workshop-demo, audit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822960" y="2560320"/>
            <a:ext cx="45720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2679192"/>
            <a:ext cx="960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Resource</a:t>
            </a:r>
            <a:endParaRPr lang="en-US" sz="860" dirty="0"/>
          </a:p>
        </p:txBody>
      </p:sp>
      <p:sp>
        <p:nvSpPr>
          <p:cNvPr id="14" name="Text 12"/>
          <p:cNvSpPr/>
          <p:nvPr/>
        </p:nvSpPr>
        <p:spPr>
          <a:xfrm>
            <a:off x="1965960" y="2670048"/>
            <a:ext cx="3200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patient/case/document/task id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5989320" y="2560320"/>
            <a:ext cx="45720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53912" y="2679192"/>
            <a:ext cx="960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60" dirty="0"/>
          </a:p>
        </p:txBody>
      </p:sp>
      <p:sp>
        <p:nvSpPr>
          <p:cNvPr id="17" name="Text 15"/>
          <p:cNvSpPr/>
          <p:nvPr/>
        </p:nvSpPr>
        <p:spPr>
          <a:xfrm>
            <a:off x="7132320" y="2670048"/>
            <a:ext cx="3200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summary, retrieve note, create review task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822960" y="3218688"/>
            <a:ext cx="45720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" y="3337560"/>
            <a:ext cx="960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</a:t>
            </a:r>
            <a:endParaRPr lang="en-US" sz="860" dirty="0"/>
          </a:p>
        </p:txBody>
      </p:sp>
      <p:sp>
        <p:nvSpPr>
          <p:cNvPr id="20" name="Text 18"/>
          <p:cNvSpPr/>
          <p:nvPr/>
        </p:nvSpPr>
        <p:spPr>
          <a:xfrm>
            <a:off x="1965960" y="3328416"/>
            <a:ext cx="3200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redacted, aggregate, expanded, privileged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5989320" y="3218688"/>
            <a:ext cx="4572000" cy="384048"/>
          </a:xfrm>
          <a:prstGeom prst="roundRect">
            <a:avLst>
              <a:gd name="adj" fmla="val 14286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53912" y="3337560"/>
            <a:ext cx="960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92400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</a:t>
            </a:r>
            <a:endParaRPr lang="en-US" sz="860" dirty="0"/>
          </a:p>
        </p:txBody>
      </p:sp>
      <p:sp>
        <p:nvSpPr>
          <p:cNvPr id="23" name="Text 21"/>
          <p:cNvSpPr/>
          <p:nvPr/>
        </p:nvSpPr>
        <p:spPr>
          <a:xfrm>
            <a:off x="7132320" y="3328416"/>
            <a:ext cx="3200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allow, deny, redact, escalate, review_required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868680" y="4343400"/>
            <a:ext cx="50292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68680" y="4343400"/>
            <a:ext cx="64008" cy="10972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69848" y="4507992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notes.get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069848" y="4846320"/>
            <a:ext cx="470916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Request: retrieve relevant discharge-planning note excerpt for case P0147.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 return redacted excerpt only; deny full note unless explicit logged scope exists.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6263640" y="4343400"/>
            <a:ext cx="4983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63640" y="4343400"/>
            <a:ext cx="64008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64808" y="4507992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event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464808" y="4846320"/>
            <a:ext cx="466344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subject, agent, case, purpose, source, policy decision, fields returned, denial/redaction, and correlation ID.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621792" y="6236208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Workshop pattern: case-scoped authorization envelope for MCP/Work IQ endpoint calls.</a:t>
            </a:r>
            <a:endParaRPr lang="en-US" sz="6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ACCESS TO DATA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Best practices: let the LLM reason over evidence, not own the data plane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25296"/>
            <a:ext cx="110185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508760"/>
            <a:ext cx="32461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508760"/>
            <a:ext cx="64008" cy="10972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7335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Minimize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86968" y="2011680"/>
            <a:ext cx="292608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 the minimum necessary evidence; prefer summaries and aggregates before raw records.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4389120" y="1508760"/>
            <a:ext cx="32461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1508760"/>
            <a:ext cx="64008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0288" y="167335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 server-side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90288" y="2011680"/>
            <a:ext cx="292608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patient/case/source filters before content enters the prompt context.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8092440" y="1508760"/>
            <a:ext cx="32461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92440" y="1508760"/>
            <a:ext cx="64008" cy="10972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93608" y="167335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Treat data as data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93608" y="2011680"/>
            <a:ext cx="292608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content can contain instructions; never let retrieved notes or messages override system policy.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685800" y="3200400"/>
            <a:ext cx="32461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5800" y="3200400"/>
            <a:ext cx="64008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6968" y="336499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Cite and label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86968" y="3703320"/>
            <a:ext cx="292608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 source, timestamp, sensitivity, and citation metadata with each evidence item.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4389120" y="3200400"/>
            <a:ext cx="32461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389120" y="3200400"/>
            <a:ext cx="64008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90288" y="336499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read/write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90288" y="3703320"/>
            <a:ext cx="292608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different tools and scopes for reads, draft creation, and operational actions.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8092440" y="3200400"/>
            <a:ext cx="32461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092440" y="3200400"/>
            <a:ext cx="64008" cy="10972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93608" y="336499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 decisions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293608" y="3703320"/>
            <a:ext cx="292608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 allow, deny, redact, and escalate decisions with correlation IDs.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749808" y="5349240"/>
            <a:ext cx="10607040" cy="411480"/>
          </a:xfrm>
          <a:prstGeom prst="roundRect">
            <a:avLst>
              <a:gd name="adj" fmla="val 17778"/>
            </a:avLst>
          </a:prstGeom>
          <a:solidFill>
            <a:srgbClr val="E6FFFB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87552" y="5504688"/>
            <a:ext cx="10149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target: the model sees a curated evidence packet, not the underlying enterprise data lake.</a:t>
            </a:r>
            <a:endParaRPr lang="en-US" sz="1080" dirty="0"/>
          </a:p>
        </p:txBody>
      </p:sp>
      <p:sp>
        <p:nvSpPr>
          <p:cNvPr id="31" name="Text 29"/>
          <p:cNvSpPr/>
          <p:nvPr/>
        </p:nvSpPr>
        <p:spPr>
          <a:xfrm>
            <a:off x="621792" y="6236208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Microsoft Learn, Toolbox governance and authentication; Foundry auth/RBAC best practices.</a:t>
            </a:r>
            <a:endParaRPr lang="en-US" sz="6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 DESIGN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Authentication patterns: delegated vs application-only access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25296"/>
            <a:ext cx="110185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00200"/>
            <a:ext cx="51663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600200"/>
            <a:ext cx="64008" cy="1828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1764792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Delegated / on-behalf-of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78408" y="2103120"/>
            <a:ext cx="4846320" cy="1225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operates with a human user context. Use when access must reflect the current user's permissions, consent, and role. Good for Work IQ-style enterprise context.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6263640" y="1600200"/>
            <a:ext cx="51663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63640" y="1600200"/>
            <a:ext cx="64008" cy="18288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64808" y="1764792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Application-only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64808" y="2103120"/>
            <a:ext cx="4846320" cy="1225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acts under its own identity and RBAC. Use for service-owned operations such as writing audit records, creating workflow tasks, or querying approved service indexes.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822960" y="38862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 pattern matrix</a:t>
            </a:r>
            <a:endParaRPr lang="en-US" sz="1520" dirty="0"/>
          </a:p>
        </p:txBody>
      </p:sp>
      <p:sp>
        <p:nvSpPr>
          <p:cNvPr id="14" name="Text 12"/>
          <p:cNvSpPr/>
          <p:nvPr/>
        </p:nvSpPr>
        <p:spPr>
          <a:xfrm>
            <a:off x="914400" y="4297680"/>
            <a:ext cx="2834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user work context</a:t>
            </a:r>
            <a:endParaRPr lang="en-US" sz="890" dirty="0"/>
          </a:p>
        </p:txBody>
      </p:sp>
      <p:sp>
        <p:nvSpPr>
          <p:cNvPr id="15" name="Text 13"/>
          <p:cNvSpPr/>
          <p:nvPr/>
        </p:nvSpPr>
        <p:spPr>
          <a:xfrm>
            <a:off x="4160520" y="4297680"/>
            <a:ext cx="2011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Delegated</a:t>
            </a:r>
            <a:endParaRPr lang="en-US" sz="890" dirty="0"/>
          </a:p>
        </p:txBody>
      </p:sp>
      <p:sp>
        <p:nvSpPr>
          <p:cNvPr id="16" name="Text 14"/>
          <p:cNvSpPr/>
          <p:nvPr/>
        </p:nvSpPr>
        <p:spPr>
          <a:xfrm>
            <a:off x="6446520" y="4297680"/>
            <a:ext cx="4114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Preserve user authorization</a:t>
            </a:r>
            <a:endParaRPr lang="en-US" sz="890" dirty="0"/>
          </a:p>
        </p:txBody>
      </p:sp>
      <p:sp>
        <p:nvSpPr>
          <p:cNvPr id="17" name="Text 15"/>
          <p:cNvSpPr/>
          <p:nvPr/>
        </p:nvSpPr>
        <p:spPr>
          <a:xfrm>
            <a:off x="914400" y="4590288"/>
            <a:ext cx="2834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synthetic case protocol</a:t>
            </a:r>
            <a:endParaRPr lang="en-US" sz="890" dirty="0"/>
          </a:p>
        </p:txBody>
      </p:sp>
      <p:sp>
        <p:nvSpPr>
          <p:cNvPr id="18" name="Text 16"/>
          <p:cNvSpPr/>
          <p:nvPr/>
        </p:nvSpPr>
        <p:spPr>
          <a:xfrm>
            <a:off x="4160520" y="4590288"/>
            <a:ext cx="2011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App-only or delegated</a:t>
            </a:r>
            <a:endParaRPr lang="en-US" sz="890" dirty="0"/>
          </a:p>
        </p:txBody>
      </p:sp>
      <p:sp>
        <p:nvSpPr>
          <p:cNvPr id="19" name="Text 17"/>
          <p:cNvSpPr/>
          <p:nvPr/>
        </p:nvSpPr>
        <p:spPr>
          <a:xfrm>
            <a:off x="6446520" y="4590288"/>
            <a:ext cx="4114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Allowed source, no PHI</a:t>
            </a:r>
            <a:endParaRPr lang="en-US" sz="890" dirty="0"/>
          </a:p>
        </p:txBody>
      </p:sp>
      <p:sp>
        <p:nvSpPr>
          <p:cNvPr id="20" name="Text 18"/>
          <p:cNvSpPr/>
          <p:nvPr/>
        </p:nvSpPr>
        <p:spPr>
          <a:xfrm>
            <a:off x="914400" y="4882896"/>
            <a:ext cx="2834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Retrieve clinical note excerpt</a:t>
            </a:r>
            <a:endParaRPr lang="en-US" sz="890" dirty="0"/>
          </a:p>
        </p:txBody>
      </p:sp>
      <p:sp>
        <p:nvSpPr>
          <p:cNvPr id="21" name="Text 19"/>
          <p:cNvSpPr/>
          <p:nvPr/>
        </p:nvSpPr>
        <p:spPr>
          <a:xfrm>
            <a:off x="4160520" y="4882896"/>
            <a:ext cx="2011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Delegated + case scope</a:t>
            </a:r>
            <a:endParaRPr lang="en-US" sz="890" dirty="0"/>
          </a:p>
        </p:txBody>
      </p:sp>
      <p:sp>
        <p:nvSpPr>
          <p:cNvPr id="22" name="Text 20"/>
          <p:cNvSpPr/>
          <p:nvPr/>
        </p:nvSpPr>
        <p:spPr>
          <a:xfrm>
            <a:off x="6446520" y="4882896"/>
            <a:ext cx="4114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Redacted by default</a:t>
            </a:r>
            <a:endParaRPr lang="en-US" sz="890" dirty="0"/>
          </a:p>
        </p:txBody>
      </p:sp>
      <p:sp>
        <p:nvSpPr>
          <p:cNvPr id="23" name="Text 21"/>
          <p:cNvSpPr/>
          <p:nvPr/>
        </p:nvSpPr>
        <p:spPr>
          <a:xfrm>
            <a:off x="914400" y="5175504"/>
            <a:ext cx="2834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HITL review task</a:t>
            </a:r>
            <a:endParaRPr lang="en-US" sz="890" dirty="0"/>
          </a:p>
        </p:txBody>
      </p:sp>
      <p:sp>
        <p:nvSpPr>
          <p:cNvPr id="24" name="Text 22"/>
          <p:cNvSpPr/>
          <p:nvPr/>
        </p:nvSpPr>
        <p:spPr>
          <a:xfrm>
            <a:off x="4160520" y="5175504"/>
            <a:ext cx="2011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App-only</a:t>
            </a:r>
            <a:endParaRPr lang="en-US" sz="890" dirty="0"/>
          </a:p>
        </p:txBody>
      </p:sp>
      <p:sp>
        <p:nvSpPr>
          <p:cNvPr id="25" name="Text 23"/>
          <p:cNvSpPr/>
          <p:nvPr/>
        </p:nvSpPr>
        <p:spPr>
          <a:xfrm>
            <a:off x="6446520" y="5175504"/>
            <a:ext cx="4114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workflow identity</a:t>
            </a:r>
            <a:endParaRPr lang="en-US" sz="890" dirty="0"/>
          </a:p>
        </p:txBody>
      </p:sp>
      <p:sp>
        <p:nvSpPr>
          <p:cNvPr id="26" name="Text 24"/>
          <p:cNvSpPr/>
          <p:nvPr/>
        </p:nvSpPr>
        <p:spPr>
          <a:xfrm>
            <a:off x="914400" y="5468112"/>
            <a:ext cx="2834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 audit event</a:t>
            </a:r>
            <a:endParaRPr lang="en-US" sz="890" dirty="0"/>
          </a:p>
        </p:txBody>
      </p:sp>
      <p:sp>
        <p:nvSpPr>
          <p:cNvPr id="27" name="Text 25"/>
          <p:cNvSpPr/>
          <p:nvPr/>
        </p:nvSpPr>
        <p:spPr>
          <a:xfrm>
            <a:off x="4160520" y="5468112"/>
            <a:ext cx="2011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App-only</a:t>
            </a:r>
            <a:endParaRPr lang="en-US" sz="890" dirty="0"/>
          </a:p>
        </p:txBody>
      </p:sp>
      <p:sp>
        <p:nvSpPr>
          <p:cNvPr id="28" name="Text 26"/>
          <p:cNvSpPr/>
          <p:nvPr/>
        </p:nvSpPr>
        <p:spPr>
          <a:xfrm>
            <a:off x="6446520" y="5468112"/>
            <a:ext cx="4114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Always-on compliance record</a:t>
            </a:r>
            <a:endParaRPr lang="en-US" sz="890" dirty="0"/>
          </a:p>
        </p:txBody>
      </p:sp>
      <p:sp>
        <p:nvSpPr>
          <p:cNvPr id="29" name="Text 27"/>
          <p:cNvSpPr/>
          <p:nvPr/>
        </p:nvSpPr>
        <p:spPr>
          <a:xfrm>
            <a:off x="621792" y="6236208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Microsoft Learn, Agent identity concepts: attended delegated/OBO and unattended application-only flows.</a:t>
            </a:r>
            <a:endParaRPr lang="en-US" sz="6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WORKSHOP IMPLEMENTATION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Healthcare example: readmissions case context through governed tools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25296"/>
            <a:ext cx="110185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554480"/>
            <a:ext cx="4800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554480"/>
            <a:ext cx="64008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1719072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patient.get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78408" y="2057400"/>
            <a:ext cx="4480560" cy="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Redacted demographics, facility, risk tier, current case only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6080760" y="1554480"/>
            <a:ext cx="4800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080760" y="1554480"/>
            <a:ext cx="64008" cy="65836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81928" y="1719072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notes.get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281928" y="2057400"/>
            <a:ext cx="4480560" cy="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Relevant excerpts only; full synthetic note requires explicit logged scope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777240" y="2487168"/>
            <a:ext cx="4800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7240" y="2487168"/>
            <a:ext cx="64008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8408" y="2651760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protocol.search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78408" y="2990088"/>
            <a:ext cx="4480560" cy="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RAG docs with citations and effective-date metadata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6080760" y="2487168"/>
            <a:ext cx="4800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80760" y="2487168"/>
            <a:ext cx="64008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81928" y="2651760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utilization.history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281928" y="2990088"/>
            <a:ext cx="4480560" cy="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Aggregate prior admissions, ED visits, follow-up gaps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777240" y="3419856"/>
            <a:ext cx="4800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77240" y="3419856"/>
            <a:ext cx="64008" cy="6583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8408" y="3584448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task.create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78408" y="3922776"/>
            <a:ext cx="4480560" cy="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Creates draft human review task; cannot approve it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6080760" y="3419856"/>
            <a:ext cx="4800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80760" y="3419856"/>
            <a:ext cx="64008" cy="6583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81928" y="3584448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audit.write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281928" y="3922776"/>
            <a:ext cx="4480560" cy="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Records access decision and workflow event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822960" y="4956048"/>
            <a:ext cx="10424160" cy="457200"/>
          </a:xfrm>
          <a:prstGeom prst="roundRect">
            <a:avLst>
              <a:gd name="adj" fmla="val 16000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78992" y="5120640"/>
            <a:ext cx="9875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92400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Important: Work IQ and MCP expand agent capability; they do not reduce the need for PHI minimization, patient-context checks, and human review.</a:t>
            </a:r>
            <a:endParaRPr lang="en-US" sz="10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WORKSHOP CHECKPOINT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MCP + Work IQ decisions to lock before moving to guardrails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25296"/>
            <a:ext cx="110185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087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 model</a:t>
            </a:r>
            <a:endParaRPr lang="en-US" sz="1520" dirty="0"/>
          </a:p>
        </p:txBody>
      </p:sp>
      <p:sp>
        <p:nvSpPr>
          <p:cNvPr id="6" name="Text 4"/>
          <p:cNvSpPr/>
          <p:nvPr/>
        </p:nvSpPr>
        <p:spPr>
          <a:xfrm>
            <a:off x="914400" y="1901952"/>
            <a:ext cx="4846320" cy="2423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11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Work IQ/context sources are in scope for the workshop?</a:t>
            </a:r>
            <a:endParaRPr lang="en-US" sz="1110" dirty="0"/>
          </a:p>
          <a:p>
            <a:pPr marL="127000" indent="-127000">
              <a:buSzPct val="100000"/>
              <a:buChar char="•"/>
            </a:pPr>
            <a:r>
              <a:rPr lang="en-US" sz="111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endpoint calls are delegated vs application-only?</a:t>
            </a:r>
            <a:endParaRPr lang="en-US" sz="1110" dirty="0"/>
          </a:p>
          <a:p>
            <a:pPr marL="127000" indent="-127000">
              <a:buSzPct val="100000"/>
              <a:buChar char="•"/>
            </a:pPr>
            <a:r>
              <a:rPr lang="en-US" sz="111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case identifier binds every tool call?</a:t>
            </a:r>
            <a:endParaRPr lang="en-US" sz="1110" dirty="0"/>
          </a:p>
          <a:p>
            <a:pPr marL="127000" indent="-127000">
              <a:buSzPct val="100000"/>
              <a:buChar char="•"/>
            </a:pPr>
            <a:r>
              <a:rPr lang="en-US" sz="111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fields are redacted by default?</a:t>
            </a:r>
            <a:endParaRPr lang="en-US" sz="1110" dirty="0"/>
          </a:p>
          <a:p>
            <a:pPr marL="127000" indent="-127000">
              <a:buSzPct val="100000"/>
              <a:buChar char="•"/>
            </a:pPr>
            <a:r>
              <a:rPr lang="en-US" sz="111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signals trigger deny vs redact vs escalate?</a:t>
            </a:r>
            <a:endParaRPr lang="en-US" sz="1110" dirty="0"/>
          </a:p>
        </p:txBody>
      </p:sp>
      <p:sp>
        <p:nvSpPr>
          <p:cNvPr id="7" name="Text 5"/>
          <p:cNvSpPr/>
          <p:nvPr/>
        </p:nvSpPr>
        <p:spPr>
          <a:xfrm>
            <a:off x="6263640" y="15087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controls</a:t>
            </a:r>
            <a:endParaRPr lang="en-US" sz="1520" dirty="0"/>
          </a:p>
        </p:txBody>
      </p:sp>
      <p:sp>
        <p:nvSpPr>
          <p:cNvPr id="8" name="Text 6"/>
          <p:cNvSpPr/>
          <p:nvPr/>
        </p:nvSpPr>
        <p:spPr>
          <a:xfrm>
            <a:off x="6400800" y="1901952"/>
            <a:ext cx="4846320" cy="2423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11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do we store access decisions and audit events?</a:t>
            </a:r>
            <a:endParaRPr lang="en-US" sz="1110" dirty="0"/>
          </a:p>
          <a:p>
            <a:pPr marL="127000" indent="-127000">
              <a:buSzPct val="100000"/>
              <a:buChar char="•"/>
            </a:pPr>
            <a:r>
              <a:rPr lang="en-US" sz="111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tools are read-only, draft-only, or write-capable?</a:t>
            </a:r>
            <a:endParaRPr lang="en-US" sz="1110" dirty="0"/>
          </a:p>
          <a:p>
            <a:pPr marL="127000" indent="-127000">
              <a:buSzPct val="100000"/>
              <a:buChar char="•"/>
            </a:pPr>
            <a:r>
              <a:rPr lang="en-US" sz="111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 we prevent retrieved content from becoming instructions?</a:t>
            </a:r>
            <a:endParaRPr lang="en-US" sz="1110" dirty="0"/>
          </a:p>
          <a:p>
            <a:pPr marL="127000" indent="-127000">
              <a:buSzPct val="100000"/>
              <a:buChar char="•"/>
            </a:pPr>
            <a:r>
              <a:rPr lang="en-US" sz="111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source/citation metadata must every response include?</a:t>
            </a:r>
            <a:endParaRPr lang="en-US" sz="1110" dirty="0"/>
          </a:p>
          <a:p>
            <a:pPr marL="127000" indent="-127000">
              <a:buSzPct val="100000"/>
              <a:buChar char="•"/>
            </a:pPr>
            <a:r>
              <a:rPr lang="en-US" sz="111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policy tests prove endpoint access is case-scoped?</a:t>
            </a:r>
            <a:endParaRPr lang="en-US" sz="1110" dirty="0"/>
          </a:p>
        </p:txBody>
      </p:sp>
      <p:sp>
        <p:nvSpPr>
          <p:cNvPr id="9" name="Shape 7"/>
          <p:cNvSpPr/>
          <p:nvPr/>
        </p:nvSpPr>
        <p:spPr>
          <a:xfrm>
            <a:off x="731520" y="5138928"/>
            <a:ext cx="10652760" cy="566928"/>
          </a:xfrm>
          <a:prstGeom prst="roundRect">
            <a:avLst>
              <a:gd name="adj" fmla="val 12903"/>
            </a:avLst>
          </a:prstGeom>
          <a:solidFill>
            <a:srgbClr val="E6FFFB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5340096"/>
            <a:ext cx="101498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agenda handoff: Compliance, policy, and guardrails define what the agent is never allowed to say or do, even when a tool call succeeds.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Kaiser Readmissions Agent Workshop - MCP Server and Work IQ</dc:title>
  <dc:subject>Kaiser Permanente Readmissions Agent Workshop</dc:subject>
  <dc:creator>Microsoft Scout</dc:creator>
  <cp:lastModifiedBy>Microsoft Scout</cp:lastModifiedBy>
  <cp:revision>1</cp:revision>
  <dcterms:created xsi:type="dcterms:W3CDTF">2026-09-24T02:59:44Z</dcterms:created>
  <dcterms:modified xsi:type="dcterms:W3CDTF">2026-09-24T02:59:44Z</dcterms:modified>
</cp:coreProperties>
</file>